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5765800" cy="324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961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PingFang SC"/>
              </a:rPr>
              <a:t>工业轴承设备剩余寿命预测系统的实现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28800"/>
            <a:ext cx="8869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PingFang SC"/>
              </a:rPr>
              <a:t>从真实退化数据到 RUL 预测、论文复现与工程闭环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7492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PingFang SC"/>
              </a:rPr>
              <a:t>中国科学技术大学 软件学院《软件工程》 | 指导老师：zjf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982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PingFang SC"/>
              </a:rPr>
              <a:t>小组成员：zyj、cyy、zdh、zy |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答辩主线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真实数据集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14300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075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PingFang SC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0992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时频域特征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14300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3075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70992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RUL 论文复现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14300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3075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PingFang SC"/>
              </a:rPr>
              <a:t>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70992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自动化测试通过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100584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项目定位为面向预测性维护的轴承剩余寿命预测系统。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核心价值是把真实数据、特征工程、训练评估、实验记录和课程文档做成一个可运行工程。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答辩重点：我理解数据的时间语义，也能解释模型输入、指标口径和复现边界。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问题定义：为什么是 RUL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47472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61872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PingFang SC"/>
              </a:rPr>
              <a:t>业务语义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轴承不是只回答“是否失效”，而是要估计距离失效还有多久，服务维修窗口安排。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91440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61872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/>
              </a:rPr>
              <a:t>数据语义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581912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两个数据集都是 run-to-failure 退化过程，天然适合 RUL、健康指标和生存概率分析。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143000"/>
            <a:ext cx="347472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143000"/>
            <a:ext cx="91440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261872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工程语义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581912"/>
            <a:ext cx="314553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系统输出训练历史、预测表、指标表和图表，便于复现实验和答辩追溯。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100584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项目名称按开题报告统一为“工业轴承设备剩余寿命预测系统的实现”，核心任务是 RUL 预测。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阶段划分和失效概率分析作为辅助能力，结题主线是剩余寿命预测和预测性维护。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数据理解：采样组织和时间语义不同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5214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XJTU-SY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15214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15 个轴承，3 个工况，每个工况 5 个轴承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5214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35Hz12kN / 37.5Hz11kN / 40Hz10kN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45336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采样方式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每 1 min 保存一次快照，每个 CSV 32768 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25.6 kHz，单快照覆盖 1.28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039112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3969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PHM2012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3969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FEMTO/PRONOSTIA 平台，三种工况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1396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Learning/Test/Full_Test_Set 目录结构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532888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63347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采样方式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63347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每 10 s 一个加速度快照，每个 acc 文件 2560 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6334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25.6 kHz，单快照覆盖 0.1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26664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2724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通道差异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12724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两者都有水平/垂直振动；PHM2012 额外有温度文件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127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loader 统一为 BearingEntity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520440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6210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温度边界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62102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温度字段已对齐保留，便于后续扩展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210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本次复现主用振动/时频域特征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014216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11480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标签差异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1148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XJTU-SY 从快照序列推 RUL；PHM2012 Test_set 可叠加已知 terminal RUL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114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系统统一成 seconds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6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709160"/>
            <a:ext cx="914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482803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2626"/>
                </a:solidFill>
                <a:latin typeface="PingFang SC"/>
              </a:rPr>
              <a:t>关键理解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148072"/>
            <a:ext cx="10186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PingFang SC"/>
              </a:rPr>
              <a:t>快照内部是高频振动，快照之间是离散退化时间轴；训练时不能把相邻窗口随机打散，否则容易数据泄漏。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特征理解：从振动信号到退化表征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05840"/>
            <a:ext cx="3337560" cy="1874519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05840"/>
            <a:ext cx="91440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12471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PingFang SC"/>
              </a:rPr>
              <a:t>时域特征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444752"/>
            <a:ext cx="3008376" cy="136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均值、方差、RMS、峰值、峰峰值、峭度、偏度、形状因子、脉冲因子、裕度因子等。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05840"/>
            <a:ext cx="3337560" cy="1874519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91440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12471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/>
              </a:rPr>
              <a:t>频域特征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444752"/>
            <a:ext cx="3008376" cy="136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主频、谱能量、谱熵、谱质心、频率 RMS 等，用来观察能量分布和频率迁移。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005840"/>
            <a:ext cx="3337560" cy="1874519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91440" cy="187451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12471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序列特征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444752"/>
            <a:ext cx="3008376" cy="1362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每个快照提取 19 维特征，再拼成长度 5 或 10 的特征序列供深度模型学习。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20440"/>
            <a:ext cx="100584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RMS、峰值和谱能量通常随退化增强而上升，是健康指标构造的重要基础。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峭度、脉冲因子对冲击性退化或失效更敏感，适合捕捉早期异常波动。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频域特征补充“能量集中在哪些频率”，避免只看振幅大小。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系统架构：工程闭环而不是算法脚本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064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data /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10642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XJTULoader、PHM2012Loader、BearingEntity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064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统一真实数据入口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499616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preprocess /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002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鲁棒裁剪、标准化、滑窗、19 维特征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600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统一信号处理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93392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9397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labeling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9397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BearingRulLabeler、FeatureSequenceRulLabeler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9397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 RUL 监督目标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8775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models /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58775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CNN、MLP、Transformer、CNN-LSTM-AM、XLSTM-Transformer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877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统一训练接口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980944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8152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8152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RMSE、R2、Huang Score、PHM2012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081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统一指标口径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74720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7530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examples /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7530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notebook、论文复现文档、结项材料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5753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统一验收交付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006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4800600"/>
            <a:ext cx="9144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91947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C3AED"/>
                </a:solidFill>
                <a:latin typeface="PingFang SC"/>
              </a:rPr>
              <a:t>工程亮点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239512"/>
            <a:ext cx="1018641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PingFang SC"/>
              </a:rPr>
              <a:t>模型不直接读原始文件，loader 不混入训练逻辑，实验输出 config/history/metrics/predictions，便于复现和回溯。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关键实现：统一数据抽象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24128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BearingEntity：保存一个轴承的快照表、采样率、工况 metadata 和通道数组。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BearingWindowDataset：保存模型输入、RUL targets、metadata_frame 和 feature_frame。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读前抽样 max_samples：真实数据很大时先等距选文件，再读取 CSV，保证真实训练可控。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PingFang SC"/>
              </a:defRPr>
            </a:pPr>
            <a:r>
              <a:t>时间语义统一：XJTU-SY 1 min 间隔，PHM2012 10 s 间隔，最终 RUL 统一为 seconds。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754880"/>
            <a:ext cx="9966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4754880"/>
            <a:ext cx="91440" cy="6949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4873752"/>
            <a:ext cx="9656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2626"/>
                </a:solidFill>
                <a:latin typeface="PingFang SC"/>
              </a:rPr>
              <a:t>答辩可强调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5193792"/>
            <a:ext cx="963777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PingFang SC"/>
              </a:rPr>
              <a:t>系统不只是完成 CSV 读取，而是把不同数据集的采样周期、工况、通道和 RUL 单位统一到了后续训练接口。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论文复现一：CNN-LSTM-AM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60120"/>
            <a:ext cx="3246120" cy="15087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960120"/>
            <a:ext cx="914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PingFang SC"/>
              </a:rPr>
              <a:t>论文核心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399032"/>
            <a:ext cx="2916936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19 维特征 -&gt; CNN 局部编码 -&gt; LSTM 时序建模 -&gt; attention 聚合 -&gt; RUL 回归。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960120"/>
            <a:ext cx="3246120" cy="15087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960120"/>
            <a:ext cx="91440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/>
              </a:rPr>
              <a:t>项目实现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399032"/>
            <a:ext cx="2916936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CNNLSTMAttention 支持 use_attention=True/False，直接形成 CNN-LSTM-AM 与 CNN-LSTM 对照。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960120"/>
            <a:ext cx="3246120" cy="15087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960120"/>
            <a:ext cx="91440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指标输出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399032"/>
            <a:ext cx="2916936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RMSE、NormalizedRMSE、SMAPE、HuangRulScore、方向性偏差和相对变化列。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971800"/>
            <a:ext cx="10789920" cy="530352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7238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XJTU-SY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07238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Bearing1_5，8 epoch 小样本真实训练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07238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CNN-LSTM-AM RMSE 406.30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538728"/>
            <a:ext cx="10789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6393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PHM2012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63931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Bearing3_1，8 epoch 小样本真实训练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6393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CNN-LSTM-AM RMSE 651.04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05656"/>
            <a:ext cx="10789920" cy="530352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062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验证真实训练、指标体系和 workflow 可复现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206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不冒充论文完整数值对齐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论文复现二：xLSTM-Transformer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60120"/>
            <a:ext cx="324612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96012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PingFang SC"/>
              </a:rPr>
              <a:t>为什么选它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399032"/>
            <a:ext cx="291693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论文同时覆盖 XJTU-SY 和 PHM2012，公开工况划分、序列长度和 RMSE/R2/Score。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960120"/>
            <a:ext cx="3246120" cy="16002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960120"/>
            <a:ext cx="91440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/>
              </a:rPr>
              <a:t>实现方式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399032"/>
            <a:ext cx="291693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XLSTM-Transformer = 指数门控 memory 分支 + Transformer encoder + RUL head。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960120"/>
            <a:ext cx="3246120" cy="16002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960120"/>
            <a:ext cx="91440" cy="1600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078992"/>
            <a:ext cx="2935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对比基线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399032"/>
            <a:ext cx="2916936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Feature-Transformer 和 LSTM-Transformer，用对照实验说明结构差异。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63240"/>
            <a:ext cx="10789920" cy="530352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638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XJTU-SY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16382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3 个工况：4 个轴承训练、1 个轴承测试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1638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每工况 3 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30168"/>
            <a:ext cx="10789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3075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PHM2012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73075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3 个工况：*_1、*_2 训练，*_3 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307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共 18 行结果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97096"/>
            <a:ext cx="10789920" cy="530352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976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9768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论文结构 + 项目特征管线适配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2976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非作者源码逐行复刻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评价指标：不混淆 Score 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0120"/>
            <a:ext cx="3337560" cy="17373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960120"/>
            <a:ext cx="91440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7899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PingFang SC"/>
              </a:rPr>
              <a:t>普通误差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30083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MAE、RMSE、NormalizedRMSE、SMAPE、R2：回答预测偏差有多大。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960120"/>
            <a:ext cx="333756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960120"/>
            <a:ext cx="91440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07899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/>
              </a:rPr>
              <a:t>论文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399032"/>
            <a:ext cx="30083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HuangRulScore 按 Er_i = 100*(target-prediction)/target 分段指数公式。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960120"/>
            <a:ext cx="3337560" cy="17373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960120"/>
            <a:ext cx="91440" cy="1737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07899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解释性指标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399032"/>
            <a:ext cx="30083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Over/UnderPredictionRate、WithinToleranceRate：解释偏早/偏晚预测倾向。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100584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PHM/RUL 非对称惩罚 score 是挑战赛惩罚函数，不等同于 Huang 论文原版 Score。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答辩展示时优先说明指标口径，再解释数值；避免把不同 score 横向误比。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小样本复现的主要价值是工程闭环和指标可落盘，不是追求论文表格完全相同。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测试验收：用证据说话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960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247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PingFang SC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2704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pytest 全量通过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960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247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2704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论文与 notebook focused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960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1247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PingFang SC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52704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xLSTM 真实训练结果行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960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12471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PingFang SC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2704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真实训练 epoch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10058400" cy="5212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notebook 测试直接执行 examples/*.ipynb，而非只检查文件存在。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真实训练输出 history.csv、metrics.json、predictions.csv、comparison_metrics.csv。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tmp/、outputs/、真实数据和模型产物不提交；文档只记录命令和指标摘要。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PingFang SC"/>
              </a:defRPr>
            </a:pPr>
            <a:r>
              <a:t>四轮提交保存阶段成果，远端 main 已推送，便于回溯。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结项交付物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987552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8813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源码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08813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src/USTC/SSE/BearingPrediction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0881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数据、模型、训练、评估模块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819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示例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8191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examples/00-07 notebooks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5819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全部可执行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75104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7568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复现文档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7568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docs/PAPER_REPRODUCTION.md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75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两篇论文、命令、指标、边界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68880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6946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课程文档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56946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proposal / mid-term /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694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开题、中期、结题全套材料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962656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6324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最终汇报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632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docx/final/*.pdf + 结题答辩.pptx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063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可直接归档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56432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5701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讲稿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5701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docx/final/md/21_结题答辩演讲稿.md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5570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逐页答辩稿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006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4800600"/>
            <a:ext cx="91440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919472"/>
            <a:ext cx="10204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2626"/>
                </a:solidFill>
                <a:latin typeface="PingFang SC"/>
              </a:rPr>
              <a:t>一句话总结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239512"/>
            <a:ext cx="1018641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11827"/>
                </a:solidFill>
                <a:latin typeface="PingFang SC"/>
              </a:rPr>
              <a:t>项目完成了“真实数据接入 -&gt; RUL 建模 -&gt; 论文复现 -&gt; 自动化测试 -&gt; 课程交付”的完整工程闭环。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3716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Q&amp;A 备答：追问与不足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28600"/>
            <a:ext cx="4160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2E8F0"/>
                </a:solidFill>
                <a:latin typeface="PingFang SC"/>
              </a:rPr>
              <a:t>工业轴承设备剩余寿命预测系统的实现 | 结题答辩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PingFang SC"/>
              </a:rPr>
              <a:t>中国科学技术大学 软件学院 | 软件工程课程结题答辩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196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ingFang SC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6070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任务边界？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06070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数据是 run-to-failure 退化序列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0607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主任务是 RUL 和预测性维护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453896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为什么与论文数值存在差异？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小样本、8 epoch、CPU 友好验收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验证流程，不冒充完整论文数值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47672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48255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如何避免数据泄漏？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48255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按时间或轴承划分，notebook 不随机混相邻窗口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48255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真实复现按论文工况划分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41448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4203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xLSTM 是否完全复刻？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54203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论文无源码，本项目做结构复现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420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已在文档说明复现边界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935224"/>
            <a:ext cx="10789920" cy="45720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3580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工程价值是什么？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3580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统一数据抽象、训练接口、实验记录、测试文档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035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可扩展而非一次性脚本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2958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PingFang SC"/>
              </a:rPr>
              <a:t>不足与改进？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2958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PingFang SC"/>
              </a:rPr>
              <a:t>小样本 8 epoch，未做多随机种子统计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52958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PingFang SC"/>
              </a:rPr>
              <a:t>后续做全量训练和更强泛化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PingFang SC"/>
              </a:rPr>
              <a:t>谢谢老师和同学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9509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2E8F0"/>
                </a:solidFill>
                <a:latin typeface="PingFang SC"/>
              </a:rPr>
              <a:t>欢迎提问：数据语义、特征工程、模型复现、指标口径、工程交付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4114800"/>
            <a:ext cx="9875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91440" cy="8412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4233672"/>
            <a:ext cx="9564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7316"/>
                </a:solidFill>
                <a:latin typeface="PingFang SC"/>
              </a:rPr>
              <a:t>备答底线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553712"/>
            <a:ext cx="9546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PingFang SC"/>
              </a:rPr>
              <a:t>我们完成的是课程项目级真实训练复现和工程闭环，不把小样本结果包装成论文完整数值复现。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