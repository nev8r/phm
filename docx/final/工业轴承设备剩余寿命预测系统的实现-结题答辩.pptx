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5765800" cy="32448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8961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PingFang SC"/>
              </a:rPr>
              <a:t>工业轴承设备剩余寿命预测系统的实现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1828800"/>
            <a:ext cx="8869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2E8F0"/>
                </a:solidFill>
                <a:latin typeface="PingFang SC"/>
              </a:rPr>
              <a:t>从真实退化数据到 RUL 预测、论文复现与工程闭环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074920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2E8F0"/>
                </a:solidFill>
                <a:latin typeface="PingFang SC"/>
              </a:rPr>
              <a:t>中国科学技术大学 软件学院《软件工程》 | 指导老师：zjf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449824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2E8F0"/>
                </a:solidFill>
                <a:latin typeface="PingFang SC"/>
              </a:rPr>
              <a:t>小组成员：zyj、cyj、zdh、zy | 2026-06-17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答辩主线：需求、数据、架构、特征、训练、边界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PingFang S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真实数据集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A34A"/>
                </a:solidFill>
                <a:latin typeface="PingFang SC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时频域特征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2356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97316"/>
                </a:solidFill>
                <a:latin typeface="PingFang S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补充实验路线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7C3AED"/>
                </a:solidFill>
                <a:latin typeface="PingFang SC"/>
              </a:rPr>
              <a:t>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全量测试通过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74320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项目定位为面向预测性维护的轴承剩余寿命预测系统。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汇报顺序按老师认知组织：需求分析 -&gt; 数据集介绍 -&gt; 项目架构 -&gt; 特征分析 -&gt; 训练展示 -&gt; 不足边界。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新增证据包括 tsfresh/sktime baseline、RULSurv RSF port、strict repeated seed 和 external SOTA probe。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答辩重点：讲清完成证据，也讲清 external SOTA 未重跑、tsfresh 弱相关、RULSurv 0.25 保守解码边界。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任务定义：预测剩余寿命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3474720" cy="182880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143000"/>
            <a:ext cx="91440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26187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业务语义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581912"/>
            <a:ext cx="3145536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轴承不是只回答“是否失效”，而是要估计距离失效还有多久，服务维修窗口安排。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143000"/>
            <a:ext cx="3474720" cy="182880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143000"/>
            <a:ext cx="91440" cy="1828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126187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数据语义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581912"/>
            <a:ext cx="3145536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两个数据集都记录轴承从正常运行到失效前的采样过程，适合构造 RUL 标签和健康趋势。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143000"/>
            <a:ext cx="3474720" cy="182880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1143000"/>
            <a:ext cx="91440" cy="1828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8" y="126187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工程语义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1581912"/>
            <a:ext cx="3145536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系统输出训练历史、预测表、指标表和图表，便于复现实验和答辩追溯。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70332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项目名称按开题报告统一为“工业轴承设备剩余寿命预测系统的实现”，核心任务是 RUL 预测。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阶段划分和失效概率分析作为辅助能力，结题主线是剩余寿命预测和预测性维护。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数据理解：采样组织和时间语义不同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51560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15214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XJTU-SY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15214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15 个轴承，3 个工况，每个工况 5 个轴承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15214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35Hz12kN / 37.5Hz11kN / 40Hz10kN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545336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64592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采样方式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64592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每 1 min 保存一次快照，每个 CSV 32768 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64592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25.6 kHz，单快照覆盖 1.28 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03911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3969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PHM2012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13969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FEMTO/PRONOSTIA 平台，三种工况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13969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Learning/Test/Full_Test_Set 目录结构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53288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63347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采样方式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63347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每 10 s 一个加速度快照，每个 acc 文件 2560 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63347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25.6 kHz，单快照覆盖 0.1 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02666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12724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通道差异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12724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两者都有水平/垂直振动；PHM2012 额外有温度文件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12724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loader 统一为 BearingEntity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52044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62102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温度边界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62102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温度字段已对齐保留，便于后续扩展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62102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本次复现主用振动/时频域特征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014216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11480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标签差异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411480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XJTU-SY 从快照序列推 RUL；PHM2012 Test_set 可叠加已知 terminal RUL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1148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系统统一成 seconds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60"/>
            <a:ext cx="105156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" y="4709160"/>
            <a:ext cx="91440" cy="8229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4128" y="4828032"/>
            <a:ext cx="10204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C2626"/>
                </a:solidFill>
                <a:latin typeface="PingFang SC"/>
              </a:rPr>
              <a:t>关键理解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5148072"/>
            <a:ext cx="101864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快照内部是高频振动，快照之间是离散退化时间轴；训练时不能把相邻窗口随机打散，否则容易数据泄漏。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特征理解：从振动信号到退化表征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005840"/>
            <a:ext cx="3337560" cy="1874519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005840"/>
            <a:ext cx="91440" cy="187451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12471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时域特征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444752"/>
            <a:ext cx="3008376" cy="1362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均值、方差、RMS、峰值、峰峰值、峭度、偏度、形状因子、脉冲因子、裕度因子等。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005840"/>
            <a:ext cx="3337560" cy="1874519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005840"/>
            <a:ext cx="91440" cy="1874519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12471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频域特征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444752"/>
            <a:ext cx="3008376" cy="1362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主频、谱能量、谱熵、谱质心、频率 RMS 等，用来观察能量分布和频率迁移。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005840"/>
            <a:ext cx="3337560" cy="1874519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005840"/>
            <a:ext cx="91440" cy="1874519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112471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序列特征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1444752"/>
            <a:ext cx="3008376" cy="1362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每个快照提取 19 维特征，再拼成长度 5 或 10 的特征序列供深度模型学习。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52044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RMS、峰值和谱能量通常随退化增强而上升，是健康指标构造的重要基础。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峭度、脉冲因子对冲击性退化或失效更敏感，适合捕捉早期异常波动。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tsfresh 已完成 train-only 筛选，但相关性整体偏弱：top correlation 约 0.200994，只作为自动特征分析旁证。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系统架构：工程闭环而不是算法脚本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05840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10642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data / 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10642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XJTULoader、PHM2012Loader、BearingEntity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10642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统一真实数据入口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499616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60020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preprocess / feature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60020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鲁棒裁剪、标准化、滑窗、19 维特征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600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统一信号处理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9339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09397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labeling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9397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BearingRulLabeler、FeatureSequenceRulLabeler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09397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 RUL 监督目标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48716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58775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models / training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58775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CNN、MLP、Transformer、CNN-LSTM-AM、XLSTM-Transformer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58775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统一训练接口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298094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08152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evaluation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08152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RMSE、R2、Huang Score、PHM2012 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081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统一指标口径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47472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7530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examples / docs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57530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notebook、论文复现文档、结项材料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57530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统一验收交付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00600"/>
            <a:ext cx="105156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" y="4800600"/>
            <a:ext cx="91440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8" y="4919472"/>
            <a:ext cx="10204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7C3AED"/>
                </a:solidFill>
                <a:latin typeface="PingFang SC"/>
              </a:rPr>
              <a:t>工程亮点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5239512"/>
            <a:ext cx="1018641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模型不直接读原始文件，loader 不混入训练逻辑，实验输出 config/history/metrics/predictions，便于复现和回溯。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关键实现：统一数据抽象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051560"/>
            <a:ext cx="1024128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BearingEntity：保存一个轴承的快照表、采样率、工况 metadata 和通道数组。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BearingWindowDataset：保存模型输入、RUL targets、metadata_frame 和 feature_frame。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读前抽样 max_samples：真实数据很大时先等距选文件，再读取 CSV，保证真实训练可控。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时间语义统一：XJTU-SY 1 min 间隔，PHM2012 10 s 间隔，最终 RUL 统一为 seconds。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754880"/>
            <a:ext cx="9966960" cy="69494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" y="4754880"/>
            <a:ext cx="91440" cy="69494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52728" y="4873752"/>
            <a:ext cx="96560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C2626"/>
                </a:solidFill>
                <a:latin typeface="PingFang SC"/>
              </a:rPr>
              <a:t>答辩可强调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5193792"/>
            <a:ext cx="9637776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系统处理的是按时间采集的退化轨迹，先统一采样周期、工况、通道和 RUL 单位，再进入训练接口。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论文复现一：CNN-LSTM-AM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960120"/>
            <a:ext cx="3246120" cy="150876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960120"/>
            <a:ext cx="91440" cy="1508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论文核心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399032"/>
            <a:ext cx="2916936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19 维特征 -&gt; CNN 局部编码 -&gt; LSTM 时序建模 -&gt; attention 聚合 -&gt; RUL 回归。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960120"/>
            <a:ext cx="3246120" cy="150876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960120"/>
            <a:ext cx="91440" cy="1508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项目实现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1399032"/>
            <a:ext cx="2916936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CNNLSTMAttention 支持 use_attention=True/False，直接形成 CNN-LSTM-AM 与 CNN-LSTM 对照。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960120"/>
            <a:ext cx="3246120" cy="150876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960120"/>
            <a:ext cx="91440" cy="15087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指标输出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399032"/>
            <a:ext cx="2916936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RMSE、NormalizedRMSE、SMAPE、HuangRulScore、方向性偏差和相对变化列。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971800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7238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XJTU-SY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07238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condition_1，50 epoch，92 条预测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07238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CNN-LSTM-AM NormalizedRMSE 0.1465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538728"/>
            <a:ext cx="10789920" cy="53035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63931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PHM2012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63931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condition_1，50 epoch，92 条预测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63931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CNN-LSTM-AM NormalizedRMSE 0.2222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105656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20624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边界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20624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验证真实训练、指标体系和 workflow 可复现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420624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不冒充论文完整数值对齐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论文复现二：xLSTM-Transformer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960120"/>
            <a:ext cx="3246120" cy="160020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96012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选择依据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399032"/>
            <a:ext cx="2916936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论文同时覆盖 XJTU-SY 和 PHM2012，公开工况划分、序列长度和 RMSE/R2/Score。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960120"/>
            <a:ext cx="3246120" cy="160020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960120"/>
            <a:ext cx="91440" cy="1600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实现方式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1399032"/>
            <a:ext cx="2916936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XLSTM-Transformer = 指数门控 memory 分支 + Transformer encoder + RUL head，并追加快照时间索引特征。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960120"/>
            <a:ext cx="3246120" cy="160020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960120"/>
            <a:ext cx="91440" cy="16002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对比基线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399032"/>
            <a:ext cx="2916936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Feature-Transformer 和 LSTM-Transformer，用对照实验说明结构差异。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063240"/>
            <a:ext cx="10789920" cy="43891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16382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XJTU-SY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16382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3 个工况：4 个轴承训练、1 个轴承测试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16382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每工况 3 模型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538728"/>
            <a:ext cx="10789920" cy="43891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63931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PHM2012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63931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3 个工况：*_1、*_2 训练，*_3 测试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63931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共 18 行结果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14216"/>
            <a:ext cx="10789920" cy="43891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11480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代表结果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11480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XJTU-SY condition 1 NRMSE 0.0646，R2 0.9506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41148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PHM2012 condition 3 NRMSE 0.1076，R2 0.8640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489704"/>
            <a:ext cx="10789920" cy="43891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59028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459028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PHM2012 condition 2 NRMSE 0.3742，R2 -0.6439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459028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Score 尺度仍有明显 gap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指标驱动补充实验：结果和边界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932688"/>
            <a:ext cx="10789920" cy="557784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03327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tsfresh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03327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selected features + RandomForest mean NRMSE 0.315629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03327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相关性整体偏弱，不是核心性能突破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527048"/>
            <a:ext cx="10789920" cy="557784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62763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sktime RocketRegressor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62763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held-out Bearing1_3 mean NRMSE 0.263706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62763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当前优于 tsfresh RF，是补充 baseline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121408"/>
            <a:ext cx="10789920" cy="557784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22199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RULSurv row-level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22199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25% censored CV mean true MAE 6.926416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22199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PROTOCOL_PASS，但不是 held-out 泛化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715768"/>
            <a:ext cx="10789920" cy="557784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81635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RULSurv held-out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1635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Bearing1_3 mean true MAE 14.307856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81635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MIGRATION_PASS，survival_probability=0.25 保守解码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310128"/>
            <a:ext cx="10789920" cy="557784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41071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外部 SOTA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41071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AutoRUL / GNN / Weibull 完成 source pin 与依赖 probe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41071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尚未在本地跑出指标，不能说已复现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983480"/>
            <a:ext cx="10515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4983480"/>
            <a:ext cx="91440" cy="65836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5102352"/>
            <a:ext cx="10204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C2626"/>
                </a:solidFill>
                <a:latin typeface="PingFang SC"/>
              </a:rPr>
              <a:t>答辩底线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5422392"/>
            <a:ext cx="10186416" cy="146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PingFang SC"/>
              </a:rPr>
              <a:t>外部 SOTA 未重跑；tsfresh 相关性整体偏弱；RULSurv held-out pass 是 0.25 survival probability 的项目迁移策略。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评价指标：不混淆 Score 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960120"/>
            <a:ext cx="3337560" cy="173736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960120"/>
            <a:ext cx="9144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07899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普通误差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399032"/>
            <a:ext cx="3008376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MAE、RMSE、NormalizedRMSE、SMAPE、R2：回答预测偏差有多大。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960120"/>
            <a:ext cx="3337560" cy="173736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960120"/>
            <a:ext cx="91440" cy="1737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07899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论文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399032"/>
            <a:ext cx="3008376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HuangRulScore 按 Er_i = 100*(target-prediction)/target 分段指数公式。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960120"/>
            <a:ext cx="3337560" cy="173736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960120"/>
            <a:ext cx="91440" cy="17373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107899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解释性指标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1399032"/>
            <a:ext cx="3008376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Over/UnderPredictionRate、WithinToleranceRate：解释偏早/偏晚预测倾向。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42900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PHM/NASA 类 score 是挑战赛惩罚函数，不等同于 Huang 论文原版 Score。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答辩展示时优先说明指标口径，再解释数值；避免把不同 score 横向误比。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96 快照抽样复现的主要价值是工程闭环、指标口径和 gap 表可复查，不把结果包装成作者全量训练。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测试验收：用证据说话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A34A"/>
                </a:solidFill>
                <a:latin typeface="PingFang SC"/>
              </a:rPr>
              <a:t>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pytest 全量通过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PingFang SC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Issue/SOTA focused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97316"/>
                </a:solidFill>
                <a:latin typeface="PingFang SC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xLSTM 真实训练结果行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7C3AED"/>
                </a:solidFill>
                <a:latin typeface="PingFang SC"/>
              </a:rPr>
              <a:t>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正式训练 epoch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65176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notebook 测试直接执行 examples/*.ipynb，而非只检查文件存在。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新增 final materials alignment 测试，防止 PPT、web PPT 和讲稿回退到旧口径。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真实训练输出 history.csv、metrics.json、predictions.csv、comparison_metrics.csv。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tmp/、outputs/、真实数据和模型产物不提交；文档只记录命令和指标摘要。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四轮提交保存阶段成果，远端 main 已推送，便于回溯。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结项交付物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98755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08813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源码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08813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src/USTC/SSE/BearingPrediction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08813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数据、模型、训练、评估模块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48132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58191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示例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58191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examples/00-07 notebooks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58191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全部可执行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7510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07568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复现文档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7568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docs/PAPER_REPRODUCTION.md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07568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两篇论文、命令、指标、边界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46888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56946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课程文档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56946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proposal / mid-term / 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56946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开题、中期、结题全套材料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2962656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06324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最终汇报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06324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docx/final/*.pdf + 结题答辩.pptx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06324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可直接归档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456432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5701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讲稿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55701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docx/final/md/21_结题答辩演讲稿.md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55701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逐页答辩稿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00600"/>
            <a:ext cx="105156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" y="4800600"/>
            <a:ext cx="91440" cy="7132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8" y="4919472"/>
            <a:ext cx="10204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C2626"/>
                </a:solidFill>
                <a:latin typeface="PingFang SC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5239512"/>
            <a:ext cx="1018641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项目完成了“真实数据接入 -&gt; RUL 建模 -&gt; 论文复现 -&gt; 自动化测试 -&gt; 课程交付”的完整工程闭环。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Q&amp;A 备答：追问与不足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960120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06070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任务边界？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06070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数据是 run-to-failure 退化序列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06070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主任务是 RUL 和预测性维护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527048"/>
            <a:ext cx="10789920" cy="53035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62763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外部 SOTA？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62763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AutoRUL/GNN/Weibull 只有 source pin 和依赖 probe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62763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尚未在本地跑出指标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093976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9456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tsfresh 强吗？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19456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已做 train-only baseline，但相关性整体偏弱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19456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旁证，不是核心突破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660904"/>
            <a:ext cx="10789920" cy="53035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76148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RULSurv 泛化？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76148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row-level 与 held-out 分开解释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76148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held-out 是 survival_probability=0.25 保守解码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227832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32841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为什么与论文数值存在差异？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32841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96 快照抽样、作者源码不可得、协议差异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32841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验证流程，不冒充作者全量训练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794760"/>
            <a:ext cx="10789920" cy="53035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89534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如何避免数据泄漏？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89534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按时间或轴承划分，notebook 不随机混相邻窗口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89534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真实复现按论文工况划分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361688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46227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工程价值是什么？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446227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统一数据抽象、训练接口、实验记录、测试文档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46227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可扩展而非一次性脚本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9728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PingFang SC"/>
              </a:rPr>
              <a:t>谢谢老师和同学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9509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2E8F0"/>
                </a:solidFill>
                <a:latin typeface="PingFang SC"/>
              </a:rPr>
              <a:t>欢迎提问：数据语义、特征工程、模型复现、指标口径、工程交付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4114800"/>
            <a:ext cx="987552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4114800"/>
            <a:ext cx="91440" cy="84124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4233672"/>
            <a:ext cx="9564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备答底线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4553712"/>
            <a:ext cx="9546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PingFang SC"/>
              </a:rPr>
              <a:t>外部 SOTA 未重跑；tsfresh 相关性整体偏弱；RULSurv held-out 是 survival_probability=0.25 的保守解码迁移结果。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