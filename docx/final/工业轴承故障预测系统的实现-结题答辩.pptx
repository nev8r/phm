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5765800" cy="324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PingFang SC"/>
              </a:rPr>
              <a:t>工业轴承故障预测系统的实现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2E8F0"/>
                </a:solidFill>
                <a:latin typeface="PingFang SC"/>
              </a:rPr>
              <a:t>RUL 预测 | 真实数据接入 | 论文复现 | 软件工程结题答辩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2E8F0"/>
                </a:solidFill>
                <a:latin typeface="PingFang SC"/>
              </a:rPr>
              <a:t>中国科学技术大学 软件学院《软件工程》 | 指导老师：zjf | zyj、cyj、zdh、zy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面向预测性维护场景，完成工业轴承 RUL 预测系统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支持 XJTU-SY 与 PHM2012 两个真实数据集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形成数据、特征、模型、训练、评估、文档的工程闭环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dataset/data：统一 BearingEntity 与 loader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preprocess/feature/labeling：完成信号处理、特征与 RUL 标签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models/training/evaluation：统一模型训练、预测和指标输出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examples/docs/docx：支撑实验复现和课程交付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核心实现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XJTULoader、PHM2012Loader 支持真实数据和读前抽样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19 维时域/频域特征与 FeatureSequenceRulLabeler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BaseTrainer、BaseTester、ExperimentTracker 统一训练记录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RUL 指标体系覆盖论文 Score、普通误差和方向性偏差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论文复现一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Huang 等 CNN-LSTM-AM：CNN 局部编码 + LSTM 时序建模 + attention 聚合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对比 CNN-LSTM baseline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真实 XJTU-SY 和 PHM2012 上完成 8 epoch 小样本训练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输出 huang_rul_score、normalized_rmse、smape 和相对变化列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论文复现二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Jiang 等 xLSTM-Transformer：xLSTM-inspired memory + Transformer encoder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按论文划分 XJTU-SY 三工况与 PHM2012 三工况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对比 Feature-Transformer 和 LSTM-Transformer baseline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输出 RMSE、R2、PHM2012 Score、Huang RUL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测试与验收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pytest 覆盖 loader、labeler、metrics、model forward、prediction modes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notebook 测试直接执行 examples/*.ipynb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真实训练验收保存在 tmp/，指标摘要写入 PAPER_REPRODUCTION.md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结题文档、测试报告、用户手册和安装手册已补齐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结论与展望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系统完成课程要求的可运行、可测试、可复现实验闭环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当前复现为小样本真实训练，不冒充论文完整数值对齐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PingFang SC"/>
              </a:defRPr>
            </a:pPr>
            <a:r>
              <a:t>后续可扩展全量训练、多随机种子统计和交互式实验看板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交付物清单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19456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  <a:latin typeface="PingFang SC"/>
              </a:rPr>
              <a:t>工业轴承故障预测系统的实现 | 结题答辩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109728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43584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PingFang SC"/>
              </a:rPr>
              <a:t>源码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179576"/>
            <a:ext cx="402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PingFang SC"/>
              </a:rPr>
              <a:t>src/USTC/SSE/BearingPrediction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79576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PingFang SC"/>
              </a:rPr>
              <a:t>已完成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64207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64207"/>
            <a:ext cx="109728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81051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PingFang SC"/>
              </a:rPr>
              <a:t>示例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746504"/>
            <a:ext cx="402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PingFang SC"/>
              </a:rPr>
              <a:t>examples/*.ipynb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746504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PingFang SC"/>
              </a:rPr>
              <a:t>已跑通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31136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231136"/>
            <a:ext cx="109728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3774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PingFang SC"/>
              </a:rPr>
              <a:t>论文复现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313432"/>
            <a:ext cx="402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PingFang SC"/>
              </a:rPr>
              <a:t>docs/PAPER_REPRODUCTION.md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313432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PingFang SC"/>
              </a:rPr>
              <a:t>已完成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98063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798063"/>
            <a:ext cx="109728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294436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PingFang SC"/>
              </a:rPr>
              <a:t>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880359"/>
            <a:ext cx="402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PingFang SC"/>
              </a:rPr>
              <a:t>tests + pytest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80359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PingFang SC"/>
              </a:rPr>
              <a:t>已覆盖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364991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364991"/>
            <a:ext cx="109728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511296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PingFang SC"/>
              </a:rPr>
              <a:t>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447287"/>
            <a:ext cx="402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PingFang SC"/>
              </a:rPr>
              <a:t>proposal / mid-term /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447287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PingFang SC"/>
              </a:rPr>
              <a:t>已补齐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31920"/>
            <a:ext cx="29260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931920"/>
            <a:ext cx="109728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078224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PingFang SC"/>
              </a:rPr>
              <a:t>PPT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014215"/>
            <a:ext cx="402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PingFang SC"/>
              </a:rPr>
              <a:t>docx/final/*.pptx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014215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PingFang SC"/>
              </a:rPr>
              <a:t>已生成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1967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