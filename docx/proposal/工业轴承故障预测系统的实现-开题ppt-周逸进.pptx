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200" b="0" i="0">
                <a:solidFill>
                  <a:schemeClr val="bg1"/>
                </a:solidFill>
                <a:latin typeface="宋体"/>
                <a:cs typeface="宋体"/>
              </a:defRPr>
            </a:lvl1pPr>
          </a:lstStyle>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type="body" idx="1"/>
          </p:nvPr>
        </p:nvSpPr>
        <p:spPr/>
        <p:txBody>
          <a:bodyPr lIns="0" tIns="0" rIns="0" bIns="0"/>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chemeClr val="bg1"/>
                </a:solidFill>
                <a:latin typeface="宋体"/>
                <a:cs typeface="宋体"/>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4" y="-18"/>
            <a:ext cx="5757885" cy="369271"/>
          </a:xfrm>
          <a:prstGeom prst="rect">
            <a:avLst/>
          </a:prstGeom>
        </p:spPr>
      </p:pic>
      <p:sp>
        <p:nvSpPr>
          <p:cNvPr id="17" name="bg object 17"/>
          <p:cNvSpPr/>
          <p:nvPr/>
        </p:nvSpPr>
        <p:spPr>
          <a:xfrm>
            <a:off x="4" y="953"/>
            <a:ext cx="3289935" cy="368300"/>
          </a:xfrm>
          <a:custGeom>
            <a:avLst/>
            <a:gdLst/>
            <a:ahLst/>
            <a:cxnLst/>
            <a:rect l="l" t="t" r="r" b="b"/>
            <a:pathLst>
              <a:path w="3289935" h="368300">
                <a:moveTo>
                  <a:pt x="0" y="238760"/>
                </a:moveTo>
                <a:lnTo>
                  <a:pt x="0" y="368300"/>
                </a:lnTo>
                <a:lnTo>
                  <a:pt x="1637969" y="368300"/>
                </a:lnTo>
                <a:lnTo>
                  <a:pt x="1585556" y="365760"/>
                </a:lnTo>
                <a:lnTo>
                  <a:pt x="1117577" y="331469"/>
                </a:lnTo>
                <a:lnTo>
                  <a:pt x="1065985" y="326389"/>
                </a:lnTo>
                <a:lnTo>
                  <a:pt x="809201" y="307339"/>
                </a:lnTo>
                <a:lnTo>
                  <a:pt x="758076" y="302260"/>
                </a:lnTo>
                <a:lnTo>
                  <a:pt x="605153" y="290830"/>
                </a:lnTo>
                <a:lnTo>
                  <a:pt x="554328" y="285750"/>
                </a:lnTo>
                <a:lnTo>
                  <a:pt x="452898" y="278130"/>
                </a:lnTo>
                <a:lnTo>
                  <a:pt x="402293" y="273050"/>
                </a:lnTo>
                <a:lnTo>
                  <a:pt x="301298" y="265430"/>
                </a:lnTo>
                <a:lnTo>
                  <a:pt x="250907" y="260350"/>
                </a:lnTo>
                <a:lnTo>
                  <a:pt x="200586" y="256539"/>
                </a:lnTo>
                <a:lnTo>
                  <a:pt x="150336" y="251460"/>
                </a:lnTo>
                <a:lnTo>
                  <a:pt x="50043" y="243839"/>
                </a:lnTo>
                <a:lnTo>
                  <a:pt x="0" y="238760"/>
                </a:lnTo>
                <a:close/>
              </a:path>
              <a:path w="3289935" h="368300">
                <a:moveTo>
                  <a:pt x="0" y="97789"/>
                </a:moveTo>
                <a:lnTo>
                  <a:pt x="0" y="172719"/>
                </a:lnTo>
                <a:lnTo>
                  <a:pt x="50973" y="179069"/>
                </a:lnTo>
                <a:lnTo>
                  <a:pt x="101918" y="184150"/>
                </a:lnTo>
                <a:lnTo>
                  <a:pt x="203718" y="196850"/>
                </a:lnTo>
                <a:lnTo>
                  <a:pt x="254572" y="201930"/>
                </a:lnTo>
                <a:lnTo>
                  <a:pt x="305395" y="208280"/>
                </a:lnTo>
                <a:lnTo>
                  <a:pt x="356184" y="213360"/>
                </a:lnTo>
                <a:lnTo>
                  <a:pt x="406940" y="219710"/>
                </a:lnTo>
                <a:lnTo>
                  <a:pt x="457662" y="224789"/>
                </a:lnTo>
                <a:lnTo>
                  <a:pt x="508349" y="231139"/>
                </a:lnTo>
                <a:lnTo>
                  <a:pt x="660190" y="246380"/>
                </a:lnTo>
                <a:lnTo>
                  <a:pt x="710728" y="252730"/>
                </a:lnTo>
                <a:lnTo>
                  <a:pt x="962816" y="278130"/>
                </a:lnTo>
                <a:lnTo>
                  <a:pt x="1013107" y="281939"/>
                </a:lnTo>
                <a:lnTo>
                  <a:pt x="1163714" y="297180"/>
                </a:lnTo>
                <a:lnTo>
                  <a:pt x="1213824" y="300989"/>
                </a:lnTo>
                <a:lnTo>
                  <a:pt x="1263887" y="306069"/>
                </a:lnTo>
                <a:lnTo>
                  <a:pt x="1313903" y="309880"/>
                </a:lnTo>
                <a:lnTo>
                  <a:pt x="1363869" y="314960"/>
                </a:lnTo>
                <a:lnTo>
                  <a:pt x="1463652" y="322580"/>
                </a:lnTo>
                <a:lnTo>
                  <a:pt x="1513467" y="327660"/>
                </a:lnTo>
                <a:lnTo>
                  <a:pt x="2008618" y="365760"/>
                </a:lnTo>
                <a:lnTo>
                  <a:pt x="2057816" y="368300"/>
                </a:lnTo>
                <a:lnTo>
                  <a:pt x="2633147" y="368300"/>
                </a:lnTo>
                <a:lnTo>
                  <a:pt x="2410945" y="353060"/>
                </a:lnTo>
                <a:lnTo>
                  <a:pt x="2355840" y="347980"/>
                </a:lnTo>
                <a:lnTo>
                  <a:pt x="2191620" y="336550"/>
                </a:lnTo>
                <a:lnTo>
                  <a:pt x="2137251" y="331469"/>
                </a:lnTo>
                <a:lnTo>
                  <a:pt x="2083070" y="327660"/>
                </a:lnTo>
                <a:lnTo>
                  <a:pt x="2029079" y="322580"/>
                </a:lnTo>
                <a:lnTo>
                  <a:pt x="1975280" y="318769"/>
                </a:lnTo>
                <a:lnTo>
                  <a:pt x="1921674" y="313689"/>
                </a:lnTo>
                <a:lnTo>
                  <a:pt x="1868264" y="309880"/>
                </a:lnTo>
                <a:lnTo>
                  <a:pt x="1815050" y="304800"/>
                </a:lnTo>
                <a:lnTo>
                  <a:pt x="1762035" y="300989"/>
                </a:lnTo>
                <a:lnTo>
                  <a:pt x="1709219" y="295910"/>
                </a:lnTo>
                <a:lnTo>
                  <a:pt x="1656606" y="292100"/>
                </a:lnTo>
                <a:lnTo>
                  <a:pt x="1551992" y="281939"/>
                </a:lnTo>
                <a:lnTo>
                  <a:pt x="1499994" y="278130"/>
                </a:lnTo>
                <a:lnTo>
                  <a:pt x="991776" y="227330"/>
                </a:lnTo>
                <a:lnTo>
                  <a:pt x="942168" y="220980"/>
                </a:lnTo>
                <a:lnTo>
                  <a:pt x="843634" y="210819"/>
                </a:lnTo>
                <a:lnTo>
                  <a:pt x="794713" y="204469"/>
                </a:lnTo>
                <a:lnTo>
                  <a:pt x="746023" y="199389"/>
                </a:lnTo>
                <a:lnTo>
                  <a:pt x="697569" y="193039"/>
                </a:lnTo>
                <a:lnTo>
                  <a:pt x="649350" y="187960"/>
                </a:lnTo>
                <a:lnTo>
                  <a:pt x="553626" y="175260"/>
                </a:lnTo>
                <a:lnTo>
                  <a:pt x="506125" y="170180"/>
                </a:lnTo>
                <a:lnTo>
                  <a:pt x="180505" y="125730"/>
                </a:lnTo>
                <a:lnTo>
                  <a:pt x="134993" y="118110"/>
                </a:lnTo>
                <a:lnTo>
                  <a:pt x="89736" y="111760"/>
                </a:lnTo>
                <a:lnTo>
                  <a:pt x="44738" y="104139"/>
                </a:lnTo>
                <a:lnTo>
                  <a:pt x="0" y="97789"/>
                </a:lnTo>
                <a:close/>
              </a:path>
              <a:path w="3289935" h="368300">
                <a:moveTo>
                  <a:pt x="187545" y="0"/>
                </a:moveTo>
                <a:lnTo>
                  <a:pt x="0" y="0"/>
                </a:lnTo>
                <a:lnTo>
                  <a:pt x="0" y="21589"/>
                </a:lnTo>
                <a:lnTo>
                  <a:pt x="40939" y="30480"/>
                </a:lnTo>
                <a:lnTo>
                  <a:pt x="124172" y="45719"/>
                </a:lnTo>
                <a:lnTo>
                  <a:pt x="166451" y="54610"/>
                </a:lnTo>
                <a:lnTo>
                  <a:pt x="428986" y="100330"/>
                </a:lnTo>
                <a:lnTo>
                  <a:pt x="474154" y="106680"/>
                </a:lnTo>
                <a:lnTo>
                  <a:pt x="565639" y="121919"/>
                </a:lnTo>
                <a:lnTo>
                  <a:pt x="611943" y="128269"/>
                </a:lnTo>
                <a:lnTo>
                  <a:pt x="658612" y="135889"/>
                </a:lnTo>
                <a:lnTo>
                  <a:pt x="705639" y="142239"/>
                </a:lnTo>
                <a:lnTo>
                  <a:pt x="753017" y="149860"/>
                </a:lnTo>
                <a:lnTo>
                  <a:pt x="1244623" y="213360"/>
                </a:lnTo>
                <a:lnTo>
                  <a:pt x="1295416" y="218439"/>
                </a:lnTo>
                <a:lnTo>
                  <a:pt x="1346478" y="224789"/>
                </a:lnTo>
                <a:lnTo>
                  <a:pt x="1397803" y="229869"/>
                </a:lnTo>
                <a:lnTo>
                  <a:pt x="1449384" y="236219"/>
                </a:lnTo>
                <a:lnTo>
                  <a:pt x="1553286" y="246380"/>
                </a:lnTo>
                <a:lnTo>
                  <a:pt x="1605594" y="252730"/>
                </a:lnTo>
                <a:lnTo>
                  <a:pt x="2031714" y="293369"/>
                </a:lnTo>
                <a:lnTo>
                  <a:pt x="2085834" y="297180"/>
                </a:lnTo>
                <a:lnTo>
                  <a:pt x="2140121" y="302260"/>
                </a:lnTo>
                <a:lnTo>
                  <a:pt x="2194569" y="306069"/>
                </a:lnTo>
                <a:lnTo>
                  <a:pt x="2249170" y="311150"/>
                </a:lnTo>
                <a:lnTo>
                  <a:pt x="2303919" y="314960"/>
                </a:lnTo>
                <a:lnTo>
                  <a:pt x="2358807" y="320039"/>
                </a:lnTo>
                <a:lnTo>
                  <a:pt x="2468976" y="327660"/>
                </a:lnTo>
                <a:lnTo>
                  <a:pt x="2524244" y="332739"/>
                </a:lnTo>
                <a:lnTo>
                  <a:pt x="2857977" y="355600"/>
                </a:lnTo>
                <a:lnTo>
                  <a:pt x="2913891" y="358139"/>
                </a:lnTo>
                <a:lnTo>
                  <a:pt x="3025906" y="365760"/>
                </a:lnTo>
                <a:lnTo>
                  <a:pt x="3081994" y="368300"/>
                </a:lnTo>
                <a:lnTo>
                  <a:pt x="3289838" y="368300"/>
                </a:lnTo>
                <a:lnTo>
                  <a:pt x="2953082" y="345439"/>
                </a:lnTo>
                <a:lnTo>
                  <a:pt x="2897271" y="340360"/>
                </a:lnTo>
                <a:lnTo>
                  <a:pt x="2785980" y="332739"/>
                </a:lnTo>
                <a:lnTo>
                  <a:pt x="2730514" y="327660"/>
                </a:lnTo>
                <a:lnTo>
                  <a:pt x="2619978" y="320039"/>
                </a:lnTo>
                <a:lnTo>
                  <a:pt x="2564922" y="314960"/>
                </a:lnTo>
                <a:lnTo>
                  <a:pt x="2510015" y="311150"/>
                </a:lnTo>
                <a:lnTo>
                  <a:pt x="2455266" y="306069"/>
                </a:lnTo>
                <a:lnTo>
                  <a:pt x="2400681" y="302260"/>
                </a:lnTo>
                <a:lnTo>
                  <a:pt x="2292030" y="292100"/>
                </a:lnTo>
                <a:lnTo>
                  <a:pt x="2237979" y="288289"/>
                </a:lnTo>
                <a:lnTo>
                  <a:pt x="1709173" y="237489"/>
                </a:lnTo>
                <a:lnTo>
                  <a:pt x="1657616" y="231139"/>
                </a:lnTo>
                <a:lnTo>
                  <a:pt x="1606328" y="226060"/>
                </a:lnTo>
                <a:lnTo>
                  <a:pt x="1555315" y="219710"/>
                </a:lnTo>
                <a:lnTo>
                  <a:pt x="1504584" y="214630"/>
                </a:lnTo>
                <a:lnTo>
                  <a:pt x="1454143" y="208280"/>
                </a:lnTo>
                <a:lnTo>
                  <a:pt x="1403998" y="203200"/>
                </a:lnTo>
                <a:lnTo>
                  <a:pt x="1061867" y="158750"/>
                </a:lnTo>
                <a:lnTo>
                  <a:pt x="1014344" y="151130"/>
                </a:lnTo>
                <a:lnTo>
                  <a:pt x="967179" y="144780"/>
                </a:lnTo>
                <a:lnTo>
                  <a:pt x="920381" y="137160"/>
                </a:lnTo>
                <a:lnTo>
                  <a:pt x="873955" y="130810"/>
                </a:lnTo>
                <a:lnTo>
                  <a:pt x="782251" y="115569"/>
                </a:lnTo>
                <a:lnTo>
                  <a:pt x="736986" y="109219"/>
                </a:lnTo>
                <a:lnTo>
                  <a:pt x="647665" y="93980"/>
                </a:lnTo>
                <a:lnTo>
                  <a:pt x="603624" y="85089"/>
                </a:lnTo>
                <a:lnTo>
                  <a:pt x="516812" y="69850"/>
                </a:lnTo>
                <a:lnTo>
                  <a:pt x="474056" y="60960"/>
                </a:lnTo>
                <a:lnTo>
                  <a:pt x="431742" y="53339"/>
                </a:lnTo>
                <a:lnTo>
                  <a:pt x="187545" y="0"/>
                </a:lnTo>
                <a:close/>
              </a:path>
              <a:path w="3289935" h="368300">
                <a:moveTo>
                  <a:pt x="669050" y="0"/>
                </a:moveTo>
                <a:lnTo>
                  <a:pt x="509825" y="0"/>
                </a:lnTo>
                <a:lnTo>
                  <a:pt x="740049" y="45719"/>
                </a:lnTo>
                <a:lnTo>
                  <a:pt x="780063" y="52069"/>
                </a:lnTo>
                <a:lnTo>
                  <a:pt x="944979" y="82550"/>
                </a:lnTo>
                <a:lnTo>
                  <a:pt x="987445" y="88900"/>
                </a:lnTo>
                <a:lnTo>
                  <a:pt x="1073894" y="104139"/>
                </a:lnTo>
                <a:lnTo>
                  <a:pt x="1117886" y="110489"/>
                </a:lnTo>
                <a:lnTo>
                  <a:pt x="1162395" y="118110"/>
                </a:lnTo>
                <a:lnTo>
                  <a:pt x="1207426" y="124460"/>
                </a:lnTo>
                <a:lnTo>
                  <a:pt x="1252983" y="132080"/>
                </a:lnTo>
                <a:lnTo>
                  <a:pt x="1345695" y="144780"/>
                </a:lnTo>
                <a:lnTo>
                  <a:pt x="1392858" y="152400"/>
                </a:lnTo>
                <a:lnTo>
                  <a:pt x="1636931" y="184150"/>
                </a:lnTo>
                <a:lnTo>
                  <a:pt x="1687428" y="191769"/>
                </a:lnTo>
                <a:lnTo>
                  <a:pt x="1738496" y="198119"/>
                </a:lnTo>
                <a:lnTo>
                  <a:pt x="1790140" y="203200"/>
                </a:lnTo>
                <a:lnTo>
                  <a:pt x="2002564" y="228600"/>
                </a:lnTo>
                <a:lnTo>
                  <a:pt x="2057154" y="233680"/>
                </a:lnTo>
                <a:lnTo>
                  <a:pt x="2168148" y="246380"/>
                </a:lnTo>
                <a:lnTo>
                  <a:pt x="2224560" y="251460"/>
                </a:lnTo>
                <a:lnTo>
                  <a:pt x="2281588" y="257810"/>
                </a:lnTo>
                <a:lnTo>
                  <a:pt x="2397512" y="267969"/>
                </a:lnTo>
                <a:lnTo>
                  <a:pt x="2456416" y="274319"/>
                </a:lnTo>
                <a:lnTo>
                  <a:pt x="2698418" y="294639"/>
                </a:lnTo>
                <a:lnTo>
                  <a:pt x="2760538" y="300989"/>
                </a:lnTo>
                <a:lnTo>
                  <a:pt x="2823314" y="304800"/>
                </a:lnTo>
                <a:lnTo>
                  <a:pt x="2950855" y="314960"/>
                </a:lnTo>
                <a:lnTo>
                  <a:pt x="2832781" y="304800"/>
                </a:lnTo>
                <a:lnTo>
                  <a:pt x="2774245" y="298450"/>
                </a:lnTo>
                <a:lnTo>
                  <a:pt x="2658193" y="288289"/>
                </a:lnTo>
                <a:lnTo>
                  <a:pt x="2600684" y="281939"/>
                </a:lnTo>
                <a:lnTo>
                  <a:pt x="2543526" y="276860"/>
                </a:lnTo>
                <a:lnTo>
                  <a:pt x="2430276" y="264160"/>
                </a:lnTo>
                <a:lnTo>
                  <a:pt x="2374191" y="259080"/>
                </a:lnTo>
                <a:lnTo>
                  <a:pt x="1939002" y="208280"/>
                </a:lnTo>
                <a:lnTo>
                  <a:pt x="1886347" y="200660"/>
                </a:lnTo>
                <a:lnTo>
                  <a:pt x="1782241" y="187960"/>
                </a:lnTo>
                <a:lnTo>
                  <a:pt x="1730798" y="180339"/>
                </a:lnTo>
                <a:lnTo>
                  <a:pt x="1679767" y="173989"/>
                </a:lnTo>
                <a:lnTo>
                  <a:pt x="1578956" y="158750"/>
                </a:lnTo>
                <a:lnTo>
                  <a:pt x="1529183" y="152400"/>
                </a:lnTo>
                <a:lnTo>
                  <a:pt x="1100913" y="83819"/>
                </a:lnTo>
                <a:lnTo>
                  <a:pt x="1055586" y="74930"/>
                </a:lnTo>
                <a:lnTo>
                  <a:pt x="966331" y="59689"/>
                </a:lnTo>
                <a:lnTo>
                  <a:pt x="922411" y="50800"/>
                </a:lnTo>
                <a:lnTo>
                  <a:pt x="878969" y="43180"/>
                </a:lnTo>
                <a:lnTo>
                  <a:pt x="751544" y="16510"/>
                </a:lnTo>
                <a:lnTo>
                  <a:pt x="710049" y="8889"/>
                </a:lnTo>
                <a:lnTo>
                  <a:pt x="669050" y="0"/>
                </a:lnTo>
                <a:close/>
              </a:path>
            </a:pathLst>
          </a:custGeom>
          <a:solidFill>
            <a:srgbClr val="003F98"/>
          </a:solidFill>
        </p:spPr>
        <p:txBody>
          <a:bodyPr wrap="square" lIns="0" tIns="0" rIns="0" bIns="0" rtlCol="0"/>
          <a:lstStyle/>
          <a:p/>
        </p:txBody>
      </p:sp>
      <p:sp>
        <p:nvSpPr>
          <p:cNvPr id="18" name="bg object 18"/>
          <p:cNvSpPr/>
          <p:nvPr/>
        </p:nvSpPr>
        <p:spPr>
          <a:xfrm>
            <a:off x="4" y="369253"/>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sp>
        <p:nvSpPr>
          <p:cNvPr id="19" name="bg object 19"/>
          <p:cNvSpPr/>
          <p:nvPr/>
        </p:nvSpPr>
        <p:spPr>
          <a:xfrm>
            <a:off x="4" y="3069966"/>
            <a:ext cx="5758180" cy="168910"/>
          </a:xfrm>
          <a:custGeom>
            <a:avLst/>
            <a:gdLst/>
            <a:ahLst/>
            <a:cxnLst/>
            <a:rect l="l" t="t" r="r" b="b"/>
            <a:pathLst>
              <a:path w="5758180" h="168910">
                <a:moveTo>
                  <a:pt x="5757885" y="0"/>
                </a:moveTo>
                <a:lnTo>
                  <a:pt x="0" y="0"/>
                </a:lnTo>
                <a:lnTo>
                  <a:pt x="0" y="168876"/>
                </a:lnTo>
                <a:lnTo>
                  <a:pt x="5757885" y="168876"/>
                </a:lnTo>
                <a:lnTo>
                  <a:pt x="5757885" y="0"/>
                </a:lnTo>
                <a:close/>
              </a:path>
            </a:pathLst>
          </a:custGeom>
          <a:solidFill>
            <a:srgbClr val="003F98"/>
          </a:solidFill>
        </p:spPr>
        <p:txBody>
          <a:bodyPr wrap="square" lIns="0" tIns="0" rIns="0" bIns="0" rtlCol="0"/>
          <a:lstStyle/>
          <a:p/>
        </p:txBody>
      </p:sp>
      <p:sp>
        <p:nvSpPr>
          <p:cNvPr id="20" name="bg object 20"/>
          <p:cNvSpPr/>
          <p:nvPr/>
        </p:nvSpPr>
        <p:spPr>
          <a:xfrm>
            <a:off x="4" y="3050704"/>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pic>
        <p:nvPicPr>
          <p:cNvPr id="21" name="bg object 21"/>
          <p:cNvPicPr/>
          <p:nvPr/>
        </p:nvPicPr>
        <p:blipFill>
          <a:blip r:embed="rId7" cstate="print"/>
          <a:stretch>
            <a:fillRect/>
          </a:stretch>
        </p:blipFill>
        <p:spPr>
          <a:xfrm>
            <a:off x="4144737" y="53035"/>
            <a:ext cx="270597" cy="270510"/>
          </a:xfrm>
          <a:prstGeom prst="rect">
            <a:avLst/>
          </a:prstGeom>
        </p:spPr>
      </p:pic>
      <p:pic>
        <p:nvPicPr>
          <p:cNvPr id="22" name="bg object 22"/>
          <p:cNvPicPr/>
          <p:nvPr/>
        </p:nvPicPr>
        <p:blipFill>
          <a:blip r:embed="rId8" cstate="print"/>
          <a:stretch>
            <a:fillRect/>
          </a:stretch>
        </p:blipFill>
        <p:spPr>
          <a:xfrm>
            <a:off x="4466801" y="75062"/>
            <a:ext cx="1135005" cy="226368"/>
          </a:xfrm>
          <a:prstGeom prst="rect">
            <a:avLst/>
          </a:prstGeom>
        </p:spPr>
      </p:pic>
      <p:sp>
        <p:nvSpPr>
          <p:cNvPr id="23" name="bg object 23"/>
          <p:cNvSpPr/>
          <p:nvPr/>
        </p:nvSpPr>
        <p:spPr>
          <a:xfrm>
            <a:off x="4221125" y="3155250"/>
            <a:ext cx="43180" cy="30480"/>
          </a:xfrm>
          <a:custGeom>
            <a:avLst/>
            <a:gdLst/>
            <a:ahLst/>
            <a:cxnLst/>
            <a:rect l="l" t="t" r="r" b="b"/>
            <a:pathLst>
              <a:path w="43179" h="30480">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p:txBody>
      </p:sp>
      <p:sp>
        <p:nvSpPr>
          <p:cNvPr id="24" name="bg object 24"/>
          <p:cNvSpPr/>
          <p:nvPr/>
        </p:nvSpPr>
        <p:spPr>
          <a:xfrm>
            <a:off x="4141508" y="3151288"/>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25" name="bg object 25"/>
          <p:cNvSpPr/>
          <p:nvPr/>
        </p:nvSpPr>
        <p:spPr>
          <a:xfrm>
            <a:off x="4319310" y="3151288"/>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6" name="bg object 26"/>
          <p:cNvSpPr/>
          <p:nvPr/>
        </p:nvSpPr>
        <p:spPr>
          <a:xfrm>
            <a:off x="4475644" y="3144938"/>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p:txBody>
      </p:sp>
      <p:sp>
        <p:nvSpPr>
          <p:cNvPr id="27" name="bg object 27"/>
          <p:cNvSpPr/>
          <p:nvPr/>
        </p:nvSpPr>
        <p:spPr>
          <a:xfrm>
            <a:off x="4412475"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8" name="bg object 28"/>
          <p:cNvSpPr/>
          <p:nvPr/>
        </p:nvSpPr>
        <p:spPr>
          <a:xfrm>
            <a:off x="4772343" y="3157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9" name="bg object 29"/>
          <p:cNvSpPr/>
          <p:nvPr/>
        </p:nvSpPr>
        <p:spPr>
          <a:xfrm>
            <a:off x="4683442"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30" name="bg object 30"/>
          <p:cNvSpPr/>
          <p:nvPr/>
        </p:nvSpPr>
        <p:spPr>
          <a:xfrm>
            <a:off x="4759643" y="3144938"/>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p:txBody>
      </p:sp>
      <p:sp>
        <p:nvSpPr>
          <p:cNvPr id="31" name="bg object 31"/>
          <p:cNvSpPr/>
          <p:nvPr/>
        </p:nvSpPr>
        <p:spPr>
          <a:xfrm>
            <a:off x="5030610" y="3144938"/>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p:txBody>
      </p:sp>
      <p:sp>
        <p:nvSpPr>
          <p:cNvPr id="32" name="bg object 32"/>
          <p:cNvSpPr/>
          <p:nvPr/>
        </p:nvSpPr>
        <p:spPr>
          <a:xfrm>
            <a:off x="4954409"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33" name="bg object 33"/>
          <p:cNvSpPr/>
          <p:nvPr/>
        </p:nvSpPr>
        <p:spPr>
          <a:xfrm>
            <a:off x="5030610" y="3183038"/>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p:txBody>
      </p:sp>
      <p:sp>
        <p:nvSpPr>
          <p:cNvPr id="34" name="bg object 34"/>
          <p:cNvSpPr/>
          <p:nvPr/>
        </p:nvSpPr>
        <p:spPr>
          <a:xfrm>
            <a:off x="5301577" y="3144938"/>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p:txBody>
      </p:sp>
      <p:sp>
        <p:nvSpPr>
          <p:cNvPr id="35" name="bg object 35"/>
          <p:cNvSpPr/>
          <p:nvPr/>
        </p:nvSpPr>
        <p:spPr>
          <a:xfrm>
            <a:off x="5603025" y="3175418"/>
            <a:ext cx="20320" cy="20320"/>
          </a:xfrm>
          <a:custGeom>
            <a:avLst/>
            <a:gdLst/>
            <a:ahLst/>
            <a:cxnLst/>
            <a:rect l="l" t="t" r="r" b="b"/>
            <a:pathLst>
              <a:path w="20320" h="20319">
                <a:moveTo>
                  <a:pt x="0" y="0"/>
                </a:moveTo>
                <a:lnTo>
                  <a:pt x="20320" y="20320"/>
                </a:lnTo>
              </a:path>
            </a:pathLst>
          </a:custGeom>
          <a:ln w="7591">
            <a:solidFill>
              <a:srgbClr val="ADADE0"/>
            </a:solidFill>
          </a:ln>
        </p:spPr>
        <p:txBody>
          <a:bodyPr wrap="square" lIns="0" tIns="0" rIns="0" bIns="0" rtlCol="0"/>
          <a:lstStyle/>
          <a:p/>
        </p:txBody>
      </p:sp>
      <p:sp>
        <p:nvSpPr>
          <p:cNvPr id="36" name="bg object 36"/>
          <p:cNvSpPr/>
          <p:nvPr/>
        </p:nvSpPr>
        <p:spPr>
          <a:xfrm>
            <a:off x="5575961" y="3148924"/>
            <a:ext cx="30480" cy="30480"/>
          </a:xfrm>
          <a:custGeom>
            <a:avLst/>
            <a:gdLst/>
            <a:ahLst/>
            <a:cxnLst/>
            <a:rect l="l" t="t" r="r" b="b"/>
            <a:pathLst>
              <a:path w="30479" h="3048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p:txBody>
      </p:sp>
      <p:sp>
        <p:nvSpPr>
          <p:cNvPr id="37" name="bg object 37"/>
          <p:cNvSpPr/>
          <p:nvPr/>
        </p:nvSpPr>
        <p:spPr>
          <a:xfrm>
            <a:off x="5481104" y="3144938"/>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p:txBody>
      </p:sp>
      <p:sp>
        <p:nvSpPr>
          <p:cNvPr id="2" name="Holder 2"/>
          <p:cNvSpPr>
            <a:spLocks noGrp="1"/>
          </p:cNvSpPr>
          <p:nvPr>
            <p:ph type="title"/>
          </p:nvPr>
        </p:nvSpPr>
        <p:spPr>
          <a:xfrm>
            <a:off x="95300" y="65872"/>
            <a:ext cx="1263650" cy="207645"/>
          </a:xfrm>
          <a:prstGeom prst="rect">
            <a:avLst/>
          </a:prstGeom>
        </p:spPr>
        <p:txBody>
          <a:bodyPr wrap="square" lIns="0" tIns="0" rIns="0" bIns="0">
            <a:spAutoFit/>
          </a:bodyPr>
          <a:lstStyle>
            <a:lvl1pPr>
              <a:defRPr sz="1200" b="0" i="0">
                <a:solidFill>
                  <a:schemeClr val="bg1"/>
                </a:solidFill>
                <a:latin typeface="宋体"/>
                <a:cs typeface="宋体"/>
              </a:defRPr>
            </a:lvl1pPr>
          </a:lstStyle>
          <a:p/>
        </p:txBody>
      </p:sp>
      <p:sp>
        <p:nvSpPr>
          <p:cNvPr id="3" name="Holder 3"/>
          <p:cNvSpPr>
            <a:spLocks noGrp="1"/>
          </p:cNvSpPr>
          <p:nvPr>
            <p:ph type="body" idx="1"/>
          </p:nvPr>
        </p:nvSpPr>
        <p:spPr>
          <a:xfrm>
            <a:off x="321894" y="683371"/>
            <a:ext cx="3542665" cy="1814195"/>
          </a:xfrm>
          <a:prstGeom prst="rect">
            <a:avLst/>
          </a:prstGeom>
        </p:spPr>
        <p:txBody>
          <a:bodyPr wrap="square" lIns="0" tIns="0" rIns="0" bIns="0">
            <a:spAutoFit/>
          </a:bodyPr>
          <a:lstStyle>
            <a:lvl1pPr>
              <a:defRPr sz="1100" b="0" i="0">
                <a:solidFill>
                  <a:schemeClr val="tx1"/>
                </a:solidFill>
                <a:latin typeface="宋体"/>
                <a:cs typeface="宋体"/>
              </a:defRPr>
            </a:lvl1pPr>
          </a:lstStyle>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4151376" y="3017710"/>
            <a:ext cx="1326134" cy="1622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slide" Target="slide7.xml"/><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 y="2765333"/>
            <a:ext cx="5758180" cy="473709"/>
            <a:chOff x="4" y="2765333"/>
            <a:chExt cx="5758180" cy="473709"/>
          </a:xfrm>
        </p:grpSpPr>
        <p:sp>
          <p:nvSpPr>
            <p:cNvPr id="3" name="object 3"/>
            <p:cNvSpPr/>
            <p:nvPr/>
          </p:nvSpPr>
          <p:spPr>
            <a:xfrm>
              <a:off x="4" y="2814233"/>
              <a:ext cx="5758180" cy="424815"/>
            </a:xfrm>
            <a:custGeom>
              <a:avLst/>
              <a:gdLst/>
              <a:ahLst/>
              <a:cxnLst/>
              <a:rect l="l" t="t" r="r" b="b"/>
              <a:pathLst>
                <a:path w="5758180" h="424814">
                  <a:moveTo>
                    <a:pt x="5757885" y="0"/>
                  </a:moveTo>
                  <a:lnTo>
                    <a:pt x="0" y="0"/>
                  </a:lnTo>
                  <a:lnTo>
                    <a:pt x="0" y="424609"/>
                  </a:lnTo>
                  <a:lnTo>
                    <a:pt x="5757885" y="424609"/>
                  </a:lnTo>
                  <a:lnTo>
                    <a:pt x="5757885" y="0"/>
                  </a:lnTo>
                  <a:close/>
                </a:path>
              </a:pathLst>
            </a:custGeom>
            <a:solidFill>
              <a:srgbClr val="F2F2F2"/>
            </a:solidFill>
          </p:spPr>
          <p:txBody>
            <a:bodyPr wrap="square" lIns="0" tIns="0" rIns="0" bIns="0" rtlCol="0"/>
            <a:lstStyle/>
            <a:p/>
          </p:txBody>
        </p:sp>
        <p:sp>
          <p:nvSpPr>
            <p:cNvPr id="4" name="object 4"/>
            <p:cNvSpPr/>
            <p:nvPr/>
          </p:nvSpPr>
          <p:spPr>
            <a:xfrm>
              <a:off x="4" y="2765333"/>
              <a:ext cx="5758180" cy="19685"/>
            </a:xfrm>
            <a:custGeom>
              <a:avLst/>
              <a:gdLst/>
              <a:ahLst/>
              <a:cxnLst/>
              <a:rect l="l" t="t" r="r" b="b"/>
              <a:pathLst>
                <a:path w="5758180" h="19685">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grpSp>
      <p:pic>
        <p:nvPicPr>
          <p:cNvPr id="5" name="object 5"/>
          <p:cNvPicPr/>
          <p:nvPr/>
        </p:nvPicPr>
        <p:blipFill>
          <a:blip r:embed="rId1" cstate="print"/>
          <a:stretch>
            <a:fillRect/>
          </a:stretch>
        </p:blipFill>
        <p:spPr>
          <a:xfrm>
            <a:off x="4" y="887153"/>
            <a:ext cx="5757885" cy="1680424"/>
          </a:xfrm>
          <a:prstGeom prst="rect">
            <a:avLst/>
          </a:prstGeom>
        </p:spPr>
      </p:pic>
      <p:sp>
        <p:nvSpPr>
          <p:cNvPr id="6" name="object 6"/>
          <p:cNvSpPr/>
          <p:nvPr/>
        </p:nvSpPr>
        <p:spPr>
          <a:xfrm>
            <a:off x="4" y="-18"/>
            <a:ext cx="5758180" cy="640715"/>
          </a:xfrm>
          <a:custGeom>
            <a:avLst/>
            <a:gdLst/>
            <a:ahLst/>
            <a:cxnLst/>
            <a:rect l="l" t="t" r="r" b="b"/>
            <a:pathLst>
              <a:path w="5758180" h="640715">
                <a:moveTo>
                  <a:pt x="5757885" y="0"/>
                </a:moveTo>
                <a:lnTo>
                  <a:pt x="0" y="0"/>
                </a:lnTo>
                <a:lnTo>
                  <a:pt x="0" y="640515"/>
                </a:lnTo>
                <a:lnTo>
                  <a:pt x="5757885" y="640515"/>
                </a:lnTo>
                <a:lnTo>
                  <a:pt x="5757885" y="0"/>
                </a:lnTo>
                <a:close/>
              </a:path>
            </a:pathLst>
          </a:custGeom>
          <a:solidFill>
            <a:srgbClr val="F2F2F2"/>
          </a:solidFill>
        </p:spPr>
        <p:txBody>
          <a:bodyPr wrap="square" lIns="0" tIns="0" rIns="0" bIns="0" rtlCol="0"/>
          <a:lstStyle/>
          <a:p/>
        </p:txBody>
      </p:sp>
      <p:sp>
        <p:nvSpPr>
          <p:cNvPr id="7" name="object 7"/>
          <p:cNvSpPr/>
          <p:nvPr/>
        </p:nvSpPr>
        <p:spPr>
          <a:xfrm>
            <a:off x="4" y="891177"/>
            <a:ext cx="3289935" cy="1676400"/>
          </a:xfrm>
          <a:custGeom>
            <a:avLst/>
            <a:gdLst/>
            <a:ahLst/>
            <a:cxnLst/>
            <a:rect l="l" t="t" r="r" b="b"/>
            <a:pathLst>
              <a:path w="3289935" h="1676400">
                <a:moveTo>
                  <a:pt x="0" y="1092200"/>
                </a:moveTo>
                <a:lnTo>
                  <a:pt x="0" y="1676400"/>
                </a:lnTo>
                <a:lnTo>
                  <a:pt x="1637969" y="1676400"/>
                </a:lnTo>
                <a:lnTo>
                  <a:pt x="1490196" y="1638300"/>
                </a:lnTo>
                <a:lnTo>
                  <a:pt x="1441087" y="1612900"/>
                </a:lnTo>
                <a:lnTo>
                  <a:pt x="1294200" y="1574800"/>
                </a:lnTo>
                <a:lnTo>
                  <a:pt x="1245383" y="1549400"/>
                </a:lnTo>
                <a:lnTo>
                  <a:pt x="1147963" y="1524000"/>
                </a:lnTo>
                <a:lnTo>
                  <a:pt x="1099359" y="1498600"/>
                </a:lnTo>
                <a:lnTo>
                  <a:pt x="1002363" y="1473200"/>
                </a:lnTo>
                <a:lnTo>
                  <a:pt x="953969" y="1447800"/>
                </a:lnTo>
                <a:lnTo>
                  <a:pt x="857389" y="1422400"/>
                </a:lnTo>
                <a:lnTo>
                  <a:pt x="809201" y="1397000"/>
                </a:lnTo>
                <a:lnTo>
                  <a:pt x="713028" y="1371600"/>
                </a:lnTo>
                <a:lnTo>
                  <a:pt x="665042" y="1346200"/>
                </a:lnTo>
                <a:lnTo>
                  <a:pt x="617122" y="1333500"/>
                </a:lnTo>
                <a:lnTo>
                  <a:pt x="569269" y="1308100"/>
                </a:lnTo>
                <a:lnTo>
                  <a:pt x="521480" y="1295400"/>
                </a:lnTo>
                <a:lnTo>
                  <a:pt x="473757" y="1270000"/>
                </a:lnTo>
                <a:lnTo>
                  <a:pt x="378503" y="1244600"/>
                </a:lnTo>
                <a:lnTo>
                  <a:pt x="330972" y="1219200"/>
                </a:lnTo>
                <a:lnTo>
                  <a:pt x="283504" y="1206500"/>
                </a:lnTo>
                <a:lnTo>
                  <a:pt x="236099" y="1181100"/>
                </a:lnTo>
                <a:lnTo>
                  <a:pt x="188757" y="1168400"/>
                </a:lnTo>
                <a:lnTo>
                  <a:pt x="141476" y="1143000"/>
                </a:lnTo>
                <a:lnTo>
                  <a:pt x="94256" y="1130300"/>
                </a:lnTo>
                <a:lnTo>
                  <a:pt x="47098" y="1104900"/>
                </a:lnTo>
                <a:lnTo>
                  <a:pt x="0" y="1092200"/>
                </a:lnTo>
                <a:close/>
              </a:path>
              <a:path w="3289935" h="1676400">
                <a:moveTo>
                  <a:pt x="0" y="444500"/>
                </a:moveTo>
                <a:lnTo>
                  <a:pt x="0" y="787400"/>
                </a:lnTo>
                <a:lnTo>
                  <a:pt x="473794" y="1041400"/>
                </a:lnTo>
                <a:lnTo>
                  <a:pt x="521015" y="1054100"/>
                </a:lnTo>
                <a:lnTo>
                  <a:pt x="709580" y="1155700"/>
                </a:lnTo>
                <a:lnTo>
                  <a:pt x="756638" y="1168400"/>
                </a:lnTo>
                <a:lnTo>
                  <a:pt x="850650" y="1219200"/>
                </a:lnTo>
                <a:lnTo>
                  <a:pt x="897602" y="1231900"/>
                </a:lnTo>
                <a:lnTo>
                  <a:pt x="991396" y="1282700"/>
                </a:lnTo>
                <a:lnTo>
                  <a:pt x="1038236" y="1295400"/>
                </a:lnTo>
                <a:lnTo>
                  <a:pt x="1131801" y="1346200"/>
                </a:lnTo>
                <a:lnTo>
                  <a:pt x="1178524" y="1358900"/>
                </a:lnTo>
                <a:lnTo>
                  <a:pt x="1225206" y="1384300"/>
                </a:lnTo>
                <a:lnTo>
                  <a:pt x="1271848" y="1397000"/>
                </a:lnTo>
                <a:lnTo>
                  <a:pt x="1318447" y="1422400"/>
                </a:lnTo>
                <a:lnTo>
                  <a:pt x="1365004" y="1435100"/>
                </a:lnTo>
                <a:lnTo>
                  <a:pt x="1411518" y="1460500"/>
                </a:lnTo>
                <a:lnTo>
                  <a:pt x="1504413" y="1485900"/>
                </a:lnTo>
                <a:lnTo>
                  <a:pt x="1550794" y="1511300"/>
                </a:lnTo>
                <a:lnTo>
                  <a:pt x="1643417" y="1536700"/>
                </a:lnTo>
                <a:lnTo>
                  <a:pt x="1689658" y="1562100"/>
                </a:lnTo>
                <a:lnTo>
                  <a:pt x="1781997" y="1587500"/>
                </a:lnTo>
                <a:lnTo>
                  <a:pt x="1828093" y="1612900"/>
                </a:lnTo>
                <a:lnTo>
                  <a:pt x="2057816" y="1676400"/>
                </a:lnTo>
                <a:lnTo>
                  <a:pt x="2633147" y="1676400"/>
                </a:lnTo>
                <a:lnTo>
                  <a:pt x="2483424" y="1638300"/>
                </a:lnTo>
                <a:lnTo>
                  <a:pt x="2433800" y="1612900"/>
                </a:lnTo>
                <a:lnTo>
                  <a:pt x="2334985" y="1587500"/>
                </a:lnTo>
                <a:lnTo>
                  <a:pt x="2285797" y="1562100"/>
                </a:lnTo>
                <a:lnTo>
                  <a:pt x="2187864" y="1536700"/>
                </a:lnTo>
                <a:lnTo>
                  <a:pt x="2139123" y="1511300"/>
                </a:lnTo>
                <a:lnTo>
                  <a:pt x="2090532" y="1498600"/>
                </a:lnTo>
                <a:lnTo>
                  <a:pt x="2042094" y="1473200"/>
                </a:lnTo>
                <a:lnTo>
                  <a:pt x="1945681" y="1447800"/>
                </a:lnTo>
                <a:lnTo>
                  <a:pt x="1897708" y="1422400"/>
                </a:lnTo>
                <a:lnTo>
                  <a:pt x="1849892" y="1409700"/>
                </a:lnTo>
                <a:lnTo>
                  <a:pt x="1802235" y="1384300"/>
                </a:lnTo>
                <a:lnTo>
                  <a:pt x="1754738" y="1371600"/>
                </a:lnTo>
                <a:lnTo>
                  <a:pt x="1707402" y="1346200"/>
                </a:lnTo>
                <a:lnTo>
                  <a:pt x="1660228" y="1333500"/>
                </a:lnTo>
                <a:lnTo>
                  <a:pt x="1613218" y="1308100"/>
                </a:lnTo>
                <a:lnTo>
                  <a:pt x="1566372" y="1295400"/>
                </a:lnTo>
                <a:lnTo>
                  <a:pt x="1519693" y="1270000"/>
                </a:lnTo>
                <a:lnTo>
                  <a:pt x="1473181" y="1257300"/>
                </a:lnTo>
                <a:lnTo>
                  <a:pt x="1426837" y="1231900"/>
                </a:lnTo>
                <a:lnTo>
                  <a:pt x="1380663" y="1219200"/>
                </a:lnTo>
                <a:lnTo>
                  <a:pt x="1334660" y="1193800"/>
                </a:lnTo>
                <a:lnTo>
                  <a:pt x="1288828" y="1181100"/>
                </a:lnTo>
                <a:lnTo>
                  <a:pt x="1197687" y="1130300"/>
                </a:lnTo>
                <a:lnTo>
                  <a:pt x="1152380" y="1117600"/>
                </a:lnTo>
                <a:lnTo>
                  <a:pt x="1062297" y="1066800"/>
                </a:lnTo>
                <a:lnTo>
                  <a:pt x="1017525" y="1054100"/>
                </a:lnTo>
                <a:lnTo>
                  <a:pt x="884295" y="977900"/>
                </a:lnTo>
                <a:lnTo>
                  <a:pt x="840253" y="965200"/>
                </a:lnTo>
                <a:lnTo>
                  <a:pt x="622848" y="838200"/>
                </a:lnTo>
                <a:lnTo>
                  <a:pt x="579937" y="825500"/>
                </a:lnTo>
                <a:lnTo>
                  <a:pt x="326566" y="673100"/>
                </a:lnTo>
                <a:lnTo>
                  <a:pt x="285031" y="647700"/>
                </a:lnTo>
                <a:lnTo>
                  <a:pt x="243698" y="609600"/>
                </a:lnTo>
                <a:lnTo>
                  <a:pt x="40098" y="482600"/>
                </a:lnTo>
                <a:lnTo>
                  <a:pt x="0" y="444500"/>
                </a:lnTo>
                <a:close/>
              </a:path>
              <a:path w="3289935" h="1676400">
                <a:moveTo>
                  <a:pt x="187545" y="0"/>
                </a:moveTo>
                <a:lnTo>
                  <a:pt x="0" y="0"/>
                </a:lnTo>
                <a:lnTo>
                  <a:pt x="0" y="101600"/>
                </a:lnTo>
                <a:lnTo>
                  <a:pt x="35650" y="139700"/>
                </a:lnTo>
                <a:lnTo>
                  <a:pt x="71645" y="165100"/>
                </a:lnTo>
                <a:lnTo>
                  <a:pt x="107981" y="203200"/>
                </a:lnTo>
                <a:lnTo>
                  <a:pt x="144653" y="228600"/>
                </a:lnTo>
                <a:lnTo>
                  <a:pt x="181656" y="266700"/>
                </a:lnTo>
                <a:lnTo>
                  <a:pt x="218987" y="292100"/>
                </a:lnTo>
                <a:lnTo>
                  <a:pt x="256640" y="330200"/>
                </a:lnTo>
                <a:lnTo>
                  <a:pt x="332896" y="381000"/>
                </a:lnTo>
                <a:lnTo>
                  <a:pt x="371489" y="419100"/>
                </a:lnTo>
                <a:lnTo>
                  <a:pt x="449586" y="469900"/>
                </a:lnTo>
                <a:lnTo>
                  <a:pt x="489079" y="508000"/>
                </a:lnTo>
                <a:lnTo>
                  <a:pt x="649918" y="609600"/>
                </a:lnTo>
                <a:lnTo>
                  <a:pt x="690821" y="647700"/>
                </a:lnTo>
                <a:lnTo>
                  <a:pt x="773428" y="698500"/>
                </a:lnTo>
                <a:lnTo>
                  <a:pt x="984407" y="825500"/>
                </a:lnTo>
                <a:lnTo>
                  <a:pt x="1245347" y="977900"/>
                </a:lnTo>
                <a:lnTo>
                  <a:pt x="1289597" y="990600"/>
                </a:lnTo>
                <a:lnTo>
                  <a:pt x="1468607" y="1092200"/>
                </a:lnTo>
                <a:lnTo>
                  <a:pt x="1513838" y="1104900"/>
                </a:lnTo>
                <a:lnTo>
                  <a:pt x="1604845" y="1155700"/>
                </a:lnTo>
                <a:lnTo>
                  <a:pt x="1650612" y="1168400"/>
                </a:lnTo>
                <a:lnTo>
                  <a:pt x="1742647" y="1219200"/>
                </a:lnTo>
                <a:lnTo>
                  <a:pt x="1788908" y="1231900"/>
                </a:lnTo>
                <a:lnTo>
                  <a:pt x="1835323" y="1257300"/>
                </a:lnTo>
                <a:lnTo>
                  <a:pt x="1881891" y="1270000"/>
                </a:lnTo>
                <a:lnTo>
                  <a:pt x="1928604" y="1295400"/>
                </a:lnTo>
                <a:lnTo>
                  <a:pt x="1975460" y="1308100"/>
                </a:lnTo>
                <a:lnTo>
                  <a:pt x="2022454" y="1333500"/>
                </a:lnTo>
                <a:lnTo>
                  <a:pt x="2069580" y="1346200"/>
                </a:lnTo>
                <a:lnTo>
                  <a:pt x="2116835" y="1371600"/>
                </a:lnTo>
                <a:lnTo>
                  <a:pt x="2164214" y="1384300"/>
                </a:lnTo>
                <a:lnTo>
                  <a:pt x="2211713" y="1409700"/>
                </a:lnTo>
                <a:lnTo>
                  <a:pt x="2307051" y="1435100"/>
                </a:lnTo>
                <a:lnTo>
                  <a:pt x="2354882" y="1460500"/>
                </a:lnTo>
                <a:lnTo>
                  <a:pt x="2450843" y="1485900"/>
                </a:lnTo>
                <a:lnTo>
                  <a:pt x="2498964" y="1511300"/>
                </a:lnTo>
                <a:lnTo>
                  <a:pt x="2643838" y="1549400"/>
                </a:lnTo>
                <a:lnTo>
                  <a:pt x="2692285" y="1574800"/>
                </a:lnTo>
                <a:lnTo>
                  <a:pt x="3081994" y="1676400"/>
                </a:lnTo>
                <a:lnTo>
                  <a:pt x="3289838" y="1676400"/>
                </a:lnTo>
                <a:lnTo>
                  <a:pt x="3093435" y="1625600"/>
                </a:lnTo>
                <a:lnTo>
                  <a:pt x="3044482" y="1600200"/>
                </a:lnTo>
                <a:lnTo>
                  <a:pt x="2946788" y="1574800"/>
                </a:lnTo>
                <a:lnTo>
                  <a:pt x="2898056" y="1549400"/>
                </a:lnTo>
                <a:lnTo>
                  <a:pt x="2800844" y="1524000"/>
                </a:lnTo>
                <a:lnTo>
                  <a:pt x="2752373" y="1498600"/>
                </a:lnTo>
                <a:lnTo>
                  <a:pt x="2655726" y="1473200"/>
                </a:lnTo>
                <a:lnTo>
                  <a:pt x="2607558" y="1447800"/>
                </a:lnTo>
                <a:lnTo>
                  <a:pt x="2511560" y="1422400"/>
                </a:lnTo>
                <a:lnTo>
                  <a:pt x="2463738" y="1397000"/>
                </a:lnTo>
                <a:lnTo>
                  <a:pt x="2416040" y="1384300"/>
                </a:lnTo>
                <a:lnTo>
                  <a:pt x="2368471" y="1358900"/>
                </a:lnTo>
                <a:lnTo>
                  <a:pt x="2273739" y="1333500"/>
                </a:lnTo>
                <a:lnTo>
                  <a:pt x="2226584" y="1308100"/>
                </a:lnTo>
                <a:lnTo>
                  <a:pt x="2179578" y="1295400"/>
                </a:lnTo>
                <a:lnTo>
                  <a:pt x="2132723" y="1270000"/>
                </a:lnTo>
                <a:lnTo>
                  <a:pt x="2086025" y="1257300"/>
                </a:lnTo>
                <a:lnTo>
                  <a:pt x="1993118" y="1206500"/>
                </a:lnTo>
                <a:lnTo>
                  <a:pt x="1946918" y="1193800"/>
                </a:lnTo>
                <a:lnTo>
                  <a:pt x="1900894" y="1168400"/>
                </a:lnTo>
                <a:lnTo>
                  <a:pt x="1855049" y="1155700"/>
                </a:lnTo>
                <a:lnTo>
                  <a:pt x="1763918" y="1104900"/>
                </a:lnTo>
                <a:lnTo>
                  <a:pt x="1718641" y="1092200"/>
                </a:lnTo>
                <a:lnTo>
                  <a:pt x="1584020" y="1016000"/>
                </a:lnTo>
                <a:lnTo>
                  <a:pt x="1539565" y="1003300"/>
                </a:lnTo>
                <a:lnTo>
                  <a:pt x="1277553" y="850900"/>
                </a:lnTo>
                <a:lnTo>
                  <a:pt x="1065899" y="723900"/>
                </a:lnTo>
                <a:lnTo>
                  <a:pt x="901373" y="622300"/>
                </a:lnTo>
                <a:lnTo>
                  <a:pt x="860946" y="584200"/>
                </a:lnTo>
                <a:lnTo>
                  <a:pt x="741431" y="508000"/>
                </a:lnTo>
                <a:lnTo>
                  <a:pt x="702197" y="469900"/>
                </a:lnTo>
                <a:lnTo>
                  <a:pt x="663272" y="444500"/>
                </a:lnTo>
                <a:lnTo>
                  <a:pt x="624662" y="406400"/>
                </a:lnTo>
                <a:lnTo>
                  <a:pt x="586370" y="381000"/>
                </a:lnTo>
                <a:lnTo>
                  <a:pt x="548403" y="342900"/>
                </a:lnTo>
                <a:lnTo>
                  <a:pt x="510763" y="317500"/>
                </a:lnTo>
                <a:lnTo>
                  <a:pt x="473457" y="279400"/>
                </a:lnTo>
                <a:lnTo>
                  <a:pt x="436488" y="254000"/>
                </a:lnTo>
                <a:lnTo>
                  <a:pt x="363581" y="177800"/>
                </a:lnTo>
                <a:lnTo>
                  <a:pt x="327652" y="152400"/>
                </a:lnTo>
                <a:lnTo>
                  <a:pt x="292080" y="114300"/>
                </a:lnTo>
                <a:lnTo>
                  <a:pt x="256868" y="76200"/>
                </a:lnTo>
                <a:lnTo>
                  <a:pt x="222021" y="38100"/>
                </a:lnTo>
                <a:lnTo>
                  <a:pt x="187545" y="0"/>
                </a:lnTo>
                <a:close/>
              </a:path>
              <a:path w="3289935" h="1676400">
                <a:moveTo>
                  <a:pt x="669050" y="0"/>
                </a:moveTo>
                <a:lnTo>
                  <a:pt x="509825" y="0"/>
                </a:lnTo>
                <a:lnTo>
                  <a:pt x="541793" y="38100"/>
                </a:lnTo>
                <a:lnTo>
                  <a:pt x="606739" y="88900"/>
                </a:lnTo>
                <a:lnTo>
                  <a:pt x="639722" y="127000"/>
                </a:lnTo>
                <a:lnTo>
                  <a:pt x="706723" y="177800"/>
                </a:lnTo>
                <a:lnTo>
                  <a:pt x="740747" y="215900"/>
                </a:lnTo>
                <a:lnTo>
                  <a:pt x="775123" y="241300"/>
                </a:lnTo>
                <a:lnTo>
                  <a:pt x="844945" y="292100"/>
                </a:lnTo>
                <a:lnTo>
                  <a:pt x="880396" y="330200"/>
                </a:lnTo>
                <a:lnTo>
                  <a:pt x="916211" y="355600"/>
                </a:lnTo>
                <a:lnTo>
                  <a:pt x="988944" y="406400"/>
                </a:lnTo>
                <a:lnTo>
                  <a:pt x="1025868" y="444500"/>
                </a:lnTo>
                <a:lnTo>
                  <a:pt x="1100845" y="495300"/>
                </a:lnTo>
                <a:lnTo>
                  <a:pt x="1216176" y="571500"/>
                </a:lnTo>
                <a:lnTo>
                  <a:pt x="1255395" y="609600"/>
                </a:lnTo>
                <a:lnTo>
                  <a:pt x="1295007" y="635000"/>
                </a:lnTo>
                <a:lnTo>
                  <a:pt x="1416225" y="711200"/>
                </a:lnTo>
                <a:lnTo>
                  <a:pt x="1541079" y="787400"/>
                </a:lnTo>
                <a:lnTo>
                  <a:pt x="1669645" y="863600"/>
                </a:lnTo>
                <a:lnTo>
                  <a:pt x="1802000" y="939800"/>
                </a:lnTo>
                <a:lnTo>
                  <a:pt x="1938221" y="1016000"/>
                </a:lnTo>
                <a:lnTo>
                  <a:pt x="1984500" y="1028700"/>
                </a:lnTo>
                <a:lnTo>
                  <a:pt x="2031221" y="1054100"/>
                </a:lnTo>
                <a:lnTo>
                  <a:pt x="2174057" y="1130300"/>
                </a:lnTo>
                <a:lnTo>
                  <a:pt x="2222570" y="1143000"/>
                </a:lnTo>
                <a:lnTo>
                  <a:pt x="2370853" y="1219200"/>
                </a:lnTo>
                <a:lnTo>
                  <a:pt x="2421204" y="1231900"/>
                </a:lnTo>
                <a:lnTo>
                  <a:pt x="2523309" y="1282700"/>
                </a:lnTo>
                <a:lnTo>
                  <a:pt x="2575069" y="1295400"/>
                </a:lnTo>
                <a:lnTo>
                  <a:pt x="2680018" y="1346200"/>
                </a:lnTo>
                <a:lnTo>
                  <a:pt x="2733212" y="1358900"/>
                </a:lnTo>
                <a:lnTo>
                  <a:pt x="2786890" y="1384300"/>
                </a:lnTo>
                <a:lnTo>
                  <a:pt x="2841054" y="1397000"/>
                </a:lnTo>
                <a:lnTo>
                  <a:pt x="2895708" y="1422400"/>
                </a:lnTo>
                <a:lnTo>
                  <a:pt x="2950855" y="1435100"/>
                </a:lnTo>
                <a:lnTo>
                  <a:pt x="2901497" y="1422400"/>
                </a:lnTo>
                <a:lnTo>
                  <a:pt x="2803471" y="1371600"/>
                </a:lnTo>
                <a:lnTo>
                  <a:pt x="2754808" y="1358900"/>
                </a:lnTo>
                <a:lnTo>
                  <a:pt x="2658193" y="1308100"/>
                </a:lnTo>
                <a:lnTo>
                  <a:pt x="2610245" y="1295400"/>
                </a:lnTo>
                <a:lnTo>
                  <a:pt x="2515080" y="1244600"/>
                </a:lnTo>
                <a:lnTo>
                  <a:pt x="2467867" y="1231900"/>
                </a:lnTo>
                <a:lnTo>
                  <a:pt x="2235588" y="1104900"/>
                </a:lnTo>
                <a:lnTo>
                  <a:pt x="2189906" y="1092200"/>
                </a:lnTo>
                <a:lnTo>
                  <a:pt x="1965479" y="965200"/>
                </a:lnTo>
                <a:lnTo>
                  <a:pt x="1747900" y="838200"/>
                </a:lnTo>
                <a:lnTo>
                  <a:pt x="1620756" y="762000"/>
                </a:lnTo>
                <a:lnTo>
                  <a:pt x="1578956" y="723900"/>
                </a:lnTo>
                <a:lnTo>
                  <a:pt x="1414715" y="622300"/>
                </a:lnTo>
                <a:lnTo>
                  <a:pt x="1374406" y="584200"/>
                </a:lnTo>
                <a:lnTo>
                  <a:pt x="1255320" y="508000"/>
                </a:lnTo>
                <a:lnTo>
                  <a:pt x="1216245" y="469900"/>
                </a:lnTo>
                <a:lnTo>
                  <a:pt x="1139040" y="419100"/>
                </a:lnTo>
                <a:lnTo>
                  <a:pt x="1100913" y="381000"/>
                </a:lnTo>
                <a:lnTo>
                  <a:pt x="1063108" y="355600"/>
                </a:lnTo>
                <a:lnTo>
                  <a:pt x="1025626" y="317500"/>
                </a:lnTo>
                <a:lnTo>
                  <a:pt x="951638" y="266700"/>
                </a:lnTo>
                <a:lnTo>
                  <a:pt x="915138" y="228600"/>
                </a:lnTo>
                <a:lnTo>
                  <a:pt x="878969" y="203200"/>
                </a:lnTo>
                <a:lnTo>
                  <a:pt x="843134" y="165100"/>
                </a:lnTo>
                <a:lnTo>
                  <a:pt x="807636" y="139700"/>
                </a:lnTo>
                <a:lnTo>
                  <a:pt x="772476" y="101600"/>
                </a:lnTo>
                <a:lnTo>
                  <a:pt x="737657" y="63500"/>
                </a:lnTo>
                <a:lnTo>
                  <a:pt x="703181" y="38100"/>
                </a:lnTo>
                <a:lnTo>
                  <a:pt x="669050" y="0"/>
                </a:lnTo>
                <a:close/>
              </a:path>
            </a:pathLst>
          </a:custGeom>
          <a:solidFill>
            <a:srgbClr val="003F98"/>
          </a:solidFill>
        </p:spPr>
        <p:txBody>
          <a:bodyPr wrap="square" lIns="0" tIns="0" rIns="0" bIns="0" rtlCol="0"/>
          <a:lstStyle/>
          <a:p/>
        </p:txBody>
      </p:sp>
      <p:sp>
        <p:nvSpPr>
          <p:cNvPr id="8" name="object 8"/>
          <p:cNvSpPr/>
          <p:nvPr/>
        </p:nvSpPr>
        <p:spPr>
          <a:xfrm>
            <a:off x="4" y="670135"/>
            <a:ext cx="5758180" cy="19685"/>
          </a:xfrm>
          <a:custGeom>
            <a:avLst/>
            <a:gdLst/>
            <a:ahLst/>
            <a:cxnLst/>
            <a:rect l="l" t="t" r="r" b="b"/>
            <a:pathLst>
              <a:path w="5758180" h="19684">
                <a:moveTo>
                  <a:pt x="5757885" y="0"/>
                </a:moveTo>
                <a:lnTo>
                  <a:pt x="0" y="0"/>
                </a:lnTo>
                <a:lnTo>
                  <a:pt x="0" y="19261"/>
                </a:lnTo>
                <a:lnTo>
                  <a:pt x="5757885" y="19261"/>
                </a:lnTo>
                <a:lnTo>
                  <a:pt x="5757885" y="0"/>
                </a:lnTo>
                <a:close/>
              </a:path>
            </a:pathLst>
          </a:custGeom>
          <a:solidFill>
            <a:srgbClr val="EAEBEC"/>
          </a:solidFill>
        </p:spPr>
        <p:txBody>
          <a:bodyPr wrap="square" lIns="0" tIns="0" rIns="0" bIns="0" rtlCol="0"/>
          <a:lstStyle/>
          <a:p/>
        </p:txBody>
      </p:sp>
      <p:pic>
        <p:nvPicPr>
          <p:cNvPr id="9" name="object 9"/>
          <p:cNvPicPr/>
          <p:nvPr/>
        </p:nvPicPr>
        <p:blipFill>
          <a:blip r:embed="rId2" cstate="print"/>
          <a:stretch>
            <a:fillRect/>
          </a:stretch>
        </p:blipFill>
        <p:spPr>
          <a:xfrm>
            <a:off x="726393" y="172705"/>
            <a:ext cx="1418081" cy="282960"/>
          </a:xfrm>
          <a:prstGeom prst="rect">
            <a:avLst/>
          </a:prstGeom>
        </p:spPr>
      </p:pic>
      <p:pic>
        <p:nvPicPr>
          <p:cNvPr id="10" name="object 10"/>
          <p:cNvPicPr/>
          <p:nvPr/>
        </p:nvPicPr>
        <p:blipFill>
          <a:blip r:embed="rId3" cstate="print"/>
          <a:stretch>
            <a:fillRect/>
          </a:stretch>
        </p:blipFill>
        <p:spPr>
          <a:xfrm>
            <a:off x="323813" y="145488"/>
            <a:ext cx="338247" cy="337819"/>
          </a:xfrm>
          <a:prstGeom prst="rect">
            <a:avLst/>
          </a:prstGeom>
        </p:spPr>
      </p:pic>
      <p:sp>
        <p:nvSpPr>
          <p:cNvPr id="11" name="object 11"/>
          <p:cNvSpPr/>
          <p:nvPr/>
        </p:nvSpPr>
        <p:spPr>
          <a:xfrm>
            <a:off x="4221125" y="3155250"/>
            <a:ext cx="43180" cy="30480"/>
          </a:xfrm>
          <a:custGeom>
            <a:avLst/>
            <a:gdLst/>
            <a:ahLst/>
            <a:cxnLst/>
            <a:rect l="l" t="t" r="r" b="b"/>
            <a:pathLst>
              <a:path w="43179" h="30480">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p:txBody>
      </p:sp>
      <p:sp>
        <p:nvSpPr>
          <p:cNvPr id="12" name="object 12"/>
          <p:cNvSpPr/>
          <p:nvPr/>
        </p:nvSpPr>
        <p:spPr>
          <a:xfrm>
            <a:off x="4141508" y="3151288"/>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3" name="object 13"/>
          <p:cNvSpPr/>
          <p:nvPr/>
        </p:nvSpPr>
        <p:spPr>
          <a:xfrm>
            <a:off x="4319310" y="3151288"/>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grpSp>
        <p:nvGrpSpPr>
          <p:cNvPr id="14" name="object 14"/>
          <p:cNvGrpSpPr/>
          <p:nvPr/>
        </p:nvGrpSpPr>
        <p:grpSpPr>
          <a:xfrm>
            <a:off x="4412475" y="3142407"/>
            <a:ext cx="203200" cy="55880"/>
            <a:chOff x="4412475" y="3142407"/>
            <a:chExt cx="203200" cy="55880"/>
          </a:xfrm>
        </p:grpSpPr>
        <p:sp>
          <p:nvSpPr>
            <p:cNvPr id="15" name="object 15"/>
            <p:cNvSpPr/>
            <p:nvPr/>
          </p:nvSpPr>
          <p:spPr>
            <a:xfrm>
              <a:off x="4475644" y="3144938"/>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p:txBody>
        </p:sp>
        <p:sp>
          <p:nvSpPr>
            <p:cNvPr id="16" name="object 16"/>
            <p:cNvSpPr/>
            <p:nvPr/>
          </p:nvSpPr>
          <p:spPr>
            <a:xfrm>
              <a:off x="4412475"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grpSp>
      <p:grpSp>
        <p:nvGrpSpPr>
          <p:cNvPr id="17" name="object 17"/>
          <p:cNvGrpSpPr/>
          <p:nvPr/>
        </p:nvGrpSpPr>
        <p:grpSpPr>
          <a:xfrm>
            <a:off x="4683442" y="3141142"/>
            <a:ext cx="203200" cy="58419"/>
            <a:chOff x="4683442" y="3141142"/>
            <a:chExt cx="203200" cy="58419"/>
          </a:xfrm>
        </p:grpSpPr>
        <p:sp>
          <p:nvSpPr>
            <p:cNvPr id="18" name="object 18"/>
            <p:cNvSpPr/>
            <p:nvPr/>
          </p:nvSpPr>
          <p:spPr>
            <a:xfrm>
              <a:off x="4772343" y="3157638"/>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19" name="object 19"/>
            <p:cNvSpPr/>
            <p:nvPr/>
          </p:nvSpPr>
          <p:spPr>
            <a:xfrm>
              <a:off x="4683442"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0" name="object 20"/>
            <p:cNvSpPr/>
            <p:nvPr/>
          </p:nvSpPr>
          <p:spPr>
            <a:xfrm>
              <a:off x="4759643" y="3144938"/>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p:txBody>
        </p:sp>
      </p:grpSp>
      <p:grpSp>
        <p:nvGrpSpPr>
          <p:cNvPr id="21" name="object 21"/>
          <p:cNvGrpSpPr/>
          <p:nvPr/>
        </p:nvGrpSpPr>
        <p:grpSpPr>
          <a:xfrm>
            <a:off x="4954409" y="3141142"/>
            <a:ext cx="203200" cy="58419"/>
            <a:chOff x="4954409" y="3141142"/>
            <a:chExt cx="203200" cy="58419"/>
          </a:xfrm>
        </p:grpSpPr>
        <p:sp>
          <p:nvSpPr>
            <p:cNvPr id="22" name="object 22"/>
            <p:cNvSpPr/>
            <p:nvPr/>
          </p:nvSpPr>
          <p:spPr>
            <a:xfrm>
              <a:off x="5030610" y="3144938"/>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p:txBody>
        </p:sp>
        <p:sp>
          <p:nvSpPr>
            <p:cNvPr id="23" name="object 23"/>
            <p:cNvSpPr/>
            <p:nvPr/>
          </p:nvSpPr>
          <p:spPr>
            <a:xfrm>
              <a:off x="4954409" y="3151288"/>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p:txBody>
        </p:sp>
        <p:sp>
          <p:nvSpPr>
            <p:cNvPr id="24" name="object 24"/>
            <p:cNvSpPr/>
            <p:nvPr/>
          </p:nvSpPr>
          <p:spPr>
            <a:xfrm>
              <a:off x="5030610" y="3183038"/>
              <a:ext cx="50800"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p:txBody>
        </p:sp>
      </p:grpSp>
      <p:sp>
        <p:nvSpPr>
          <p:cNvPr id="25" name="object 25"/>
          <p:cNvSpPr/>
          <p:nvPr/>
        </p:nvSpPr>
        <p:spPr>
          <a:xfrm>
            <a:off x="5301577" y="3144938"/>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p:txBody>
      </p:sp>
      <p:grpSp>
        <p:nvGrpSpPr>
          <p:cNvPr id="26" name="object 26"/>
          <p:cNvGrpSpPr/>
          <p:nvPr/>
        </p:nvGrpSpPr>
        <p:grpSpPr>
          <a:xfrm>
            <a:off x="5478573" y="3142407"/>
            <a:ext cx="238760" cy="57150"/>
            <a:chOff x="5478573" y="3142407"/>
            <a:chExt cx="238760" cy="57150"/>
          </a:xfrm>
        </p:grpSpPr>
        <p:sp>
          <p:nvSpPr>
            <p:cNvPr id="27" name="object 27"/>
            <p:cNvSpPr/>
            <p:nvPr/>
          </p:nvSpPr>
          <p:spPr>
            <a:xfrm>
              <a:off x="5603025" y="3175418"/>
              <a:ext cx="20320" cy="20320"/>
            </a:xfrm>
            <a:custGeom>
              <a:avLst/>
              <a:gdLst/>
              <a:ahLst/>
              <a:cxnLst/>
              <a:rect l="l" t="t" r="r" b="b"/>
              <a:pathLst>
                <a:path w="20320" h="20319">
                  <a:moveTo>
                    <a:pt x="0" y="0"/>
                  </a:moveTo>
                  <a:lnTo>
                    <a:pt x="20320" y="20320"/>
                  </a:lnTo>
                </a:path>
              </a:pathLst>
            </a:custGeom>
            <a:ln w="7591">
              <a:solidFill>
                <a:srgbClr val="ADADE0"/>
              </a:solidFill>
            </a:ln>
          </p:spPr>
          <p:txBody>
            <a:bodyPr wrap="square" lIns="0" tIns="0" rIns="0" bIns="0" rtlCol="0"/>
            <a:lstStyle/>
            <a:p/>
          </p:txBody>
        </p:sp>
        <p:sp>
          <p:nvSpPr>
            <p:cNvPr id="28" name="object 28"/>
            <p:cNvSpPr/>
            <p:nvPr/>
          </p:nvSpPr>
          <p:spPr>
            <a:xfrm>
              <a:off x="5575961" y="3148924"/>
              <a:ext cx="30480" cy="30480"/>
            </a:xfrm>
            <a:custGeom>
              <a:avLst/>
              <a:gdLst/>
              <a:ahLst/>
              <a:cxnLst/>
              <a:rect l="l" t="t" r="r" b="b"/>
              <a:pathLst>
                <a:path w="30479" h="30480">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p:txBody>
        </p:sp>
        <p:sp>
          <p:nvSpPr>
            <p:cNvPr id="29" name="object 29"/>
            <p:cNvSpPr/>
            <p:nvPr/>
          </p:nvSpPr>
          <p:spPr>
            <a:xfrm>
              <a:off x="5481104" y="3144938"/>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p:txBody>
        </p:sp>
      </p:grpSp>
      <p:sp>
        <p:nvSpPr>
          <p:cNvPr id="30" name="object 30"/>
          <p:cNvSpPr txBox="1"/>
          <p:nvPr/>
        </p:nvSpPr>
        <p:spPr>
          <a:xfrm>
            <a:off x="505460" y="1057910"/>
            <a:ext cx="4546600" cy="232410"/>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宋体"/>
                <a:cs typeface="宋体"/>
              </a:rPr>
              <a:t>工业</a:t>
            </a:r>
            <a:r>
              <a:rPr lang="zh-CN" altLang="" sz="1400" dirty="0">
                <a:solidFill>
                  <a:srgbClr val="FFFFFF"/>
                </a:solidFill>
                <a:latin typeface="宋体"/>
                <a:cs typeface="宋体"/>
              </a:rPr>
              <a:t>轴承</a:t>
            </a:r>
            <a:r>
              <a:rPr sz="1400" dirty="0">
                <a:solidFill>
                  <a:srgbClr val="FFFFFF"/>
                </a:solidFill>
                <a:latin typeface="宋体"/>
                <a:cs typeface="宋体"/>
              </a:rPr>
              <a:t>设备剩余寿命预测（时间序列分析与生存分析</a:t>
            </a:r>
            <a:r>
              <a:rPr sz="1400" spc="-50" dirty="0">
                <a:solidFill>
                  <a:srgbClr val="FFFFFF"/>
                </a:solidFill>
                <a:latin typeface="宋体"/>
                <a:cs typeface="宋体"/>
              </a:rPr>
              <a:t>）</a:t>
            </a:r>
            <a:endParaRPr sz="1400">
              <a:latin typeface="宋体"/>
              <a:cs typeface="宋体"/>
            </a:endParaRPr>
          </a:p>
        </p:txBody>
      </p:sp>
      <p:sp>
        <p:nvSpPr>
          <p:cNvPr id="31" name="object 31"/>
          <p:cNvSpPr txBox="1">
            <a:spLocks noGrp="1"/>
          </p:cNvSpPr>
          <p:nvPr>
            <p:ph type="title"/>
          </p:nvPr>
        </p:nvSpPr>
        <p:spPr>
          <a:xfrm>
            <a:off x="2313114" y="1363089"/>
            <a:ext cx="1134110" cy="363855"/>
          </a:xfrm>
          <a:prstGeom prst="rect">
            <a:avLst/>
          </a:prstGeom>
        </p:spPr>
        <p:txBody>
          <a:bodyPr vert="horz" wrap="square" lIns="0" tIns="6985" rIns="0" bIns="0" rtlCol="0">
            <a:spAutoFit/>
          </a:bodyPr>
          <a:lstStyle/>
          <a:p>
            <a:pPr marL="81915" marR="5080" indent="-69850">
              <a:lnSpc>
                <a:spcPct val="103000"/>
              </a:lnSpc>
              <a:spcBef>
                <a:spcPts val="55"/>
              </a:spcBef>
            </a:pPr>
            <a:r>
              <a:rPr sz="1100" spc="-25" dirty="0"/>
              <a:t>指导老师：翟建芳汇报人：周逸进</a:t>
            </a:r>
            <a:endParaRPr sz="1100"/>
          </a:p>
        </p:txBody>
      </p:sp>
      <p:sp>
        <p:nvSpPr>
          <p:cNvPr id="32" name="object 32"/>
          <p:cNvSpPr txBox="1"/>
          <p:nvPr/>
        </p:nvSpPr>
        <p:spPr>
          <a:xfrm>
            <a:off x="1551114" y="1707234"/>
            <a:ext cx="2658110" cy="765810"/>
          </a:xfrm>
          <a:prstGeom prst="rect">
            <a:avLst/>
          </a:prstGeom>
        </p:spPr>
        <p:txBody>
          <a:bodyPr vert="horz" wrap="square" lIns="0" tIns="11430" rIns="0" bIns="0" rtlCol="0">
            <a:spAutoFit/>
          </a:bodyPr>
          <a:lstStyle/>
          <a:p>
            <a:pPr algn="ctr">
              <a:lnSpc>
                <a:spcPct val="100000"/>
              </a:lnSpc>
              <a:spcBef>
                <a:spcPts val="90"/>
              </a:spcBef>
            </a:pPr>
            <a:r>
              <a:rPr sz="1100" spc="-25" dirty="0">
                <a:solidFill>
                  <a:srgbClr val="FFFFFF"/>
                </a:solidFill>
                <a:latin typeface="宋体"/>
                <a:cs typeface="宋体"/>
              </a:rPr>
              <a:t>小组成员：周逸进，朱德豪，邹扬，蔡祎珏</a:t>
            </a:r>
            <a:endParaRPr sz="1100">
              <a:latin typeface="宋体"/>
              <a:cs typeface="宋体"/>
            </a:endParaRPr>
          </a:p>
          <a:p>
            <a:pPr algn="ctr">
              <a:lnSpc>
                <a:spcPct val="100000"/>
              </a:lnSpc>
              <a:spcBef>
                <a:spcPts val="1240"/>
              </a:spcBef>
              <a:tabLst>
                <a:tab pos="946150" algn="l"/>
              </a:tabLst>
            </a:pPr>
            <a:r>
              <a:rPr sz="800" spc="-10" dirty="0">
                <a:solidFill>
                  <a:srgbClr val="FFFFFF"/>
                </a:solidFill>
                <a:latin typeface="宋体"/>
                <a:cs typeface="宋体"/>
              </a:rPr>
              <a:t>中国科学技术大</a:t>
            </a:r>
            <a:r>
              <a:rPr sz="800" spc="-50" dirty="0">
                <a:solidFill>
                  <a:srgbClr val="FFFFFF"/>
                </a:solidFill>
                <a:latin typeface="宋体"/>
                <a:cs typeface="宋体"/>
              </a:rPr>
              <a:t>学</a:t>
            </a:r>
            <a:r>
              <a:rPr sz="800" dirty="0">
                <a:solidFill>
                  <a:srgbClr val="FFFFFF"/>
                </a:solidFill>
                <a:latin typeface="宋体"/>
                <a:cs typeface="宋体"/>
              </a:rPr>
              <a:t>	</a:t>
            </a:r>
            <a:r>
              <a:rPr sz="800" spc="-10" dirty="0">
                <a:solidFill>
                  <a:srgbClr val="FFFFFF"/>
                </a:solidFill>
                <a:latin typeface="宋体"/>
                <a:cs typeface="宋体"/>
              </a:rPr>
              <a:t>软件学</a:t>
            </a:r>
            <a:r>
              <a:rPr sz="800" spc="-50" dirty="0">
                <a:solidFill>
                  <a:srgbClr val="FFFFFF"/>
                </a:solidFill>
                <a:latin typeface="宋体"/>
                <a:cs typeface="宋体"/>
              </a:rPr>
              <a:t>院</a:t>
            </a:r>
            <a:endParaRPr sz="800">
              <a:latin typeface="宋体"/>
              <a:cs typeface="宋体"/>
            </a:endParaRPr>
          </a:p>
          <a:p>
            <a:pPr algn="ctr">
              <a:lnSpc>
                <a:spcPct val="100000"/>
              </a:lnSpc>
              <a:spcBef>
                <a:spcPts val="995"/>
              </a:spcBef>
            </a:pPr>
            <a:r>
              <a:rPr sz="1100" spc="-55" dirty="0">
                <a:solidFill>
                  <a:srgbClr val="FFFFFF"/>
                </a:solidFill>
                <a:latin typeface="Arial MT"/>
                <a:cs typeface="Arial MT"/>
              </a:rPr>
              <a:t>2025</a:t>
            </a:r>
            <a:r>
              <a:rPr sz="1100" spc="-20" dirty="0">
                <a:solidFill>
                  <a:srgbClr val="FFFFFF"/>
                </a:solidFill>
                <a:latin typeface="Arial MT"/>
                <a:cs typeface="Arial MT"/>
              </a:rPr>
              <a:t> </a:t>
            </a:r>
            <a:r>
              <a:rPr sz="1100" spc="-105" dirty="0">
                <a:solidFill>
                  <a:srgbClr val="FFFFFF"/>
                </a:solidFill>
                <a:latin typeface="宋体"/>
                <a:cs typeface="宋体"/>
              </a:rPr>
              <a:t>年 </a:t>
            </a:r>
            <a:r>
              <a:rPr sz="1100" spc="-10" dirty="0">
                <a:solidFill>
                  <a:srgbClr val="FFFFFF"/>
                </a:solidFill>
                <a:latin typeface="Arial MT"/>
                <a:cs typeface="Arial MT"/>
              </a:rPr>
              <a:t>10</a:t>
            </a:r>
            <a:r>
              <a:rPr sz="1100" spc="-65" dirty="0">
                <a:solidFill>
                  <a:srgbClr val="FFFFFF"/>
                </a:solidFill>
                <a:latin typeface="Arial MT"/>
                <a:cs typeface="Arial MT"/>
              </a:rPr>
              <a:t> </a:t>
            </a:r>
            <a:r>
              <a:rPr sz="1100" spc="-105" dirty="0">
                <a:solidFill>
                  <a:srgbClr val="FFFFFF"/>
                </a:solidFill>
                <a:latin typeface="宋体"/>
                <a:cs typeface="宋体"/>
              </a:rPr>
              <a:t>月 </a:t>
            </a:r>
            <a:r>
              <a:rPr sz="1100" spc="-10" dirty="0">
                <a:solidFill>
                  <a:srgbClr val="FFFFFF"/>
                </a:solidFill>
                <a:latin typeface="Arial MT"/>
                <a:cs typeface="Arial MT"/>
              </a:rPr>
              <a:t>27</a:t>
            </a:r>
            <a:r>
              <a:rPr sz="1100" spc="-15" dirty="0">
                <a:solidFill>
                  <a:srgbClr val="FFFFFF"/>
                </a:solidFill>
                <a:latin typeface="Arial MT"/>
                <a:cs typeface="Arial MT"/>
              </a:rPr>
              <a:t> </a:t>
            </a:r>
            <a:r>
              <a:rPr sz="1100" spc="-50" dirty="0">
                <a:solidFill>
                  <a:srgbClr val="FFFFFF"/>
                </a:solidFill>
                <a:latin typeface="宋体"/>
                <a:cs typeface="宋体"/>
              </a:rPr>
              <a:t>日</a:t>
            </a:r>
            <a:endParaRPr sz="1100">
              <a:latin typeface="宋体"/>
              <a:cs typeface="宋体"/>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329565" cy="207645"/>
          </a:xfrm>
          <a:prstGeom prst="rect">
            <a:avLst/>
          </a:prstGeom>
        </p:spPr>
        <p:txBody>
          <a:bodyPr vert="horz" wrap="square" lIns="0" tIns="12065" rIns="0" bIns="0" rtlCol="0">
            <a:spAutoFit/>
          </a:bodyPr>
          <a:lstStyle/>
          <a:p>
            <a:pPr marL="12700">
              <a:lnSpc>
                <a:spcPct val="100000"/>
              </a:lnSpc>
              <a:spcBef>
                <a:spcPts val="95"/>
              </a:spcBef>
            </a:pPr>
            <a:r>
              <a:rPr sz="1200" spc="-35" dirty="0">
                <a:solidFill>
                  <a:srgbClr val="FFFFFF"/>
                </a:solidFill>
                <a:latin typeface="宋体"/>
                <a:cs typeface="宋体"/>
              </a:rPr>
              <a:t>大纲</a:t>
            </a:r>
            <a:endParaRPr sz="1200">
              <a:latin typeface="宋体"/>
              <a:cs typeface="宋体"/>
            </a:endParaRPr>
          </a:p>
        </p:txBody>
      </p:sp>
      <p:sp>
        <p:nvSpPr>
          <p:cNvPr id="3" name="object 3"/>
          <p:cNvSpPr/>
          <p:nvPr/>
        </p:nvSpPr>
        <p:spPr>
          <a:xfrm>
            <a:off x="399326" y="648030"/>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4" name="object 4"/>
          <p:cNvSpPr/>
          <p:nvPr/>
        </p:nvSpPr>
        <p:spPr>
          <a:xfrm>
            <a:off x="399326" y="1041006"/>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5" name="object 5"/>
          <p:cNvSpPr/>
          <p:nvPr/>
        </p:nvSpPr>
        <p:spPr>
          <a:xfrm>
            <a:off x="399326" y="1433804"/>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6" name="object 6"/>
          <p:cNvSpPr/>
          <p:nvPr/>
        </p:nvSpPr>
        <p:spPr>
          <a:xfrm>
            <a:off x="399326" y="1813699"/>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7" name="object 7"/>
          <p:cNvSpPr/>
          <p:nvPr/>
        </p:nvSpPr>
        <p:spPr>
          <a:xfrm>
            <a:off x="399326" y="2206675"/>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8" name="object 8"/>
          <p:cNvSpPr/>
          <p:nvPr/>
        </p:nvSpPr>
        <p:spPr>
          <a:xfrm>
            <a:off x="399326" y="2586570"/>
            <a:ext cx="127000" cy="127000"/>
          </a:xfrm>
          <a:custGeom>
            <a:avLst/>
            <a:gdLst/>
            <a:ahLst/>
            <a:cxnLst/>
            <a:rect l="l" t="t" r="r" b="b"/>
            <a:pathLst>
              <a:path w="127000" h="127000">
                <a:moveTo>
                  <a:pt x="126403" y="0"/>
                </a:moveTo>
                <a:lnTo>
                  <a:pt x="0" y="0"/>
                </a:lnTo>
                <a:lnTo>
                  <a:pt x="0" y="126403"/>
                </a:lnTo>
                <a:lnTo>
                  <a:pt x="126403" y="126403"/>
                </a:lnTo>
                <a:lnTo>
                  <a:pt x="126403" y="0"/>
                </a:lnTo>
                <a:close/>
              </a:path>
            </a:pathLst>
          </a:custGeom>
          <a:solidFill>
            <a:srgbClr val="004097"/>
          </a:solidFill>
        </p:spPr>
        <p:txBody>
          <a:bodyPr wrap="square" lIns="0" tIns="0" rIns="0" bIns="0" rtlCol="0"/>
          <a:lstStyle/>
          <a:p/>
        </p:txBody>
      </p:sp>
      <p:sp>
        <p:nvSpPr>
          <p:cNvPr id="9" name="object 9"/>
          <p:cNvSpPr txBox="1"/>
          <p:nvPr/>
        </p:nvSpPr>
        <p:spPr>
          <a:xfrm>
            <a:off x="418198" y="562131"/>
            <a:ext cx="1430655" cy="2176780"/>
          </a:xfrm>
          <a:prstGeom prst="rect">
            <a:avLst/>
          </a:prstGeom>
        </p:spPr>
        <p:txBody>
          <a:bodyPr vert="horz" wrap="square" lIns="0" tIns="12065" rIns="0" bIns="0" rtlCol="0">
            <a:spAutoFit/>
          </a:bodyPr>
          <a:lstStyle/>
          <a:p>
            <a:pPr marL="175895" indent="-163195">
              <a:lnSpc>
                <a:spcPct val="100000"/>
              </a:lnSpc>
              <a:spcBef>
                <a:spcPts val="95"/>
              </a:spcBef>
              <a:buClr>
                <a:srgbClr val="FFFFFF"/>
              </a:buClr>
              <a:buSzPct val="71000"/>
              <a:buFont typeface="Arial MT"/>
              <a:buAutoNum type="arabicPlain"/>
              <a:tabLst>
                <a:tab pos="175895" algn="l"/>
              </a:tabLst>
            </a:pPr>
            <a:r>
              <a:rPr sz="1400" spc="-30" dirty="0">
                <a:solidFill>
                  <a:srgbClr val="004097"/>
                </a:solidFill>
                <a:latin typeface="宋体"/>
                <a:cs typeface="宋体"/>
                <a:hlinkClick r:id="rId1" action="ppaction://hlinksldjump"/>
              </a:rPr>
              <a:t>研究背景</a:t>
            </a:r>
            <a:endParaRPr sz="1400">
              <a:latin typeface="宋体"/>
              <a:cs typeface="宋体"/>
            </a:endParaRPr>
          </a:p>
          <a:p>
            <a:pPr marL="175895" indent="-163195">
              <a:lnSpc>
                <a:spcPct val="100000"/>
              </a:lnSpc>
              <a:spcBef>
                <a:spcPts val="1415"/>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2" action="ppaction://hlinksldjump"/>
              </a:rPr>
              <a:t>研究问题与挑战</a:t>
            </a:r>
            <a:endParaRPr sz="1400">
              <a:latin typeface="宋体"/>
              <a:cs typeface="宋体"/>
            </a:endParaRPr>
          </a:p>
          <a:p>
            <a:pPr marL="175895" indent="-163195">
              <a:lnSpc>
                <a:spcPct val="100000"/>
              </a:lnSpc>
              <a:spcBef>
                <a:spcPts val="1410"/>
              </a:spcBef>
              <a:buClr>
                <a:srgbClr val="FFFFFF"/>
              </a:buClr>
              <a:buSzPct val="71000"/>
              <a:buFont typeface="Arial MT"/>
              <a:buAutoNum type="arabicPlain"/>
              <a:tabLst>
                <a:tab pos="175895" algn="l"/>
              </a:tabLst>
            </a:pPr>
            <a:r>
              <a:rPr sz="1400" dirty="0">
                <a:solidFill>
                  <a:srgbClr val="004097"/>
                </a:solidFill>
                <a:latin typeface="Lucida Sans Unicode"/>
                <a:cs typeface="Lucida Sans Unicode"/>
                <a:hlinkClick r:id="rId3" action="ppaction://hlinksldjump"/>
              </a:rPr>
              <a:t>RUL</a:t>
            </a:r>
            <a:r>
              <a:rPr sz="1400" spc="-55" dirty="0">
                <a:solidFill>
                  <a:srgbClr val="004097"/>
                </a:solidFill>
                <a:latin typeface="Lucida Sans Unicode"/>
                <a:cs typeface="Lucida Sans Unicode"/>
                <a:hlinkClick r:id="rId3" action="ppaction://hlinksldjump"/>
              </a:rPr>
              <a:t> </a:t>
            </a:r>
            <a:r>
              <a:rPr sz="1400" spc="-30" dirty="0">
                <a:solidFill>
                  <a:srgbClr val="004097"/>
                </a:solidFill>
                <a:latin typeface="宋体"/>
                <a:cs typeface="宋体"/>
                <a:hlinkClick r:id="rId3" action="ppaction://hlinksldjump"/>
              </a:rPr>
              <a:t>预测方法</a:t>
            </a:r>
            <a:endParaRPr sz="1400">
              <a:latin typeface="宋体"/>
              <a:cs typeface="宋体"/>
            </a:endParaRPr>
          </a:p>
          <a:p>
            <a:pPr marL="175895" indent="-163195">
              <a:lnSpc>
                <a:spcPct val="100000"/>
              </a:lnSpc>
              <a:spcBef>
                <a:spcPts val="1310"/>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4" action="ppaction://hlinksldjump"/>
              </a:rPr>
              <a:t>生存分析模型</a:t>
            </a:r>
            <a:endParaRPr sz="1400">
              <a:latin typeface="宋体"/>
              <a:cs typeface="宋体"/>
            </a:endParaRPr>
          </a:p>
          <a:p>
            <a:pPr marL="175895" indent="-163195">
              <a:lnSpc>
                <a:spcPct val="100000"/>
              </a:lnSpc>
              <a:spcBef>
                <a:spcPts val="1415"/>
              </a:spcBef>
              <a:buClr>
                <a:srgbClr val="FFFFFF"/>
              </a:buClr>
              <a:buSzPct val="71000"/>
              <a:buFont typeface="Arial MT"/>
              <a:buAutoNum type="arabicPlain"/>
              <a:tabLst>
                <a:tab pos="175895" algn="l"/>
              </a:tabLst>
            </a:pPr>
            <a:r>
              <a:rPr sz="1400" spc="-25" dirty="0">
                <a:solidFill>
                  <a:srgbClr val="004097"/>
                </a:solidFill>
                <a:latin typeface="宋体"/>
                <a:cs typeface="宋体"/>
                <a:hlinkClick r:id="rId5" action="ppaction://hlinksldjump"/>
              </a:rPr>
              <a:t>数据集与实验</a:t>
            </a:r>
            <a:endParaRPr sz="1400">
              <a:latin typeface="宋体"/>
              <a:cs typeface="宋体"/>
            </a:endParaRPr>
          </a:p>
          <a:p>
            <a:pPr marL="175895" indent="-163195">
              <a:lnSpc>
                <a:spcPct val="100000"/>
              </a:lnSpc>
              <a:spcBef>
                <a:spcPts val="1310"/>
              </a:spcBef>
              <a:buClr>
                <a:srgbClr val="FFFFFF"/>
              </a:buClr>
              <a:buSzPct val="71000"/>
              <a:buFont typeface="Arial MT"/>
              <a:buAutoNum type="arabicPlain"/>
              <a:tabLst>
                <a:tab pos="175895" algn="l"/>
              </a:tabLst>
            </a:pPr>
            <a:r>
              <a:rPr sz="1400" spc="-30" dirty="0">
                <a:solidFill>
                  <a:srgbClr val="004097"/>
                </a:solidFill>
                <a:latin typeface="宋体"/>
                <a:cs typeface="宋体"/>
                <a:hlinkClick r:id="rId6" action="ppaction://hlinksldjump"/>
              </a:rPr>
              <a:t>对比与展望</a:t>
            </a:r>
            <a:endParaRPr sz="1400">
              <a:latin typeface="宋体"/>
              <a:cs typeface="宋体"/>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65872"/>
            <a:ext cx="633095" cy="207645"/>
          </a:xfrm>
          <a:prstGeom prst="rect">
            <a:avLst/>
          </a:prstGeom>
        </p:spPr>
        <p:txBody>
          <a:bodyPr vert="horz" wrap="square" lIns="0" tIns="12065" rIns="0" bIns="0" rtlCol="0">
            <a:spAutoFit/>
          </a:bodyPr>
          <a:lstStyle/>
          <a:p>
            <a:pPr marL="12700">
              <a:lnSpc>
                <a:spcPct val="100000"/>
              </a:lnSpc>
              <a:spcBef>
                <a:spcPts val="95"/>
              </a:spcBef>
            </a:pPr>
            <a:r>
              <a:rPr spc="-30" dirty="0"/>
              <a:t>研究背景</a:t>
            </a:r>
            <a:endParaRPr spc="-30" dirty="0"/>
          </a:p>
        </p:txBody>
      </p:sp>
      <p:sp>
        <p:nvSpPr>
          <p:cNvPr id="3" name="object 3"/>
          <p:cNvSpPr txBox="1"/>
          <p:nvPr/>
        </p:nvSpPr>
        <p:spPr>
          <a:xfrm>
            <a:off x="321894" y="816138"/>
            <a:ext cx="5064125" cy="1582420"/>
          </a:xfrm>
          <a:prstGeom prst="rect">
            <a:avLst/>
          </a:prstGeom>
        </p:spPr>
        <p:txBody>
          <a:bodyPr vert="horz" wrap="square" lIns="0" tIns="6985" rIns="0" bIns="0" rtlCol="0">
            <a:spAutoFit/>
          </a:bodyPr>
          <a:lstStyle/>
          <a:p>
            <a:pPr marL="38100" marR="30480">
              <a:lnSpc>
                <a:spcPct val="103000"/>
              </a:lnSpc>
              <a:spcBef>
                <a:spcPts val="55"/>
              </a:spcBef>
            </a:pPr>
            <a:r>
              <a:rPr sz="1100" spc="-25" dirty="0">
                <a:latin typeface="宋体"/>
                <a:cs typeface="宋体"/>
              </a:rPr>
              <a:t>随着智能制造与工业互联网的发展，工业设备的可靠性与可维护性已成为影响生产效率和安全的重要因素。</a:t>
            </a:r>
            <a:endParaRPr sz="1100">
              <a:latin typeface="宋体"/>
              <a:cs typeface="宋体"/>
            </a:endParaRPr>
          </a:p>
          <a:p>
            <a:pPr marL="38100">
              <a:lnSpc>
                <a:spcPct val="100000"/>
              </a:lnSpc>
              <a:spcBef>
                <a:spcPts val="600"/>
              </a:spcBef>
            </a:pPr>
            <a:r>
              <a:rPr sz="1100" spc="-25" dirty="0">
                <a:latin typeface="宋体"/>
                <a:cs typeface="宋体"/>
              </a:rPr>
              <a:t>传统维护策略包括：</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0" dirty="0">
                <a:latin typeface="宋体"/>
                <a:cs typeface="宋体"/>
              </a:rPr>
              <a:t>事后维修</a:t>
            </a:r>
            <a:r>
              <a:rPr sz="1100" spc="-50" dirty="0">
                <a:latin typeface="宋体"/>
                <a:cs typeface="宋体"/>
              </a:rPr>
              <a:t>（</a:t>
            </a:r>
            <a:r>
              <a:rPr sz="1100" spc="-50" dirty="0">
                <a:latin typeface="Arial MT"/>
                <a:cs typeface="Arial MT"/>
              </a:rPr>
              <a:t>Reactive</a:t>
            </a:r>
            <a:r>
              <a:rPr sz="1100" spc="225" dirty="0">
                <a:latin typeface="Arial MT"/>
                <a:cs typeface="Arial MT"/>
              </a:rPr>
              <a:t> </a:t>
            </a:r>
            <a:r>
              <a:rPr sz="1100" spc="-65" dirty="0">
                <a:latin typeface="Arial MT"/>
                <a:cs typeface="Arial MT"/>
              </a:rPr>
              <a:t>Maintenance</a:t>
            </a:r>
            <a:r>
              <a:rPr sz="1100" spc="-65" dirty="0">
                <a:latin typeface="宋体"/>
                <a:cs typeface="宋体"/>
              </a:rPr>
              <a:t>）</a:t>
            </a:r>
            <a:r>
              <a:rPr sz="1100" spc="-50" dirty="0">
                <a:latin typeface="宋体"/>
                <a:cs typeface="宋体"/>
              </a:rPr>
              <a:t>——发生故障后再修复；</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0" dirty="0">
                <a:latin typeface="宋体"/>
                <a:cs typeface="宋体"/>
              </a:rPr>
              <a:t>定期预防性维修</a:t>
            </a:r>
            <a:r>
              <a:rPr sz="1100" spc="-40" dirty="0">
                <a:latin typeface="宋体"/>
                <a:cs typeface="宋体"/>
              </a:rPr>
              <a:t>（</a:t>
            </a:r>
            <a:r>
              <a:rPr sz="1100" spc="-40" dirty="0">
                <a:latin typeface="Arial MT"/>
                <a:cs typeface="Arial MT"/>
              </a:rPr>
              <a:t>Preventive</a:t>
            </a:r>
            <a:r>
              <a:rPr sz="1100" spc="235" dirty="0">
                <a:latin typeface="Arial MT"/>
                <a:cs typeface="Arial MT"/>
              </a:rPr>
              <a:t> </a:t>
            </a:r>
            <a:r>
              <a:rPr sz="1100" spc="-65" dirty="0">
                <a:latin typeface="Arial MT"/>
                <a:cs typeface="Arial MT"/>
              </a:rPr>
              <a:t>Maintenance</a:t>
            </a:r>
            <a:r>
              <a:rPr sz="1100" spc="-65" dirty="0">
                <a:latin typeface="宋体"/>
                <a:cs typeface="宋体"/>
              </a:rPr>
              <a:t>）</a:t>
            </a:r>
            <a:r>
              <a:rPr sz="1100" spc="-50" dirty="0">
                <a:latin typeface="宋体"/>
                <a:cs typeface="宋体"/>
              </a:rPr>
              <a:t>——按计划周期维修；</a:t>
            </a:r>
            <a:endParaRPr sz="1100">
              <a:latin typeface="宋体"/>
              <a:cs typeface="宋体"/>
            </a:endParaRPr>
          </a:p>
          <a:p>
            <a:pPr marL="38100" marR="58420">
              <a:lnSpc>
                <a:spcPct val="103000"/>
              </a:lnSpc>
              <a:spcBef>
                <a:spcPts val="300"/>
              </a:spcBef>
            </a:pPr>
            <a:r>
              <a:rPr sz="1100" spc="-20" dirty="0">
                <a:latin typeface="宋体"/>
                <a:cs typeface="宋体"/>
              </a:rPr>
              <a:t>但这两种方式分别导致突发停机与资源浪费。为此，</a:t>
            </a:r>
            <a:r>
              <a:rPr sz="1100" b="1" spc="-20" dirty="0">
                <a:latin typeface="Microsoft JhengHei"/>
                <a:cs typeface="Microsoft JhengHei"/>
              </a:rPr>
              <a:t>预测性维护（</a:t>
            </a:r>
            <a:r>
              <a:rPr sz="1100" spc="-20" dirty="0">
                <a:latin typeface="Arial Black" panose="020B0A04020102020204"/>
                <a:cs typeface="Arial Black" panose="020B0A04020102020204"/>
              </a:rPr>
              <a:t>Predictive </a:t>
            </a:r>
            <a:r>
              <a:rPr sz="1100" spc="-130" dirty="0">
                <a:latin typeface="Arial Black" panose="020B0A04020102020204"/>
                <a:cs typeface="Arial Black" panose="020B0A04020102020204"/>
              </a:rPr>
              <a:t>Maintenance,</a:t>
            </a:r>
            <a:r>
              <a:rPr sz="1100" spc="380" dirty="0">
                <a:latin typeface="Arial Black" panose="020B0A04020102020204"/>
                <a:cs typeface="Arial Black" panose="020B0A04020102020204"/>
              </a:rPr>
              <a:t> </a:t>
            </a:r>
            <a:r>
              <a:rPr sz="1100" spc="-50" dirty="0">
                <a:latin typeface="Arial Black" panose="020B0A04020102020204"/>
                <a:cs typeface="Arial Black" panose="020B0A04020102020204"/>
              </a:rPr>
              <a:t>PdM</a:t>
            </a:r>
            <a:r>
              <a:rPr sz="1100" b="1" spc="-50" dirty="0">
                <a:latin typeface="Microsoft JhengHei"/>
                <a:cs typeface="Microsoft JhengHei"/>
              </a:rPr>
              <a:t>）</a:t>
            </a:r>
            <a:r>
              <a:rPr sz="1100" spc="-25" dirty="0">
                <a:latin typeface="宋体"/>
                <a:cs typeface="宋体"/>
              </a:rPr>
              <a:t>成为主流方向，通过数据分析与模型预测设备健康状态与剩</a:t>
            </a:r>
            <a:r>
              <a:rPr sz="1100" spc="-20" dirty="0">
                <a:latin typeface="宋体"/>
                <a:cs typeface="宋体"/>
              </a:rPr>
              <a:t>余寿命</a:t>
            </a:r>
            <a:r>
              <a:rPr sz="1100" spc="-40" dirty="0">
                <a:latin typeface="宋体"/>
                <a:cs typeface="宋体"/>
              </a:rPr>
              <a:t>（</a:t>
            </a:r>
            <a:r>
              <a:rPr sz="1100" spc="-40" dirty="0">
                <a:latin typeface="Arial MT"/>
                <a:cs typeface="Arial MT"/>
              </a:rPr>
              <a:t>RUL</a:t>
            </a:r>
            <a:r>
              <a:rPr sz="1100" spc="-595" dirty="0">
                <a:latin typeface="宋体"/>
                <a:cs typeface="宋体"/>
              </a:rPr>
              <a:t>）</a:t>
            </a:r>
            <a:r>
              <a:rPr sz="1100" spc="-35" dirty="0">
                <a:latin typeface="宋体"/>
                <a:cs typeface="宋体"/>
              </a:rPr>
              <a:t>，实现提前决策。</a:t>
            </a:r>
            <a:endParaRPr sz="1100">
              <a:latin typeface="宋体"/>
              <a:cs typeface="宋体"/>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研究问题与挑战</a:t>
            </a:r>
            <a:endParaRPr sz="1200">
              <a:latin typeface="宋体"/>
              <a:cs typeface="宋体"/>
            </a:endParaRPr>
          </a:p>
        </p:txBody>
      </p:sp>
      <p:sp>
        <p:nvSpPr>
          <p:cNvPr id="3" name="object 3"/>
          <p:cNvSpPr txBox="1"/>
          <p:nvPr/>
        </p:nvSpPr>
        <p:spPr>
          <a:xfrm>
            <a:off x="321894" y="723407"/>
            <a:ext cx="4486910" cy="1110615"/>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主要挑战</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多传感器信号：振动、温度、压力等，时序依赖复杂；</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退化规律非线性，工况多变；</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样本中存在</a:t>
            </a:r>
            <a:r>
              <a:rPr sz="1100" b="1" spc="-20" dirty="0">
                <a:latin typeface="Microsoft JhengHei"/>
                <a:cs typeface="Microsoft JhengHei"/>
              </a:rPr>
              <a:t>右删失</a:t>
            </a:r>
            <a:r>
              <a:rPr sz="1100" b="1" spc="-80" dirty="0">
                <a:latin typeface="Microsoft JhengHei"/>
                <a:cs typeface="Microsoft JhengHei"/>
              </a:rPr>
              <a:t>（</a:t>
            </a:r>
            <a:r>
              <a:rPr sz="1100" spc="-80" dirty="0">
                <a:latin typeface="Arial Black" panose="020B0A04020102020204"/>
                <a:cs typeface="Arial Black" panose="020B0A04020102020204"/>
              </a:rPr>
              <a:t>Right</a:t>
            </a:r>
            <a:r>
              <a:rPr sz="1100" spc="270" dirty="0">
                <a:latin typeface="Arial Black" panose="020B0A04020102020204"/>
                <a:cs typeface="Arial Black" panose="020B0A04020102020204"/>
              </a:rPr>
              <a:t> </a:t>
            </a:r>
            <a:r>
              <a:rPr sz="1100" spc="-114" dirty="0">
                <a:latin typeface="Arial Black" panose="020B0A04020102020204"/>
                <a:cs typeface="Arial Black" panose="020B0A04020102020204"/>
              </a:rPr>
              <a:t>Cens</a:t>
            </a:r>
            <a:r>
              <a:rPr sz="1100" spc="-160" dirty="0">
                <a:latin typeface="Arial Black" panose="020B0A04020102020204"/>
                <a:cs typeface="Arial Black" panose="020B0A04020102020204"/>
              </a:rPr>
              <a:t>o</a:t>
            </a:r>
            <a:r>
              <a:rPr sz="1100" spc="-114" dirty="0">
                <a:latin typeface="Arial Black" panose="020B0A04020102020204"/>
                <a:cs typeface="Arial Black" panose="020B0A04020102020204"/>
              </a:rPr>
              <a:t>rin</a:t>
            </a:r>
            <a:r>
              <a:rPr sz="1100" spc="-125" dirty="0">
                <a:latin typeface="Arial Black" panose="020B0A04020102020204"/>
                <a:cs typeface="Arial Black" panose="020B0A04020102020204"/>
              </a:rPr>
              <a:t>g</a:t>
            </a:r>
            <a:r>
              <a:rPr sz="1100" b="1" spc="-635" dirty="0">
                <a:latin typeface="Microsoft JhengHei"/>
                <a:cs typeface="Microsoft JhengHei"/>
              </a:rPr>
              <a:t>）</a:t>
            </a:r>
            <a:r>
              <a:rPr sz="1100" spc="-50" dirty="0">
                <a:latin typeface="宋体"/>
                <a:cs typeface="宋体"/>
              </a:rPr>
              <a:t>，即观测期结束设备未失效；</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25" dirty="0">
                <a:latin typeface="宋体"/>
                <a:cs typeface="宋体"/>
              </a:rPr>
              <a:t>模型需兼顾预测精度、可解释性与泛化能力。</a:t>
            </a:r>
            <a:endParaRPr sz="1100">
              <a:latin typeface="宋体"/>
              <a:cs typeface="宋体"/>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研究问题与挑战</a:t>
            </a:r>
            <a:endParaRPr sz="1200">
              <a:latin typeface="宋体"/>
              <a:cs typeface="宋体"/>
            </a:endParaRPr>
          </a:p>
        </p:txBody>
      </p:sp>
      <p:sp>
        <p:nvSpPr>
          <p:cNvPr id="3" name="object 3"/>
          <p:cNvSpPr txBox="1"/>
          <p:nvPr/>
        </p:nvSpPr>
        <p:spPr>
          <a:xfrm>
            <a:off x="321894" y="723407"/>
            <a:ext cx="4486910" cy="1790064"/>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主要挑战</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多传感器信号：振动、温度、压力等，时序依赖复杂；</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退化规律非线性，工况多变；</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样本中存在</a:t>
            </a:r>
            <a:r>
              <a:rPr sz="1100" b="1" spc="-20" dirty="0">
                <a:latin typeface="Microsoft JhengHei"/>
                <a:cs typeface="Microsoft JhengHei"/>
              </a:rPr>
              <a:t>右删失</a:t>
            </a:r>
            <a:r>
              <a:rPr sz="1100" b="1" spc="-80" dirty="0">
                <a:latin typeface="Microsoft JhengHei"/>
                <a:cs typeface="Microsoft JhengHei"/>
              </a:rPr>
              <a:t>（</a:t>
            </a:r>
            <a:r>
              <a:rPr sz="1100" spc="-80" dirty="0">
                <a:latin typeface="Arial Black" panose="020B0A04020102020204"/>
                <a:cs typeface="Arial Black" panose="020B0A04020102020204"/>
              </a:rPr>
              <a:t>Right</a:t>
            </a:r>
            <a:r>
              <a:rPr sz="1100" spc="270" dirty="0">
                <a:latin typeface="Arial Black" panose="020B0A04020102020204"/>
                <a:cs typeface="Arial Black" panose="020B0A04020102020204"/>
              </a:rPr>
              <a:t> </a:t>
            </a:r>
            <a:r>
              <a:rPr sz="1100" spc="-114" dirty="0">
                <a:latin typeface="Arial Black" panose="020B0A04020102020204"/>
                <a:cs typeface="Arial Black" panose="020B0A04020102020204"/>
              </a:rPr>
              <a:t>Cens</a:t>
            </a:r>
            <a:r>
              <a:rPr sz="1100" spc="-160" dirty="0">
                <a:latin typeface="Arial Black" panose="020B0A04020102020204"/>
                <a:cs typeface="Arial Black" panose="020B0A04020102020204"/>
              </a:rPr>
              <a:t>o</a:t>
            </a:r>
            <a:r>
              <a:rPr sz="1100" spc="-114" dirty="0">
                <a:latin typeface="Arial Black" panose="020B0A04020102020204"/>
                <a:cs typeface="Arial Black" panose="020B0A04020102020204"/>
              </a:rPr>
              <a:t>rin</a:t>
            </a:r>
            <a:r>
              <a:rPr sz="1100" spc="-125" dirty="0">
                <a:latin typeface="Arial Black" panose="020B0A04020102020204"/>
                <a:cs typeface="Arial Black" panose="020B0A04020102020204"/>
              </a:rPr>
              <a:t>g</a:t>
            </a:r>
            <a:r>
              <a:rPr sz="1100" b="1" spc="-635" dirty="0">
                <a:latin typeface="Microsoft JhengHei"/>
                <a:cs typeface="Microsoft JhengHei"/>
              </a:rPr>
              <a:t>）</a:t>
            </a:r>
            <a:r>
              <a:rPr sz="1100" spc="-50" dirty="0">
                <a:latin typeface="宋体"/>
                <a:cs typeface="宋体"/>
              </a:rPr>
              <a:t>，即观测期结束设备未失效；</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25" dirty="0">
                <a:latin typeface="宋体"/>
                <a:cs typeface="宋体"/>
              </a:rPr>
              <a:t>模型需兼顾预测精度、可解释性与泛化能力。</a:t>
            </a:r>
            <a:endParaRPr sz="1100">
              <a:latin typeface="宋体"/>
              <a:cs typeface="宋体"/>
            </a:endParaRPr>
          </a:p>
          <a:p>
            <a:pPr marL="38100">
              <a:lnSpc>
                <a:spcPct val="100000"/>
              </a:lnSpc>
              <a:spcBef>
                <a:spcPts val="725"/>
              </a:spcBef>
            </a:pPr>
            <a:r>
              <a:rPr sz="1100" spc="-25" dirty="0">
                <a:latin typeface="宋体"/>
                <a:cs typeface="宋体"/>
              </a:rPr>
              <a:t>本项目将采用两条建模路线：</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45" dirty="0">
                <a:latin typeface="宋体"/>
                <a:cs typeface="宋体"/>
              </a:rPr>
              <a:t>基于时间序列的 </a:t>
            </a:r>
            <a:r>
              <a:rPr sz="1100" spc="-25" dirty="0">
                <a:latin typeface="Arial MT"/>
                <a:cs typeface="Arial MT"/>
              </a:rPr>
              <a:t>RUL</a:t>
            </a:r>
            <a:r>
              <a:rPr sz="1100" spc="50" dirty="0">
                <a:latin typeface="Arial MT"/>
                <a:cs typeface="Arial MT"/>
              </a:rPr>
              <a:t> </a:t>
            </a:r>
            <a:r>
              <a:rPr sz="1100" spc="-30" dirty="0">
                <a:latin typeface="宋体"/>
                <a:cs typeface="宋体"/>
              </a:rPr>
              <a:t>回归预测；</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基于生存分析的失效概率建模。</a:t>
            </a:r>
            <a:endParaRPr sz="1100">
              <a:latin typeface="宋体"/>
              <a:cs typeface="宋体"/>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latin typeface="Lucida Sans Unicode"/>
                <a:cs typeface="Lucida Sans Unicode"/>
              </a:rPr>
              <a:t>RUL</a:t>
            </a:r>
            <a:r>
              <a:rPr spc="-20" dirty="0">
                <a:latin typeface="Lucida Sans Unicode"/>
                <a:cs typeface="Lucida Sans Unicode"/>
              </a:rPr>
              <a:t> </a:t>
            </a:r>
            <a:r>
              <a:rPr spc="-25" dirty="0"/>
              <a:t>预测方法思路</a:t>
            </a:r>
            <a:endParaRPr spc="-25" dirty="0"/>
          </a:p>
        </p:txBody>
      </p:sp>
      <p:sp>
        <p:nvSpPr>
          <p:cNvPr id="3" name="object 3"/>
          <p:cNvSpPr txBox="1"/>
          <p:nvPr/>
        </p:nvSpPr>
        <p:spPr>
          <a:xfrm>
            <a:off x="201904" y="788350"/>
            <a:ext cx="2256790" cy="1527810"/>
          </a:xfrm>
          <a:prstGeom prst="rect">
            <a:avLst/>
          </a:prstGeom>
        </p:spPr>
        <p:txBody>
          <a:bodyPr vert="horz" wrap="square" lIns="0" tIns="55244" rIns="0" bIns="0" rtlCol="0">
            <a:spAutoFit/>
          </a:bodyPr>
          <a:lstStyle/>
          <a:p>
            <a:pPr marL="38100">
              <a:lnSpc>
                <a:spcPct val="100000"/>
              </a:lnSpc>
              <a:spcBef>
                <a:spcPts val="435"/>
              </a:spcBef>
            </a:pPr>
            <a:r>
              <a:rPr sz="1100" b="1" spc="-30" dirty="0">
                <a:latin typeface="Microsoft JhengHei"/>
                <a:cs typeface="Microsoft JhengHei"/>
              </a:rPr>
              <a:t>核心流程：</a:t>
            </a:r>
            <a:endParaRPr sz="1100">
              <a:latin typeface="Microsoft JhengHei"/>
              <a:cs typeface="Microsoft JhengHei"/>
            </a:endParaRPr>
          </a:p>
          <a:p>
            <a:pPr marL="312420" indent="-174625">
              <a:lnSpc>
                <a:spcPct val="100000"/>
              </a:lnSpc>
              <a:spcBef>
                <a:spcPts val="335"/>
              </a:spcBef>
              <a:buClr>
                <a:srgbClr val="004097"/>
              </a:buClr>
              <a:buFont typeface="Arial MT"/>
              <a:buAutoNum type="arabicPeriod"/>
              <a:tabLst>
                <a:tab pos="312420" algn="l"/>
              </a:tabLst>
            </a:pPr>
            <a:r>
              <a:rPr sz="1100" spc="-20" dirty="0">
                <a:latin typeface="宋体"/>
                <a:cs typeface="宋体"/>
              </a:rPr>
              <a:t>数据预处理与特征提取</a:t>
            </a:r>
            <a:r>
              <a:rPr sz="1100" spc="-10" dirty="0">
                <a:latin typeface="宋体"/>
                <a:cs typeface="宋体"/>
              </a:rPr>
              <a:t>（</a:t>
            </a:r>
            <a:r>
              <a:rPr sz="1100" spc="-10" dirty="0">
                <a:latin typeface="Arial MT"/>
                <a:cs typeface="Arial MT"/>
              </a:rPr>
              <a:t>tsfresh</a:t>
            </a:r>
            <a:endParaRPr sz="1100">
              <a:latin typeface="Arial MT"/>
              <a:cs typeface="Arial MT"/>
            </a:endParaRPr>
          </a:p>
          <a:p>
            <a:pPr marL="314960">
              <a:lnSpc>
                <a:spcPct val="100000"/>
              </a:lnSpc>
              <a:spcBef>
                <a:spcPts val="35"/>
              </a:spcBef>
            </a:pPr>
            <a:r>
              <a:rPr sz="1100" spc="240" dirty="0">
                <a:latin typeface="Arial MT"/>
                <a:cs typeface="Arial MT"/>
              </a:rPr>
              <a:t>/</a:t>
            </a:r>
            <a:r>
              <a:rPr sz="1100" spc="55" dirty="0">
                <a:latin typeface="Arial MT"/>
                <a:cs typeface="Arial MT"/>
              </a:rPr>
              <a:t> </a:t>
            </a:r>
            <a:r>
              <a:rPr sz="1100" spc="-10" dirty="0">
                <a:latin typeface="Arial MT"/>
                <a:cs typeface="Arial MT"/>
              </a:rPr>
              <a:t>sktime</a:t>
            </a:r>
            <a:r>
              <a:rPr sz="1100" spc="-10" dirty="0">
                <a:latin typeface="宋体"/>
                <a:cs typeface="宋体"/>
              </a:rPr>
              <a:t>）</a:t>
            </a:r>
            <a:endParaRPr sz="1100">
              <a:latin typeface="宋体"/>
              <a:cs typeface="宋体"/>
            </a:endParaRPr>
          </a:p>
          <a:p>
            <a:pPr marL="312420" indent="-174625">
              <a:lnSpc>
                <a:spcPct val="100000"/>
              </a:lnSpc>
              <a:spcBef>
                <a:spcPts val="330"/>
              </a:spcBef>
              <a:buClr>
                <a:srgbClr val="004097"/>
              </a:buClr>
              <a:buFont typeface="Arial MT"/>
              <a:buAutoNum type="arabicPeriod" startAt="2"/>
              <a:tabLst>
                <a:tab pos="312420" algn="l"/>
              </a:tabLst>
            </a:pPr>
            <a:r>
              <a:rPr sz="1100" spc="-20" dirty="0">
                <a:latin typeface="宋体"/>
                <a:cs typeface="宋体"/>
              </a:rPr>
              <a:t>建模：</a:t>
            </a:r>
            <a:r>
              <a:rPr sz="1100" spc="-20" dirty="0">
                <a:latin typeface="Arial MT"/>
                <a:cs typeface="Arial MT"/>
              </a:rPr>
              <a:t>ARIMA</a:t>
            </a:r>
            <a:r>
              <a:rPr sz="1100" spc="-20" dirty="0">
                <a:latin typeface="宋体"/>
                <a:cs typeface="宋体"/>
              </a:rPr>
              <a:t>、</a:t>
            </a:r>
            <a:r>
              <a:rPr sz="1100" spc="-60" dirty="0">
                <a:latin typeface="Arial MT"/>
                <a:cs typeface="Arial MT"/>
              </a:rPr>
              <a:t>XGBoost</a:t>
            </a:r>
            <a:r>
              <a:rPr sz="1100" spc="-50" dirty="0">
                <a:latin typeface="宋体"/>
                <a:cs typeface="宋体"/>
              </a:rPr>
              <a:t>、</a:t>
            </a:r>
            <a:endParaRPr sz="1100">
              <a:latin typeface="宋体"/>
              <a:cs typeface="宋体"/>
            </a:endParaRPr>
          </a:p>
          <a:p>
            <a:pPr marL="314960">
              <a:lnSpc>
                <a:spcPct val="100000"/>
              </a:lnSpc>
              <a:spcBef>
                <a:spcPts val="35"/>
              </a:spcBef>
            </a:pPr>
            <a:r>
              <a:rPr sz="1100" spc="-20" dirty="0">
                <a:latin typeface="Arial MT"/>
                <a:cs typeface="Arial MT"/>
              </a:rPr>
              <a:t>LSTM</a:t>
            </a:r>
            <a:r>
              <a:rPr sz="1100" spc="-20" dirty="0">
                <a:latin typeface="宋体"/>
                <a:cs typeface="宋体"/>
              </a:rPr>
              <a:t>、</a:t>
            </a:r>
            <a:r>
              <a:rPr sz="1100" spc="-10" dirty="0">
                <a:latin typeface="Arial MT"/>
                <a:cs typeface="Arial MT"/>
              </a:rPr>
              <a:t>Transformer</a:t>
            </a:r>
            <a:endParaRPr sz="1100">
              <a:latin typeface="Arial MT"/>
              <a:cs typeface="Arial MT"/>
            </a:endParaRPr>
          </a:p>
          <a:p>
            <a:pPr marL="312420" indent="-174625">
              <a:lnSpc>
                <a:spcPct val="100000"/>
              </a:lnSpc>
              <a:spcBef>
                <a:spcPts val="335"/>
              </a:spcBef>
              <a:buClr>
                <a:srgbClr val="004097"/>
              </a:buClr>
              <a:buFont typeface="Arial MT"/>
              <a:buAutoNum type="arabicPeriod" startAt="3"/>
              <a:tabLst>
                <a:tab pos="312420" algn="l"/>
              </a:tabLst>
            </a:pPr>
            <a:r>
              <a:rPr sz="1100" spc="-30" dirty="0">
                <a:latin typeface="宋体"/>
                <a:cs typeface="宋体"/>
              </a:rPr>
              <a:t>输出设备的剩余寿命估计 </a:t>
            </a:r>
            <a:r>
              <a:rPr sz="1100" i="1" spc="130" dirty="0">
                <a:latin typeface="Times New Roman" panose="02020603050405020304"/>
                <a:cs typeface="Times New Roman" panose="02020603050405020304"/>
              </a:rPr>
              <a:t>R</a:t>
            </a:r>
            <a:r>
              <a:rPr sz="1100" i="1" spc="-630" dirty="0">
                <a:latin typeface="Times New Roman" panose="02020603050405020304"/>
                <a:cs typeface="Times New Roman" panose="02020603050405020304"/>
              </a:rPr>
              <a:t>U</a:t>
            </a:r>
            <a:r>
              <a:rPr sz="1650" spc="427" baseline="15000" dirty="0">
                <a:latin typeface="Calibri"/>
                <a:cs typeface="Calibri"/>
              </a:rPr>
              <a:t>ˆ</a:t>
            </a:r>
            <a:r>
              <a:rPr sz="1100" i="1" spc="130" dirty="0">
                <a:latin typeface="Times New Roman" panose="02020603050405020304"/>
                <a:cs typeface="Times New Roman" panose="02020603050405020304"/>
              </a:rPr>
              <a:t>L</a:t>
            </a:r>
            <a:endParaRPr sz="1100">
              <a:latin typeface="Times New Roman" panose="02020603050405020304"/>
              <a:cs typeface="Times New Roman" panose="02020603050405020304"/>
            </a:endParaRPr>
          </a:p>
          <a:p>
            <a:pPr marL="38100">
              <a:lnSpc>
                <a:spcPct val="100000"/>
              </a:lnSpc>
              <a:spcBef>
                <a:spcPts val="1185"/>
              </a:spcBef>
            </a:pPr>
            <a:r>
              <a:rPr sz="1100" b="1" spc="10" dirty="0">
                <a:latin typeface="Microsoft JhengHei"/>
                <a:cs typeface="Microsoft JhengHei"/>
              </a:rPr>
              <a:t>常用指标： </a:t>
            </a:r>
            <a:r>
              <a:rPr sz="1100" spc="-80" dirty="0">
                <a:latin typeface="Arial MT"/>
                <a:cs typeface="Arial MT"/>
              </a:rPr>
              <a:t>RMSE</a:t>
            </a:r>
            <a:r>
              <a:rPr sz="1100" spc="-20" dirty="0">
                <a:latin typeface="宋体"/>
                <a:cs typeface="宋体"/>
              </a:rPr>
              <a:t>、</a:t>
            </a:r>
            <a:r>
              <a:rPr sz="1100" spc="-35" dirty="0">
                <a:latin typeface="Arial MT"/>
                <a:cs typeface="Arial MT"/>
              </a:rPr>
              <a:t>MAE</a:t>
            </a:r>
            <a:r>
              <a:rPr sz="1100" spc="-20" dirty="0">
                <a:latin typeface="宋体"/>
                <a:cs typeface="宋体"/>
              </a:rPr>
              <a:t>、</a:t>
            </a:r>
            <a:r>
              <a:rPr sz="1100" spc="-20" dirty="0">
                <a:latin typeface="Arial MT"/>
                <a:cs typeface="Arial MT"/>
              </a:rPr>
              <a:t>Score</a:t>
            </a:r>
            <a:endParaRPr sz="1100">
              <a:latin typeface="Arial MT"/>
              <a:cs typeface="Arial MT"/>
            </a:endParaRPr>
          </a:p>
        </p:txBody>
      </p:sp>
      <p:pic>
        <p:nvPicPr>
          <p:cNvPr id="4" name="object 4"/>
          <p:cNvPicPr/>
          <p:nvPr/>
        </p:nvPicPr>
        <p:blipFill>
          <a:blip r:embed="rId1" cstate="print"/>
          <a:stretch>
            <a:fillRect/>
          </a:stretch>
        </p:blipFill>
        <p:spPr>
          <a:xfrm>
            <a:off x="2880522" y="1269572"/>
            <a:ext cx="2611487" cy="378936"/>
          </a:xfrm>
          <a:prstGeom prst="rect">
            <a:avLst/>
          </a:prstGeom>
        </p:spPr>
      </p:pic>
      <p:sp>
        <p:nvSpPr>
          <p:cNvPr id="5" name="object 5"/>
          <p:cNvSpPr txBox="1"/>
          <p:nvPr/>
        </p:nvSpPr>
        <p:spPr>
          <a:xfrm>
            <a:off x="3246996" y="1916460"/>
            <a:ext cx="1774189"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宋体"/>
                <a:cs typeface="宋体"/>
              </a:rPr>
              <a:t>图</a:t>
            </a:r>
            <a:r>
              <a:rPr sz="1000" spc="5" dirty="0">
                <a:latin typeface="Arial MT"/>
                <a:cs typeface="Arial MT"/>
              </a:rPr>
              <a:t>: </a:t>
            </a:r>
            <a:r>
              <a:rPr sz="1000" spc="-20" dirty="0">
                <a:latin typeface="Arial MT"/>
                <a:cs typeface="Arial MT"/>
              </a:rPr>
              <a:t>RUL</a:t>
            </a:r>
            <a:r>
              <a:rPr sz="1000" spc="10" dirty="0">
                <a:latin typeface="Arial MT"/>
                <a:cs typeface="Arial MT"/>
              </a:rPr>
              <a:t> </a:t>
            </a:r>
            <a:r>
              <a:rPr sz="1000" spc="-10" dirty="0">
                <a:latin typeface="宋体"/>
                <a:cs typeface="宋体"/>
              </a:rPr>
              <a:t>预测建模流程（示意</a:t>
            </a:r>
            <a:r>
              <a:rPr sz="1000" spc="-50" dirty="0">
                <a:latin typeface="宋体"/>
                <a:cs typeface="宋体"/>
              </a:rPr>
              <a:t>）</a:t>
            </a:r>
            <a:endParaRPr sz="1000">
              <a:latin typeface="宋体"/>
              <a:cs typeface="宋体"/>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936625"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生存分析建模</a:t>
            </a:r>
            <a:endParaRPr sz="1200">
              <a:latin typeface="宋体"/>
              <a:cs typeface="宋体"/>
            </a:endParaRPr>
          </a:p>
        </p:txBody>
      </p:sp>
      <p:sp>
        <p:nvSpPr>
          <p:cNvPr id="3" name="object 3"/>
          <p:cNvSpPr txBox="1"/>
          <p:nvPr/>
        </p:nvSpPr>
        <p:spPr>
          <a:xfrm>
            <a:off x="321894" y="740058"/>
            <a:ext cx="4614545" cy="1784985"/>
          </a:xfrm>
          <a:prstGeom prst="rect">
            <a:avLst/>
          </a:prstGeom>
        </p:spPr>
        <p:txBody>
          <a:bodyPr vert="horz" wrap="square" lIns="0" tIns="67310" rIns="0" bIns="0" rtlCol="0">
            <a:spAutoFit/>
          </a:bodyPr>
          <a:lstStyle/>
          <a:p>
            <a:pPr marL="38100">
              <a:lnSpc>
                <a:spcPct val="100000"/>
              </a:lnSpc>
              <a:spcBef>
                <a:spcPts val="530"/>
              </a:spcBef>
            </a:pPr>
            <a:r>
              <a:rPr sz="1200" spc="-30" dirty="0">
                <a:latin typeface="宋体"/>
                <a:cs typeface="宋体"/>
              </a:rPr>
              <a:t>基本思想</a:t>
            </a:r>
            <a:endParaRPr sz="1200">
              <a:latin typeface="宋体"/>
              <a:cs typeface="宋体"/>
            </a:endParaRPr>
          </a:p>
          <a:p>
            <a:pPr marL="313055" indent="-175260">
              <a:lnSpc>
                <a:spcPct val="100000"/>
              </a:lnSpc>
              <a:spcBef>
                <a:spcPts val="390"/>
              </a:spcBef>
              <a:buClr>
                <a:srgbClr val="004097"/>
              </a:buClr>
              <a:buFont typeface="Cambria"/>
              <a:buChar char="►"/>
              <a:tabLst>
                <a:tab pos="313055" algn="l"/>
              </a:tabLst>
            </a:pPr>
            <a:r>
              <a:rPr sz="1100" spc="-25" dirty="0">
                <a:latin typeface="宋体"/>
                <a:cs typeface="宋体"/>
              </a:rPr>
              <a:t>研究设备在未来时间内仍能正常运行的概率；</a:t>
            </a:r>
            <a:endParaRPr sz="1100">
              <a:latin typeface="宋体"/>
              <a:cs typeface="宋体"/>
            </a:endParaRPr>
          </a:p>
          <a:p>
            <a:pPr marL="313055" indent="-175260">
              <a:lnSpc>
                <a:spcPct val="100000"/>
              </a:lnSpc>
              <a:spcBef>
                <a:spcPts val="330"/>
              </a:spcBef>
              <a:buClr>
                <a:srgbClr val="004097"/>
              </a:buClr>
              <a:buFont typeface="Cambria"/>
              <a:buChar char="►"/>
              <a:tabLst>
                <a:tab pos="313055" algn="l"/>
              </a:tabLst>
            </a:pPr>
            <a:r>
              <a:rPr sz="1100" spc="-75" dirty="0">
                <a:latin typeface="宋体"/>
                <a:cs typeface="宋体"/>
              </a:rPr>
              <a:t>使用 </a:t>
            </a:r>
            <a:r>
              <a:rPr sz="1100" spc="55" dirty="0">
                <a:latin typeface="Calibri"/>
                <a:cs typeface="Calibri"/>
              </a:rPr>
              <a:t>(</a:t>
            </a:r>
            <a:r>
              <a:rPr sz="1100" i="1" spc="55" dirty="0">
                <a:latin typeface="Times New Roman" panose="02020603050405020304"/>
                <a:cs typeface="Times New Roman" panose="02020603050405020304"/>
              </a:rPr>
              <a:t>t</a:t>
            </a:r>
            <a:r>
              <a:rPr sz="1200" i="1" spc="82" baseline="-10000" dirty="0">
                <a:latin typeface="Franklin Gothic Medium"/>
                <a:cs typeface="Franklin Gothic Medium"/>
              </a:rPr>
              <a:t>i</a:t>
            </a:r>
            <a:r>
              <a:rPr sz="1100" i="1" spc="-10" dirty="0">
                <a:latin typeface="Georgia" panose="02040802050405020203"/>
                <a:cs typeface="Georgia" panose="02040802050405020203"/>
              </a:rPr>
              <a:t>, </a:t>
            </a:r>
            <a:r>
              <a:rPr sz="1100" i="1" dirty="0">
                <a:latin typeface="Georgia" panose="02040802050405020203"/>
                <a:cs typeface="Georgia" panose="02040802050405020203"/>
              </a:rPr>
              <a:t>δ</a:t>
            </a:r>
            <a:r>
              <a:rPr sz="1200" i="1" baseline="-10000" dirty="0">
                <a:latin typeface="Franklin Gothic Medium"/>
                <a:cs typeface="Franklin Gothic Medium"/>
              </a:rPr>
              <a:t>i</a:t>
            </a:r>
            <a:r>
              <a:rPr sz="1100" spc="60" dirty="0">
                <a:latin typeface="Calibri"/>
                <a:cs typeface="Calibri"/>
              </a:rPr>
              <a:t>) </a:t>
            </a:r>
            <a:r>
              <a:rPr sz="1100" spc="-20" dirty="0">
                <a:latin typeface="宋体"/>
                <a:cs typeface="宋体"/>
              </a:rPr>
              <a:t>表示样本：</a:t>
            </a:r>
            <a:r>
              <a:rPr sz="1100" i="1" dirty="0">
                <a:latin typeface="Times New Roman" panose="02020603050405020304"/>
                <a:cs typeface="Times New Roman" panose="02020603050405020304"/>
              </a:rPr>
              <a:t>t</a:t>
            </a:r>
            <a:r>
              <a:rPr sz="1200" i="1" baseline="-10000" dirty="0">
                <a:latin typeface="Franklin Gothic Medium"/>
                <a:cs typeface="Franklin Gothic Medium"/>
              </a:rPr>
              <a:t>i</a:t>
            </a:r>
            <a:r>
              <a:rPr sz="1200" i="1" spc="345" baseline="-10000" dirty="0">
                <a:latin typeface="Franklin Gothic Medium"/>
                <a:cs typeface="Franklin Gothic Medium"/>
              </a:rPr>
              <a:t> </a:t>
            </a:r>
            <a:r>
              <a:rPr sz="1100" spc="-20" dirty="0">
                <a:latin typeface="宋体"/>
                <a:cs typeface="宋体"/>
              </a:rPr>
              <a:t>为观测时间，</a:t>
            </a:r>
            <a:r>
              <a:rPr sz="1100" i="1" dirty="0">
                <a:latin typeface="Georgia" panose="02040802050405020203"/>
                <a:cs typeface="Georgia" panose="02040802050405020203"/>
              </a:rPr>
              <a:t>δ</a:t>
            </a:r>
            <a:r>
              <a:rPr sz="1200" i="1" baseline="-10000" dirty="0">
                <a:latin typeface="Franklin Gothic Medium"/>
                <a:cs typeface="Franklin Gothic Medium"/>
              </a:rPr>
              <a:t>i</a:t>
            </a:r>
            <a:r>
              <a:rPr sz="1200" i="1" spc="240" baseline="-10000" dirty="0">
                <a:latin typeface="Franklin Gothic Medium"/>
                <a:cs typeface="Franklin Gothic Medium"/>
              </a:rPr>
              <a:t> </a:t>
            </a:r>
            <a:r>
              <a:rPr sz="1100" spc="180" dirty="0">
                <a:latin typeface="Calibri"/>
                <a:cs typeface="Calibri"/>
              </a:rPr>
              <a:t>= </a:t>
            </a:r>
            <a:r>
              <a:rPr sz="1100" dirty="0">
                <a:latin typeface="Calibri"/>
                <a:cs typeface="Calibri"/>
              </a:rPr>
              <a:t>1</a:t>
            </a:r>
            <a:r>
              <a:rPr sz="1100" spc="125" dirty="0">
                <a:latin typeface="Calibri"/>
                <a:cs typeface="Calibri"/>
              </a:rPr>
              <a:t> </a:t>
            </a:r>
            <a:r>
              <a:rPr sz="1100" spc="-20" dirty="0">
                <a:latin typeface="宋体"/>
                <a:cs typeface="宋体"/>
              </a:rPr>
              <a:t>表示失效，</a:t>
            </a:r>
            <a:r>
              <a:rPr sz="1100" dirty="0">
                <a:latin typeface="Calibri"/>
                <a:cs typeface="Calibri"/>
              </a:rPr>
              <a:t>0</a:t>
            </a:r>
            <a:r>
              <a:rPr sz="1100" spc="125" dirty="0">
                <a:latin typeface="Calibri"/>
                <a:cs typeface="Calibri"/>
              </a:rPr>
              <a:t> </a:t>
            </a:r>
            <a:r>
              <a:rPr sz="1100" spc="-30" dirty="0">
                <a:latin typeface="宋体"/>
                <a:cs typeface="宋体"/>
              </a:rPr>
              <a:t>表示删失；</a:t>
            </a:r>
            <a:endParaRPr sz="1100">
              <a:latin typeface="宋体"/>
              <a:cs typeface="宋体"/>
            </a:endParaRPr>
          </a:p>
          <a:p>
            <a:pPr marL="313055" indent="-175260">
              <a:lnSpc>
                <a:spcPct val="100000"/>
              </a:lnSpc>
              <a:spcBef>
                <a:spcPts val="175"/>
              </a:spcBef>
              <a:buClr>
                <a:srgbClr val="004097"/>
              </a:buClr>
              <a:buFont typeface="Cambria"/>
              <a:buChar char="►"/>
              <a:tabLst>
                <a:tab pos="313055" algn="l"/>
              </a:tabLst>
            </a:pPr>
            <a:r>
              <a:rPr sz="1100" spc="-30" dirty="0">
                <a:latin typeface="宋体"/>
                <a:cs typeface="宋体"/>
              </a:rPr>
              <a:t>典型模型：</a:t>
            </a:r>
            <a:endParaRPr sz="1100">
              <a:latin typeface="宋体"/>
              <a:cs typeface="宋体"/>
            </a:endParaRPr>
          </a:p>
          <a:p>
            <a:pPr marL="592455" lvl="1" indent="-168275">
              <a:lnSpc>
                <a:spcPts val="1200"/>
              </a:lnSpc>
              <a:spcBef>
                <a:spcPts val="175"/>
              </a:spcBef>
              <a:buClr>
                <a:srgbClr val="004097"/>
              </a:buClr>
              <a:buFont typeface="Cambria"/>
              <a:buChar char="►"/>
              <a:tabLst>
                <a:tab pos="592455" algn="l"/>
              </a:tabLst>
            </a:pPr>
            <a:r>
              <a:rPr sz="1000" spc="-70" dirty="0">
                <a:latin typeface="Arial MT"/>
                <a:cs typeface="Arial MT"/>
              </a:rPr>
              <a:t>Kaplan</a:t>
            </a:r>
            <a:r>
              <a:rPr sz="1000" spc="-70" dirty="0">
                <a:latin typeface="宋体"/>
                <a:cs typeface="宋体"/>
              </a:rPr>
              <a:t>–</a:t>
            </a:r>
            <a:r>
              <a:rPr sz="1000" spc="-70" dirty="0">
                <a:latin typeface="Arial MT"/>
                <a:cs typeface="Arial MT"/>
              </a:rPr>
              <a:t>Meier</a:t>
            </a:r>
            <a:r>
              <a:rPr sz="1000" spc="15" dirty="0">
                <a:latin typeface="Arial MT"/>
                <a:cs typeface="Arial MT"/>
              </a:rPr>
              <a:t> </a:t>
            </a:r>
            <a:r>
              <a:rPr sz="1000" spc="-20" dirty="0">
                <a:latin typeface="宋体"/>
                <a:cs typeface="宋体"/>
              </a:rPr>
              <a:t>生存曲线；</a:t>
            </a:r>
            <a:endParaRPr sz="1000">
              <a:latin typeface="宋体"/>
              <a:cs typeface="宋体"/>
            </a:endParaRPr>
          </a:p>
          <a:p>
            <a:pPr marL="592455" lvl="1" indent="-168275">
              <a:lnSpc>
                <a:spcPts val="1195"/>
              </a:lnSpc>
              <a:buClr>
                <a:srgbClr val="004097"/>
              </a:buClr>
              <a:buFont typeface="Cambria"/>
              <a:buChar char="►"/>
              <a:tabLst>
                <a:tab pos="592455" algn="l"/>
              </a:tabLst>
            </a:pPr>
            <a:r>
              <a:rPr sz="1000" spc="-55" dirty="0">
                <a:latin typeface="Arial MT"/>
                <a:cs typeface="Arial MT"/>
              </a:rPr>
              <a:t>Cox</a:t>
            </a:r>
            <a:r>
              <a:rPr sz="1000" spc="-15" dirty="0">
                <a:latin typeface="Arial MT"/>
                <a:cs typeface="Arial MT"/>
              </a:rPr>
              <a:t> </a:t>
            </a:r>
            <a:r>
              <a:rPr sz="1000" spc="-20" dirty="0">
                <a:latin typeface="宋体"/>
                <a:cs typeface="宋体"/>
              </a:rPr>
              <a:t>比例风险模型；</a:t>
            </a:r>
            <a:endParaRPr sz="1000">
              <a:latin typeface="宋体"/>
              <a:cs typeface="宋体"/>
            </a:endParaRPr>
          </a:p>
          <a:p>
            <a:pPr marL="592455" lvl="1" indent="-168275">
              <a:lnSpc>
                <a:spcPts val="1195"/>
              </a:lnSpc>
              <a:buClr>
                <a:srgbClr val="004097"/>
              </a:buClr>
              <a:buFont typeface="Cambria"/>
              <a:buChar char="►"/>
              <a:tabLst>
                <a:tab pos="592455" algn="l"/>
              </a:tabLst>
            </a:pPr>
            <a:r>
              <a:rPr sz="1000" spc="-10" dirty="0">
                <a:latin typeface="宋体"/>
                <a:cs typeface="宋体"/>
              </a:rPr>
              <a:t>随机生存森林</a:t>
            </a:r>
            <a:r>
              <a:rPr sz="1000" spc="75" dirty="0">
                <a:latin typeface="宋体"/>
                <a:cs typeface="宋体"/>
              </a:rPr>
              <a:t>（</a:t>
            </a:r>
            <a:r>
              <a:rPr sz="1000" spc="75" dirty="0">
                <a:latin typeface="Arial MT"/>
                <a:cs typeface="Arial MT"/>
              </a:rPr>
              <a:t>RSF</a:t>
            </a:r>
            <a:r>
              <a:rPr sz="1000" spc="-434" dirty="0">
                <a:latin typeface="宋体"/>
                <a:cs typeface="宋体"/>
              </a:rPr>
              <a:t>）</a:t>
            </a:r>
            <a:r>
              <a:rPr sz="1000" spc="75" dirty="0">
                <a:latin typeface="宋体"/>
                <a:cs typeface="宋体"/>
              </a:rPr>
              <a:t>；</a:t>
            </a:r>
            <a:endParaRPr sz="1000">
              <a:latin typeface="宋体"/>
              <a:cs typeface="宋体"/>
            </a:endParaRPr>
          </a:p>
          <a:p>
            <a:pPr marL="592455" lvl="1" indent="-168275">
              <a:lnSpc>
                <a:spcPts val="1200"/>
              </a:lnSpc>
              <a:buClr>
                <a:srgbClr val="004097"/>
              </a:buClr>
              <a:buFont typeface="Cambria"/>
              <a:buChar char="►"/>
              <a:tabLst>
                <a:tab pos="592455" algn="l"/>
              </a:tabLst>
            </a:pPr>
            <a:r>
              <a:rPr sz="1000" spc="-50" dirty="0">
                <a:latin typeface="Arial MT"/>
                <a:cs typeface="Arial MT"/>
              </a:rPr>
              <a:t>DeepSurv</a:t>
            </a:r>
            <a:r>
              <a:rPr sz="1000" spc="5" dirty="0">
                <a:latin typeface="Arial MT"/>
                <a:cs typeface="Arial MT"/>
              </a:rPr>
              <a:t> </a:t>
            </a:r>
            <a:r>
              <a:rPr sz="1000" spc="-20" dirty="0">
                <a:latin typeface="宋体"/>
                <a:cs typeface="宋体"/>
              </a:rPr>
              <a:t>等深度生存模型。</a:t>
            </a:r>
            <a:endParaRPr sz="1000">
              <a:latin typeface="宋体"/>
              <a:cs typeface="宋体"/>
            </a:endParaRPr>
          </a:p>
          <a:p>
            <a:pPr marL="38100">
              <a:lnSpc>
                <a:spcPct val="100000"/>
              </a:lnSpc>
              <a:spcBef>
                <a:spcPts val="845"/>
              </a:spcBef>
            </a:pPr>
            <a:r>
              <a:rPr sz="1100" b="1" dirty="0">
                <a:latin typeface="Microsoft JhengHei"/>
                <a:cs typeface="Microsoft JhengHei"/>
              </a:rPr>
              <a:t>评估指标： </a:t>
            </a:r>
            <a:r>
              <a:rPr sz="1100" spc="-65" dirty="0">
                <a:latin typeface="Arial MT"/>
                <a:cs typeface="Arial MT"/>
              </a:rPr>
              <a:t>C-</a:t>
            </a:r>
            <a:r>
              <a:rPr sz="1100" spc="-60" dirty="0">
                <a:latin typeface="Arial MT"/>
                <a:cs typeface="Arial MT"/>
              </a:rPr>
              <a:t>index</a:t>
            </a:r>
            <a:r>
              <a:rPr sz="1100" spc="-20" dirty="0">
                <a:latin typeface="宋体"/>
                <a:cs typeface="宋体"/>
              </a:rPr>
              <a:t>、</a:t>
            </a:r>
            <a:r>
              <a:rPr sz="1100" dirty="0">
                <a:latin typeface="Arial MT"/>
                <a:cs typeface="Arial MT"/>
              </a:rPr>
              <a:t>Brier</a:t>
            </a:r>
            <a:r>
              <a:rPr sz="1100" spc="80" dirty="0">
                <a:latin typeface="Arial MT"/>
                <a:cs typeface="Arial MT"/>
              </a:rPr>
              <a:t> </a:t>
            </a:r>
            <a:r>
              <a:rPr sz="1100" spc="-95" dirty="0">
                <a:latin typeface="Arial MT"/>
                <a:cs typeface="Arial MT"/>
              </a:rPr>
              <a:t>Score</a:t>
            </a:r>
            <a:r>
              <a:rPr sz="1100" spc="-45" dirty="0">
                <a:latin typeface="宋体"/>
                <a:cs typeface="宋体"/>
              </a:rPr>
              <a:t>、时间依赖 </a:t>
            </a:r>
            <a:r>
              <a:rPr sz="1100" spc="-75" dirty="0">
                <a:latin typeface="Arial MT"/>
                <a:cs typeface="Arial MT"/>
              </a:rPr>
              <a:t>AUC</a:t>
            </a:r>
            <a:r>
              <a:rPr sz="1100" spc="-50" dirty="0">
                <a:latin typeface="宋体"/>
                <a:cs typeface="宋体"/>
              </a:rPr>
              <a:t>。</a:t>
            </a:r>
            <a:endParaRPr sz="1100">
              <a:latin typeface="宋体"/>
              <a:cs typeface="宋体"/>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65872"/>
            <a:ext cx="784860" cy="207645"/>
          </a:xfrm>
          <a:prstGeom prst="rect">
            <a:avLst/>
          </a:prstGeom>
        </p:spPr>
        <p:txBody>
          <a:bodyPr vert="horz" wrap="square" lIns="0" tIns="12065" rIns="0" bIns="0" rtlCol="0">
            <a:spAutoFit/>
          </a:bodyPr>
          <a:lstStyle/>
          <a:p>
            <a:pPr marL="12700">
              <a:lnSpc>
                <a:spcPct val="100000"/>
              </a:lnSpc>
              <a:spcBef>
                <a:spcPts val="95"/>
              </a:spcBef>
            </a:pPr>
            <a:r>
              <a:rPr spc="-30" dirty="0"/>
              <a:t>数据集来源</a:t>
            </a:r>
            <a:endParaRPr spc="-30" dirty="0"/>
          </a:p>
        </p:txBody>
      </p:sp>
      <p:sp>
        <p:nvSpPr>
          <p:cNvPr id="3" name="object 3"/>
          <p:cNvSpPr txBox="1">
            <a:spLocks noGrp="1"/>
          </p:cNvSpPr>
          <p:nvPr>
            <p:ph type="body" idx="1"/>
          </p:nvPr>
        </p:nvSpPr>
        <p:spPr>
          <a:prstGeom prst="rect">
            <a:avLst/>
          </a:prstGeom>
        </p:spPr>
        <p:txBody>
          <a:bodyPr vert="horz" wrap="square" lIns="0" tIns="55244" rIns="0" bIns="0" rtlCol="0">
            <a:spAutoFit/>
          </a:bodyPr>
          <a:lstStyle/>
          <a:p>
            <a:pPr marL="38100">
              <a:lnSpc>
                <a:spcPct val="100000"/>
              </a:lnSpc>
              <a:spcBef>
                <a:spcPts val="435"/>
              </a:spcBef>
            </a:pPr>
            <a:r>
              <a:rPr spc="-25" dirty="0"/>
              <a:t>本项目将使用以下公开工业退化数据集：</a:t>
            </a:r>
            <a:endParaRPr spc="-25" dirty="0"/>
          </a:p>
          <a:p>
            <a:pPr marL="313055" indent="-175260">
              <a:lnSpc>
                <a:spcPct val="100000"/>
              </a:lnSpc>
              <a:spcBef>
                <a:spcPts val="335"/>
              </a:spcBef>
              <a:buClr>
                <a:srgbClr val="004097"/>
              </a:buClr>
              <a:buFont typeface="Cambria"/>
              <a:buChar char="►"/>
              <a:tabLst>
                <a:tab pos="313055" algn="l"/>
              </a:tabLst>
            </a:pPr>
            <a:r>
              <a:rPr sz="1100" spc="-65" dirty="0">
                <a:latin typeface="Arial Black" panose="020B0A04020102020204"/>
                <a:cs typeface="Arial Black" panose="020B0A04020102020204"/>
              </a:rPr>
              <a:t>NASA</a:t>
            </a:r>
            <a:r>
              <a:rPr sz="1100" spc="50" dirty="0">
                <a:latin typeface="Arial Black" panose="020B0A04020102020204"/>
                <a:cs typeface="Arial Black" panose="020B0A04020102020204"/>
              </a:rPr>
              <a:t> </a:t>
            </a:r>
            <a:r>
              <a:rPr sz="1100" spc="-120" dirty="0">
                <a:latin typeface="Arial Black" panose="020B0A04020102020204"/>
                <a:cs typeface="Arial Black" panose="020B0A04020102020204"/>
              </a:rPr>
              <a:t>Turbofan</a:t>
            </a:r>
            <a:r>
              <a:rPr sz="1100" spc="55" dirty="0">
                <a:latin typeface="Arial Black" panose="020B0A04020102020204"/>
                <a:cs typeface="Arial Black" panose="020B0A04020102020204"/>
              </a:rPr>
              <a:t> </a:t>
            </a:r>
            <a:r>
              <a:rPr sz="1100" spc="-135" dirty="0">
                <a:latin typeface="Arial Black" panose="020B0A04020102020204"/>
                <a:cs typeface="Arial Black" panose="020B0A04020102020204"/>
              </a:rPr>
              <a:t>Engine</a:t>
            </a:r>
            <a:r>
              <a:rPr sz="1100" spc="55" dirty="0">
                <a:latin typeface="Arial Black" panose="020B0A04020102020204"/>
                <a:cs typeface="Arial Black" panose="020B0A04020102020204"/>
              </a:rPr>
              <a:t> </a:t>
            </a:r>
            <a:r>
              <a:rPr sz="1100" spc="-120" dirty="0">
                <a:latin typeface="Arial Black" panose="020B0A04020102020204"/>
                <a:cs typeface="Arial Black" panose="020B0A04020102020204"/>
              </a:rPr>
              <a:t>Degradation</a:t>
            </a:r>
            <a:r>
              <a:rPr sz="1100" spc="55" dirty="0">
                <a:latin typeface="Arial Black" panose="020B0A04020102020204"/>
                <a:cs typeface="Arial Black" panose="020B0A04020102020204"/>
              </a:rPr>
              <a:t> </a:t>
            </a:r>
            <a:r>
              <a:rPr sz="1100" spc="-20" dirty="0">
                <a:latin typeface="Arial Black" panose="020B0A04020102020204"/>
                <a:cs typeface="Arial Black" panose="020B0A04020102020204"/>
              </a:rPr>
              <a:t>Data</a:t>
            </a:r>
            <a:r>
              <a:rPr sz="1100" spc="-20" dirty="0"/>
              <a:t>（</a:t>
            </a:r>
            <a:r>
              <a:rPr sz="1100" spc="-20" dirty="0">
                <a:latin typeface="Arial MT"/>
                <a:cs typeface="Arial MT"/>
              </a:rPr>
              <a:t>UCI</a:t>
            </a:r>
            <a:r>
              <a:rPr sz="1100" spc="-20" dirty="0"/>
              <a:t>）</a:t>
            </a:r>
            <a:endParaRPr sz="1100">
              <a:latin typeface="Arial MT"/>
              <a:cs typeface="Arial MT"/>
            </a:endParaRPr>
          </a:p>
          <a:p>
            <a:pPr marL="313055" indent="-175260">
              <a:lnSpc>
                <a:spcPct val="100000"/>
              </a:lnSpc>
              <a:spcBef>
                <a:spcPts val="330"/>
              </a:spcBef>
              <a:buClr>
                <a:srgbClr val="004097"/>
              </a:buClr>
              <a:buFont typeface="Cambria"/>
              <a:buChar char="►"/>
              <a:tabLst>
                <a:tab pos="313055" algn="l"/>
              </a:tabLst>
            </a:pPr>
            <a:r>
              <a:rPr sz="1100" dirty="0">
                <a:latin typeface="Arial Black" panose="020B0A04020102020204"/>
                <a:cs typeface="Arial Black" panose="020B0A04020102020204"/>
              </a:rPr>
              <a:t>PHM</a:t>
            </a:r>
            <a:r>
              <a:rPr sz="1100" spc="-15" dirty="0">
                <a:latin typeface="Arial Black" panose="020B0A04020102020204"/>
                <a:cs typeface="Arial Black" panose="020B0A04020102020204"/>
              </a:rPr>
              <a:t> </a:t>
            </a:r>
            <a:r>
              <a:rPr sz="1100" spc="-145" dirty="0">
                <a:latin typeface="Arial Black" panose="020B0A04020102020204"/>
                <a:cs typeface="Arial Black" panose="020B0A04020102020204"/>
              </a:rPr>
              <a:t>2012</a:t>
            </a:r>
            <a:r>
              <a:rPr sz="1100" spc="30" dirty="0">
                <a:latin typeface="Arial Black" panose="020B0A04020102020204"/>
                <a:cs typeface="Arial Black" panose="020B0A04020102020204"/>
              </a:rPr>
              <a:t> </a:t>
            </a:r>
            <a:r>
              <a:rPr sz="1100" spc="-85" dirty="0">
                <a:latin typeface="Arial Black" panose="020B0A04020102020204"/>
                <a:cs typeface="Arial Black" panose="020B0A04020102020204"/>
              </a:rPr>
              <a:t>Data</a:t>
            </a:r>
            <a:r>
              <a:rPr sz="1100" spc="10" dirty="0">
                <a:latin typeface="Arial Black" panose="020B0A04020102020204"/>
                <a:cs typeface="Arial Black" panose="020B0A04020102020204"/>
              </a:rPr>
              <a:t> </a:t>
            </a:r>
            <a:r>
              <a:rPr sz="1100" spc="-40" dirty="0">
                <a:latin typeface="Arial Black" panose="020B0A04020102020204"/>
                <a:cs typeface="Arial Black" panose="020B0A04020102020204"/>
              </a:rPr>
              <a:t>Challenge</a:t>
            </a:r>
            <a:r>
              <a:rPr sz="1100" spc="-40" dirty="0"/>
              <a:t>（</a:t>
            </a:r>
            <a:r>
              <a:rPr sz="1100" spc="-40" dirty="0">
                <a:latin typeface="Arial MT"/>
                <a:cs typeface="Arial MT"/>
              </a:rPr>
              <a:t>IEEE</a:t>
            </a:r>
            <a:r>
              <a:rPr sz="1100" spc="-40" dirty="0"/>
              <a:t>）</a:t>
            </a:r>
            <a:endParaRPr sz="1100">
              <a:latin typeface="Arial MT"/>
              <a:cs typeface="Arial MT"/>
            </a:endParaRPr>
          </a:p>
          <a:p>
            <a:pPr marL="313055" indent="-175260">
              <a:lnSpc>
                <a:spcPct val="100000"/>
              </a:lnSpc>
              <a:spcBef>
                <a:spcPts val="335"/>
              </a:spcBef>
              <a:buClr>
                <a:srgbClr val="004097"/>
              </a:buClr>
              <a:buFont typeface="Cambria"/>
              <a:buChar char="►"/>
              <a:tabLst>
                <a:tab pos="313055" algn="l"/>
              </a:tabLst>
            </a:pPr>
            <a:r>
              <a:rPr sz="1100" spc="-50" dirty="0">
                <a:latin typeface="Arial Black" panose="020B0A04020102020204"/>
                <a:cs typeface="Arial Black" panose="020B0A04020102020204"/>
              </a:rPr>
              <a:t>PRONOSTIA</a:t>
            </a:r>
            <a:r>
              <a:rPr sz="1100" spc="70" dirty="0">
                <a:latin typeface="Arial Black" panose="020B0A04020102020204"/>
                <a:cs typeface="Arial Black" panose="020B0A04020102020204"/>
              </a:rPr>
              <a:t> </a:t>
            </a:r>
            <a:r>
              <a:rPr sz="1100" spc="-130" dirty="0">
                <a:latin typeface="Arial Black" panose="020B0A04020102020204"/>
                <a:cs typeface="Arial Black" panose="020B0A04020102020204"/>
              </a:rPr>
              <a:t>Bearing</a:t>
            </a:r>
            <a:r>
              <a:rPr sz="1100" spc="70" dirty="0">
                <a:latin typeface="Arial Black" panose="020B0A04020102020204"/>
                <a:cs typeface="Arial Black" panose="020B0A04020102020204"/>
              </a:rPr>
              <a:t> </a:t>
            </a:r>
            <a:r>
              <a:rPr sz="1100" spc="-55" dirty="0">
                <a:latin typeface="Arial Black" panose="020B0A04020102020204"/>
                <a:cs typeface="Arial Black" panose="020B0A04020102020204"/>
              </a:rPr>
              <a:t>Data</a:t>
            </a:r>
            <a:r>
              <a:rPr sz="1100" spc="-55" dirty="0"/>
              <a:t>（</a:t>
            </a:r>
            <a:r>
              <a:rPr sz="1100" spc="-55" dirty="0">
                <a:latin typeface="Arial MT"/>
                <a:cs typeface="Arial MT"/>
              </a:rPr>
              <a:t>FEMTO-</a:t>
            </a:r>
            <a:r>
              <a:rPr sz="1100" spc="-25" dirty="0">
                <a:latin typeface="Arial MT"/>
                <a:cs typeface="Arial MT"/>
              </a:rPr>
              <a:t>ST</a:t>
            </a:r>
            <a:r>
              <a:rPr sz="1100" spc="-25" dirty="0"/>
              <a:t>）</a:t>
            </a:r>
            <a:endParaRPr sz="1100">
              <a:latin typeface="Arial MT"/>
              <a:cs typeface="Arial MT"/>
            </a:endParaRPr>
          </a:p>
          <a:p>
            <a:pPr marL="38100">
              <a:lnSpc>
                <a:spcPct val="100000"/>
              </a:lnSpc>
              <a:spcBef>
                <a:spcPts val="1185"/>
              </a:spcBef>
            </a:pPr>
            <a:r>
              <a:rPr spc="-25" dirty="0"/>
              <a:t>各数据集均包含：</a:t>
            </a:r>
            <a:endParaRPr spc="-25" dirty="0"/>
          </a:p>
          <a:p>
            <a:pPr marL="313055" indent="-175260">
              <a:lnSpc>
                <a:spcPct val="100000"/>
              </a:lnSpc>
              <a:spcBef>
                <a:spcPts val="335"/>
              </a:spcBef>
              <a:buClr>
                <a:srgbClr val="004097"/>
              </a:buClr>
              <a:buFont typeface="Cambria"/>
              <a:buChar char="►"/>
              <a:tabLst>
                <a:tab pos="313055" algn="l"/>
              </a:tabLst>
            </a:pPr>
            <a:r>
              <a:rPr sz="1100" spc="-20" dirty="0"/>
              <a:t>多通道传感器信号（振动、温度、压力等</a:t>
            </a:r>
            <a:r>
              <a:rPr sz="1100" spc="-595" dirty="0"/>
              <a:t>）</a:t>
            </a:r>
            <a:r>
              <a:rPr sz="1100" spc="-35" dirty="0"/>
              <a:t>；</a:t>
            </a:r>
            <a:endParaRPr sz="1100"/>
          </a:p>
          <a:p>
            <a:pPr marL="313055" indent="-175260">
              <a:lnSpc>
                <a:spcPct val="100000"/>
              </a:lnSpc>
              <a:spcBef>
                <a:spcPts val="330"/>
              </a:spcBef>
              <a:buClr>
                <a:srgbClr val="004097"/>
              </a:buClr>
              <a:buFont typeface="Cambria"/>
              <a:buChar char="►"/>
              <a:tabLst>
                <a:tab pos="313055" algn="l"/>
              </a:tabLst>
            </a:pPr>
            <a:r>
              <a:rPr sz="1100" spc="-25" dirty="0"/>
              <a:t>设备运行周期与失效时间；</a:t>
            </a:r>
            <a:endParaRPr sz="1100"/>
          </a:p>
          <a:p>
            <a:pPr marL="313055" indent="-175260">
              <a:lnSpc>
                <a:spcPct val="100000"/>
              </a:lnSpc>
              <a:spcBef>
                <a:spcPts val="335"/>
              </a:spcBef>
              <a:buClr>
                <a:srgbClr val="004097"/>
              </a:buClr>
              <a:buFont typeface="Cambria"/>
              <a:buChar char="►"/>
              <a:tabLst>
                <a:tab pos="313055" algn="l"/>
              </a:tabLst>
            </a:pPr>
            <a:r>
              <a:rPr sz="1100" spc="-25" dirty="0"/>
              <a:t>适合进行退化趋势建模与寿命分析。</a:t>
            </a:r>
            <a:endParaRPr sz="110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71894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FFFFFF"/>
                </a:solidFill>
                <a:latin typeface="Lucida Sans Unicode"/>
                <a:cs typeface="Lucida Sans Unicode"/>
              </a:rPr>
              <a:t>RUL</a:t>
            </a:r>
            <a:r>
              <a:rPr sz="1200" spc="5" dirty="0">
                <a:solidFill>
                  <a:srgbClr val="FFFFFF"/>
                </a:solidFill>
                <a:latin typeface="Lucida Sans Unicode"/>
                <a:cs typeface="Lucida Sans Unicode"/>
              </a:rPr>
              <a:t> </a:t>
            </a:r>
            <a:r>
              <a:rPr sz="1200" spc="-25" dirty="0">
                <a:solidFill>
                  <a:srgbClr val="FFFFFF"/>
                </a:solidFill>
                <a:latin typeface="宋体"/>
                <a:cs typeface="宋体"/>
              </a:rPr>
              <a:t>与生存分析模型对比</a:t>
            </a:r>
            <a:endParaRPr sz="1200">
              <a:latin typeface="宋体"/>
              <a:cs typeface="宋体"/>
            </a:endParaRPr>
          </a:p>
        </p:txBody>
      </p:sp>
      <p:graphicFrame>
        <p:nvGraphicFramePr>
          <p:cNvPr id="3" name="object 3"/>
          <p:cNvGraphicFramePr>
            <a:graphicFrameLocks noGrp="1"/>
          </p:cNvGraphicFramePr>
          <p:nvPr/>
        </p:nvGraphicFramePr>
        <p:xfrm>
          <a:off x="932634" y="891778"/>
          <a:ext cx="3971290" cy="1403350"/>
        </p:xfrm>
        <a:graphic>
          <a:graphicData uri="http://schemas.openxmlformats.org/drawingml/2006/table">
            <a:tbl>
              <a:tblPr firstRow="1" bandRow="1">
                <a:tableStyleId>{2D5ABB26-0587-4C30-8999-92F81FD0307C}</a:tableStyleId>
              </a:tblPr>
              <a:tblGrid>
                <a:gridCol w="706120"/>
                <a:gridCol w="1591945"/>
                <a:gridCol w="1591944"/>
              </a:tblGrid>
              <a:tr h="176530">
                <a:tc>
                  <a:txBody>
                    <a:bodyPr/>
                    <a:lstStyle/>
                    <a:p>
                      <a:pPr marL="75565">
                        <a:lnSpc>
                          <a:spcPts val="1190"/>
                        </a:lnSpc>
                      </a:pPr>
                      <a:r>
                        <a:rPr sz="1100" b="1" spc="-30" dirty="0">
                          <a:latin typeface="Microsoft JhengHei"/>
                          <a:cs typeface="Microsoft JhengHei"/>
                        </a:rPr>
                        <a:t>比较维度</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85" dirty="0">
                          <a:latin typeface="Arial Black" panose="020B0A04020102020204"/>
                          <a:cs typeface="Arial Black" panose="020B0A04020102020204"/>
                        </a:rPr>
                        <a:t>RUL</a:t>
                      </a:r>
                      <a:r>
                        <a:rPr sz="1100" spc="35" dirty="0">
                          <a:latin typeface="Arial Black" panose="020B0A04020102020204"/>
                          <a:cs typeface="Arial Black" panose="020B0A04020102020204"/>
                        </a:rPr>
                        <a:t> </a:t>
                      </a:r>
                      <a:r>
                        <a:rPr sz="1100" b="1" spc="-30" dirty="0">
                          <a:latin typeface="Microsoft JhengHei"/>
                          <a:cs typeface="Microsoft JhengHei"/>
                        </a:rPr>
                        <a:t>预测模型</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b="1" spc="-25" dirty="0">
                          <a:latin typeface="Microsoft JhengHei"/>
                          <a:cs typeface="Microsoft JhengHei"/>
                        </a:rPr>
                        <a:t>生存分析模型</a:t>
                      </a:r>
                      <a:endParaRPr sz="1100">
                        <a:latin typeface="Microsoft JhengHei"/>
                        <a:cs typeface="Microsoft JhengHei"/>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输出形式</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0" dirty="0">
                          <a:latin typeface="宋体"/>
                          <a:cs typeface="宋体"/>
                        </a:rPr>
                        <a:t>剩余寿命值（时间</a:t>
                      </a:r>
                      <a:r>
                        <a:rPr sz="1100" spc="-50" dirty="0">
                          <a:latin typeface="宋体"/>
                          <a:cs typeface="宋体"/>
                        </a:rPr>
                        <a:t>）</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50" dirty="0">
                          <a:latin typeface="宋体"/>
                          <a:cs typeface="宋体"/>
                        </a:rPr>
                        <a:t>生存概率 </a:t>
                      </a:r>
                      <a:r>
                        <a:rPr sz="1100" spc="160" dirty="0">
                          <a:latin typeface="Arial MT"/>
                          <a:cs typeface="Arial MT"/>
                        </a:rPr>
                        <a:t>/ </a:t>
                      </a:r>
                      <a:r>
                        <a:rPr sz="1100" spc="-30" dirty="0">
                          <a:latin typeface="宋体"/>
                          <a:cs typeface="宋体"/>
                        </a:rPr>
                        <a:t>风险率</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适用数据</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5" dirty="0">
                          <a:latin typeface="宋体"/>
                          <a:cs typeface="宋体"/>
                        </a:rPr>
                        <a:t>完整退化样本</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30" dirty="0">
                          <a:latin typeface="宋体"/>
                          <a:cs typeface="宋体"/>
                        </a:rPr>
                        <a:t>含删失样本</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48615">
                <a:tc>
                  <a:txBody>
                    <a:bodyPr/>
                    <a:lstStyle/>
                    <a:p>
                      <a:pPr marL="75565">
                        <a:lnSpc>
                          <a:spcPts val="1190"/>
                        </a:lnSpc>
                      </a:pPr>
                      <a:r>
                        <a:rPr sz="1100" spc="-35" dirty="0">
                          <a:latin typeface="宋体"/>
                          <a:cs typeface="宋体"/>
                        </a:rPr>
                        <a:t>优势</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5" dirty="0">
                          <a:latin typeface="宋体"/>
                          <a:cs typeface="宋体"/>
                        </a:rPr>
                        <a:t>直观、预测精度高</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20" dirty="0">
                          <a:latin typeface="宋体"/>
                          <a:cs typeface="宋体"/>
                        </a:rPr>
                        <a:t>处理删失样本</a:t>
                      </a:r>
                      <a:r>
                        <a:rPr sz="1100" spc="-165" dirty="0">
                          <a:latin typeface="宋体"/>
                          <a:cs typeface="宋体"/>
                        </a:rPr>
                        <a:t>、可解释性</a:t>
                      </a:r>
                      <a:endParaRPr sz="1100">
                        <a:latin typeface="宋体"/>
                        <a:cs typeface="宋体"/>
                      </a:endParaRPr>
                    </a:p>
                    <a:p>
                      <a:pPr marL="75565">
                        <a:lnSpc>
                          <a:spcPct val="100000"/>
                        </a:lnSpc>
                        <a:spcBef>
                          <a:spcPts val="35"/>
                        </a:spcBef>
                      </a:pPr>
                      <a:r>
                        <a:rPr sz="1100" spc="-50" dirty="0">
                          <a:latin typeface="宋体"/>
                          <a:cs typeface="宋体"/>
                        </a:rPr>
                        <a:t>强</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48615">
                <a:tc>
                  <a:txBody>
                    <a:bodyPr/>
                    <a:lstStyle/>
                    <a:p>
                      <a:pPr marL="75565">
                        <a:lnSpc>
                          <a:spcPts val="1190"/>
                        </a:lnSpc>
                      </a:pPr>
                      <a:r>
                        <a:rPr sz="1100" spc="-30" dirty="0">
                          <a:latin typeface="宋体"/>
                          <a:cs typeface="宋体"/>
                        </a:rPr>
                        <a:t>常用模型</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dirty="0">
                          <a:latin typeface="Arial MT"/>
                          <a:cs typeface="Arial MT"/>
                        </a:rPr>
                        <a:t>LSTM,</a:t>
                      </a:r>
                      <a:r>
                        <a:rPr sz="1100" spc="25" dirty="0">
                          <a:latin typeface="Arial MT"/>
                          <a:cs typeface="Arial MT"/>
                        </a:rPr>
                        <a:t> </a:t>
                      </a:r>
                      <a:r>
                        <a:rPr sz="1100" spc="-30" dirty="0">
                          <a:latin typeface="Arial MT"/>
                          <a:cs typeface="Arial MT"/>
                        </a:rPr>
                        <a:t>XGBoost,</a:t>
                      </a:r>
                      <a:r>
                        <a:rPr sz="1100" spc="35" dirty="0">
                          <a:latin typeface="Arial MT"/>
                          <a:cs typeface="Arial MT"/>
                        </a:rPr>
                        <a:t> </a:t>
                      </a:r>
                      <a:r>
                        <a:rPr sz="1100" spc="-10" dirty="0">
                          <a:latin typeface="Arial MT"/>
                          <a:cs typeface="Arial MT"/>
                        </a:rPr>
                        <a:t>Trans-</a:t>
                      </a:r>
                      <a:endParaRPr sz="1100">
                        <a:latin typeface="Arial MT"/>
                        <a:cs typeface="Arial MT"/>
                      </a:endParaRPr>
                    </a:p>
                    <a:p>
                      <a:pPr marL="75565">
                        <a:lnSpc>
                          <a:spcPct val="100000"/>
                        </a:lnSpc>
                        <a:spcBef>
                          <a:spcPts val="35"/>
                        </a:spcBef>
                      </a:pPr>
                      <a:r>
                        <a:rPr sz="1100" spc="-10" dirty="0">
                          <a:latin typeface="Arial MT"/>
                          <a:cs typeface="Arial MT"/>
                        </a:rPr>
                        <a:t>former</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45" dirty="0">
                          <a:latin typeface="Arial MT"/>
                          <a:cs typeface="Arial MT"/>
                        </a:rPr>
                        <a:t>Cox,</a:t>
                      </a:r>
                      <a:r>
                        <a:rPr sz="1100" spc="-25" dirty="0">
                          <a:latin typeface="Arial MT"/>
                          <a:cs typeface="Arial MT"/>
                        </a:rPr>
                        <a:t> </a:t>
                      </a:r>
                      <a:r>
                        <a:rPr sz="1100" spc="-60" dirty="0">
                          <a:latin typeface="Arial MT"/>
                          <a:cs typeface="Arial MT"/>
                        </a:rPr>
                        <a:t>RSF,</a:t>
                      </a:r>
                      <a:r>
                        <a:rPr sz="1100" spc="-15" dirty="0">
                          <a:latin typeface="Arial MT"/>
                          <a:cs typeface="Arial MT"/>
                        </a:rPr>
                        <a:t> </a:t>
                      </a:r>
                      <a:r>
                        <a:rPr sz="1100" spc="-10" dirty="0">
                          <a:latin typeface="Arial MT"/>
                          <a:cs typeface="Arial MT"/>
                        </a:rPr>
                        <a:t>DeepSurv</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76530">
                <a:tc>
                  <a:txBody>
                    <a:bodyPr/>
                    <a:lstStyle/>
                    <a:p>
                      <a:pPr marL="75565">
                        <a:lnSpc>
                          <a:spcPts val="1190"/>
                        </a:lnSpc>
                      </a:pPr>
                      <a:r>
                        <a:rPr sz="1100" spc="-30" dirty="0">
                          <a:latin typeface="宋体"/>
                          <a:cs typeface="宋体"/>
                        </a:rPr>
                        <a:t>评价指标</a:t>
                      </a:r>
                      <a:endParaRPr sz="1100">
                        <a:latin typeface="宋体"/>
                        <a:cs typeface="宋体"/>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40" dirty="0">
                          <a:latin typeface="Arial MT"/>
                          <a:cs typeface="Arial MT"/>
                        </a:rPr>
                        <a:t>RMSE,</a:t>
                      </a:r>
                      <a:r>
                        <a:rPr sz="1100" spc="-25" dirty="0">
                          <a:latin typeface="Arial MT"/>
                          <a:cs typeface="Arial MT"/>
                        </a:rPr>
                        <a:t> MAE</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190"/>
                        </a:lnSpc>
                      </a:pPr>
                      <a:r>
                        <a:rPr sz="1100" spc="-60" dirty="0">
                          <a:latin typeface="Arial MT"/>
                          <a:cs typeface="Arial MT"/>
                        </a:rPr>
                        <a:t>C-</a:t>
                      </a:r>
                      <a:r>
                        <a:rPr sz="1100" spc="-30" dirty="0">
                          <a:latin typeface="Arial MT"/>
                          <a:cs typeface="Arial MT"/>
                        </a:rPr>
                        <a:t>index,</a:t>
                      </a:r>
                      <a:r>
                        <a:rPr sz="1100" spc="-35" dirty="0">
                          <a:latin typeface="Arial MT"/>
                          <a:cs typeface="Arial MT"/>
                        </a:rPr>
                        <a:t> </a:t>
                      </a:r>
                      <a:r>
                        <a:rPr sz="1100" spc="-10" dirty="0">
                          <a:latin typeface="Arial MT"/>
                          <a:cs typeface="Arial MT"/>
                        </a:rPr>
                        <a:t>IBS,</a:t>
                      </a:r>
                      <a:r>
                        <a:rPr sz="1100" spc="-30" dirty="0">
                          <a:latin typeface="Arial MT"/>
                          <a:cs typeface="Arial MT"/>
                        </a:rPr>
                        <a:t> </a:t>
                      </a:r>
                      <a:r>
                        <a:rPr sz="1100" spc="-25" dirty="0">
                          <a:latin typeface="Arial MT"/>
                          <a:cs typeface="Arial MT"/>
                        </a:rPr>
                        <a:t>AUC</a:t>
                      </a:r>
                      <a:endParaRPr sz="1100">
                        <a:latin typeface="Arial MT"/>
                        <a:cs typeface="Arial MT"/>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预期成果与工作</a:t>
            </a:r>
            <a:endParaRPr sz="1200">
              <a:latin typeface="宋体"/>
              <a:cs typeface="宋体"/>
            </a:endParaRPr>
          </a:p>
        </p:txBody>
      </p:sp>
      <p:sp>
        <p:nvSpPr>
          <p:cNvPr id="3" name="object 3"/>
          <p:cNvSpPr txBox="1"/>
          <p:nvPr/>
        </p:nvSpPr>
        <p:spPr>
          <a:xfrm>
            <a:off x="321894" y="587493"/>
            <a:ext cx="3540125" cy="902335"/>
          </a:xfrm>
          <a:prstGeom prst="rect">
            <a:avLst/>
          </a:prstGeom>
        </p:spPr>
        <p:txBody>
          <a:bodyPr vert="horz" wrap="square" lIns="0" tIns="68580" rIns="0" bIns="0" rtlCol="0">
            <a:spAutoFit/>
          </a:bodyPr>
          <a:lstStyle/>
          <a:p>
            <a:pPr marL="38100">
              <a:lnSpc>
                <a:spcPct val="100000"/>
              </a:lnSpc>
              <a:spcBef>
                <a:spcPts val="540"/>
              </a:spcBef>
            </a:pPr>
            <a:r>
              <a:rPr sz="1200" spc="-30" dirty="0">
                <a:latin typeface="宋体"/>
                <a:cs typeface="宋体"/>
              </a:rPr>
              <a:t>预期成果</a:t>
            </a:r>
            <a:endParaRPr sz="1200">
              <a:latin typeface="宋体"/>
              <a:cs typeface="宋体"/>
            </a:endParaRPr>
          </a:p>
          <a:p>
            <a:pPr marL="313055" indent="-175260">
              <a:lnSpc>
                <a:spcPct val="100000"/>
              </a:lnSpc>
              <a:spcBef>
                <a:spcPts val="395"/>
              </a:spcBef>
              <a:buClr>
                <a:srgbClr val="004097"/>
              </a:buClr>
              <a:buFont typeface="Cambria"/>
              <a:buChar char="►"/>
              <a:tabLst>
                <a:tab pos="313055" algn="l"/>
              </a:tabLst>
            </a:pPr>
            <a:r>
              <a:rPr sz="1100" spc="-25" dirty="0">
                <a:latin typeface="宋体"/>
                <a:cs typeface="宋体"/>
              </a:rPr>
              <a:t>构建了时间序列回归与生存分析两种寿命预测框架；</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通过多数据集验证不同方法的适用性；</a:t>
            </a:r>
            <a:endParaRPr sz="1100">
              <a:latin typeface="宋体"/>
              <a:cs typeface="宋体"/>
            </a:endParaRPr>
          </a:p>
          <a:p>
            <a:pPr marL="313055" indent="-175260">
              <a:lnSpc>
                <a:spcPct val="100000"/>
              </a:lnSpc>
              <a:spcBef>
                <a:spcPts val="335"/>
              </a:spcBef>
              <a:buClr>
                <a:srgbClr val="004097"/>
              </a:buClr>
              <a:buFont typeface="Cambria"/>
              <a:buChar char="►"/>
              <a:tabLst>
                <a:tab pos="313055" algn="l"/>
              </a:tabLst>
            </a:pPr>
            <a:r>
              <a:rPr sz="1100" spc="-25" dirty="0">
                <a:latin typeface="宋体"/>
                <a:cs typeface="宋体"/>
              </a:rPr>
              <a:t>结果可为设备预防性维护提供决策支持。</a:t>
            </a:r>
            <a:endParaRPr sz="1100">
              <a:latin typeface="宋体"/>
              <a:cs typeface="宋体"/>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1088390" cy="207645"/>
          </a:xfrm>
          <a:prstGeom prst="rect">
            <a:avLst/>
          </a:prstGeom>
        </p:spPr>
        <p:txBody>
          <a:bodyPr vert="horz" wrap="square" lIns="0" tIns="12065" rIns="0" bIns="0" rtlCol="0">
            <a:spAutoFit/>
          </a:bodyPr>
          <a:lstStyle/>
          <a:p>
            <a:pPr marL="12700">
              <a:lnSpc>
                <a:spcPct val="100000"/>
              </a:lnSpc>
              <a:spcBef>
                <a:spcPts val="95"/>
              </a:spcBef>
            </a:pPr>
            <a:r>
              <a:rPr sz="1200" spc="-25" dirty="0">
                <a:solidFill>
                  <a:srgbClr val="FFFFFF"/>
                </a:solidFill>
                <a:latin typeface="宋体"/>
                <a:cs typeface="宋体"/>
              </a:rPr>
              <a:t>预期成果与工作</a:t>
            </a:r>
            <a:endParaRPr sz="1200">
              <a:latin typeface="宋体"/>
              <a:cs typeface="宋体"/>
            </a:endParaRPr>
          </a:p>
        </p:txBody>
      </p:sp>
      <p:sp>
        <p:nvSpPr>
          <p:cNvPr id="3" name="object 3"/>
          <p:cNvSpPr txBox="1"/>
          <p:nvPr/>
        </p:nvSpPr>
        <p:spPr>
          <a:xfrm>
            <a:off x="309194" y="587493"/>
            <a:ext cx="3703954" cy="2087245"/>
          </a:xfrm>
          <a:prstGeom prst="rect">
            <a:avLst/>
          </a:prstGeom>
        </p:spPr>
        <p:txBody>
          <a:bodyPr vert="horz" wrap="square" lIns="0" tIns="68580" rIns="0" bIns="0" rtlCol="0">
            <a:spAutoFit/>
          </a:bodyPr>
          <a:lstStyle/>
          <a:p>
            <a:pPr marL="50800">
              <a:lnSpc>
                <a:spcPct val="100000"/>
              </a:lnSpc>
              <a:spcBef>
                <a:spcPts val="540"/>
              </a:spcBef>
            </a:pPr>
            <a:r>
              <a:rPr sz="1200" spc="-30" dirty="0">
                <a:latin typeface="宋体"/>
                <a:cs typeface="宋体"/>
              </a:rPr>
              <a:t>预期成果</a:t>
            </a:r>
            <a:endParaRPr sz="1200">
              <a:latin typeface="宋体"/>
              <a:cs typeface="宋体"/>
            </a:endParaRPr>
          </a:p>
          <a:p>
            <a:pPr marL="325755" indent="-175260">
              <a:lnSpc>
                <a:spcPct val="100000"/>
              </a:lnSpc>
              <a:spcBef>
                <a:spcPts val="395"/>
              </a:spcBef>
              <a:buClr>
                <a:srgbClr val="004097"/>
              </a:buClr>
              <a:buFont typeface="Cambria"/>
              <a:buChar char="►"/>
              <a:tabLst>
                <a:tab pos="325755" algn="l"/>
              </a:tabLst>
            </a:pPr>
            <a:r>
              <a:rPr sz="1100" spc="-25" dirty="0">
                <a:latin typeface="宋体"/>
                <a:cs typeface="宋体"/>
              </a:rPr>
              <a:t>构建了时间序列回归与生存分析两种寿命预测框架；</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通过多数据集验证不同方法的适用性；</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结果可为设备预防性维护提供决策支持。</a:t>
            </a:r>
            <a:endParaRPr sz="1100">
              <a:latin typeface="宋体"/>
              <a:cs typeface="宋体"/>
            </a:endParaRPr>
          </a:p>
          <a:p>
            <a:pPr marL="50800">
              <a:lnSpc>
                <a:spcPct val="100000"/>
              </a:lnSpc>
              <a:spcBef>
                <a:spcPts val="1220"/>
              </a:spcBef>
            </a:pPr>
            <a:r>
              <a:rPr sz="1200" spc="-35" dirty="0">
                <a:latin typeface="宋体"/>
                <a:cs typeface="宋体"/>
              </a:rPr>
              <a:t>工作</a:t>
            </a:r>
            <a:endParaRPr sz="1200">
              <a:latin typeface="宋体"/>
              <a:cs typeface="宋体"/>
            </a:endParaRPr>
          </a:p>
          <a:p>
            <a:pPr marL="325755" indent="-175260">
              <a:lnSpc>
                <a:spcPct val="100000"/>
              </a:lnSpc>
              <a:spcBef>
                <a:spcPts val="385"/>
              </a:spcBef>
              <a:buClr>
                <a:srgbClr val="004097"/>
              </a:buClr>
              <a:buFont typeface="Cambria"/>
              <a:buChar char="►"/>
              <a:tabLst>
                <a:tab pos="325755" algn="l"/>
              </a:tabLst>
            </a:pPr>
            <a:r>
              <a:rPr sz="1100" spc="-25" dirty="0">
                <a:latin typeface="宋体"/>
                <a:cs typeface="宋体"/>
              </a:rPr>
              <a:t>实现数据集、模型、任务和训练器的高度模块化；</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30" dirty="0">
                <a:latin typeface="宋体"/>
                <a:cs typeface="宋体"/>
              </a:rPr>
              <a:t>整合多种经典与前沿的工业设备 </a:t>
            </a:r>
            <a:r>
              <a:rPr sz="1100" spc="-25" dirty="0">
                <a:latin typeface="Arial MT"/>
                <a:cs typeface="Arial MT"/>
              </a:rPr>
              <a:t>RUL</a:t>
            </a:r>
            <a:r>
              <a:rPr sz="1100" spc="80" dirty="0">
                <a:latin typeface="Arial MT"/>
                <a:cs typeface="Arial MT"/>
              </a:rPr>
              <a:t> </a:t>
            </a:r>
            <a:r>
              <a:rPr sz="1100" spc="-30" dirty="0">
                <a:latin typeface="宋体"/>
                <a:cs typeface="宋体"/>
              </a:rPr>
              <a:t>数据集；</a:t>
            </a:r>
            <a:endParaRPr sz="1100">
              <a:latin typeface="宋体"/>
              <a:cs typeface="宋体"/>
            </a:endParaRPr>
          </a:p>
          <a:p>
            <a:pPr marL="325755" indent="-175260">
              <a:lnSpc>
                <a:spcPct val="100000"/>
              </a:lnSpc>
              <a:spcBef>
                <a:spcPts val="335"/>
              </a:spcBef>
              <a:buClr>
                <a:srgbClr val="004097"/>
              </a:buClr>
              <a:buFont typeface="Cambria"/>
              <a:buChar char="►"/>
              <a:tabLst>
                <a:tab pos="325755" algn="l"/>
              </a:tabLst>
            </a:pPr>
            <a:r>
              <a:rPr sz="1100" spc="-25" dirty="0">
                <a:latin typeface="宋体"/>
                <a:cs typeface="宋体"/>
              </a:rPr>
              <a:t>集成专业可视化工具模块服务数据分析；</a:t>
            </a:r>
            <a:endParaRPr sz="1100">
              <a:latin typeface="宋体"/>
              <a:cs typeface="宋体"/>
            </a:endParaRPr>
          </a:p>
          <a:p>
            <a:pPr marL="325755" indent="-175260">
              <a:lnSpc>
                <a:spcPct val="100000"/>
              </a:lnSpc>
              <a:spcBef>
                <a:spcPts val="330"/>
              </a:spcBef>
              <a:buClr>
                <a:srgbClr val="004097"/>
              </a:buClr>
              <a:buFont typeface="Cambria"/>
              <a:buChar char="►"/>
              <a:tabLst>
                <a:tab pos="325755" algn="l"/>
              </a:tabLst>
            </a:pPr>
            <a:r>
              <a:rPr sz="1100" spc="-25" dirty="0">
                <a:latin typeface="宋体"/>
                <a:cs typeface="宋体"/>
              </a:rPr>
              <a:t>多种回归模型和生存模型支持，统一接口，方便训练。</a:t>
            </a:r>
            <a:endParaRPr sz="1100">
              <a:latin typeface="宋体"/>
              <a:cs typeface="宋体"/>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5872"/>
            <a:ext cx="329565" cy="207645"/>
          </a:xfrm>
          <a:prstGeom prst="rect">
            <a:avLst/>
          </a:prstGeom>
        </p:spPr>
        <p:txBody>
          <a:bodyPr vert="horz" wrap="square" lIns="0" tIns="12065" rIns="0" bIns="0" rtlCol="0">
            <a:spAutoFit/>
          </a:bodyPr>
          <a:lstStyle/>
          <a:p>
            <a:pPr marL="12700">
              <a:lnSpc>
                <a:spcPct val="100000"/>
              </a:lnSpc>
              <a:spcBef>
                <a:spcPts val="95"/>
              </a:spcBef>
            </a:pPr>
            <a:r>
              <a:rPr sz="1200" spc="-35" dirty="0">
                <a:solidFill>
                  <a:srgbClr val="FFFFFF"/>
                </a:solidFill>
                <a:latin typeface="宋体"/>
                <a:cs typeface="宋体"/>
              </a:rPr>
              <a:t>致谢</a:t>
            </a:r>
            <a:endParaRPr sz="1200">
              <a:latin typeface="宋体"/>
              <a:cs typeface="宋体"/>
            </a:endParaRPr>
          </a:p>
        </p:txBody>
      </p:sp>
      <p:sp>
        <p:nvSpPr>
          <p:cNvPr id="3" name="object 3"/>
          <p:cNvSpPr txBox="1"/>
          <p:nvPr/>
        </p:nvSpPr>
        <p:spPr>
          <a:xfrm>
            <a:off x="2503081" y="1317026"/>
            <a:ext cx="970280" cy="403225"/>
          </a:xfrm>
          <a:prstGeom prst="rect">
            <a:avLst/>
          </a:prstGeom>
        </p:spPr>
        <p:txBody>
          <a:bodyPr vert="horz" wrap="square" lIns="0" tIns="15875" rIns="0" bIns="0" rtlCol="0">
            <a:spAutoFit/>
          </a:bodyPr>
          <a:lstStyle/>
          <a:p>
            <a:pPr marL="12700">
              <a:lnSpc>
                <a:spcPct val="100000"/>
              </a:lnSpc>
              <a:spcBef>
                <a:spcPts val="125"/>
              </a:spcBef>
            </a:pPr>
            <a:r>
              <a:rPr sz="2450" spc="-20" dirty="0">
                <a:latin typeface="宋体"/>
                <a:cs typeface="宋体"/>
              </a:rPr>
              <a:t>谢谢！</a:t>
            </a:r>
            <a:endParaRPr sz="2450">
              <a:latin typeface="宋体"/>
              <a:cs typeface="宋体"/>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4097"/>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1504</Words>
  <Application>WPS 演示</Application>
  <PresentationFormat>On-screen Show (4:3)</PresentationFormat>
  <Paragraphs>142</Paragraphs>
  <Slides>12</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12</vt:i4>
      </vt:variant>
    </vt:vector>
  </HeadingPairs>
  <TitlesOfParts>
    <vt:vector size="43" baseType="lpstr">
      <vt:lpstr>Arial</vt:lpstr>
      <vt:lpstr>宋体</vt:lpstr>
      <vt:lpstr>Wingdings</vt:lpstr>
      <vt:lpstr>宋体</vt:lpstr>
      <vt:lpstr>汉仪书宋二KW</vt:lpstr>
      <vt:lpstr>Arial MT</vt:lpstr>
      <vt:lpstr>Lucida Sans Unicode</vt:lpstr>
      <vt:lpstr>Cambria</vt:lpstr>
      <vt:lpstr>Microsoft JhengHei</vt:lpstr>
      <vt:lpstr>Arial Black</vt:lpstr>
      <vt:lpstr>Thonburi</vt:lpstr>
      <vt:lpstr>Times New Roman</vt:lpstr>
      <vt:lpstr>Calibri</vt:lpstr>
      <vt:lpstr>Franklin Gothic Medium</vt:lpstr>
      <vt:lpstr>Georgia</vt:lpstr>
      <vt:lpstr>宋体</vt:lpstr>
      <vt:lpstr>Helvetica Neue</vt:lpstr>
      <vt:lpstr>微软雅黑</vt:lpstr>
      <vt:lpstr>汉仪旗黑</vt:lpstr>
      <vt:lpstr>Arial Unicode MS</vt:lpstr>
      <vt:lpstr>汉仪中简黑简</vt:lpstr>
      <vt:lpstr>Arial Black</vt:lpstr>
      <vt:lpstr>Arial MT</vt:lpstr>
      <vt:lpstr>Cambria</vt:lpstr>
      <vt:lpstr>Franklin Gothic Medium</vt:lpstr>
      <vt:lpstr>Georgia</vt:lpstr>
      <vt:lpstr>Lucida Sans Unicode</vt:lpstr>
      <vt:lpstr>Microsoft JhengHei</vt:lpstr>
      <vt:lpstr>Times New Roman</vt:lpstr>
      <vt:lpstr>苹方-简</vt:lpstr>
      <vt:lpstr>Office Theme</vt:lpstr>
      <vt:lpstr>指导老师：翟建芳汇报人：周逸进</vt:lpstr>
      <vt:lpstr>PowerPoint 演示文稿</vt:lpstr>
      <vt:lpstr>研究背景</vt:lpstr>
      <vt:lpstr>PowerPoint 演示文稿</vt:lpstr>
      <vt:lpstr>PowerPoint 演示文稿</vt:lpstr>
      <vt:lpstr>RUL 预测方法思路</vt:lpstr>
      <vt:lpstr>PowerPoint 演示文稿</vt:lpstr>
      <vt:lpstr>数据集来源</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指导老师：翟建芳汇报人：周逸进</dc:title>
  <dc:creator>指导老师：翟建芳  汇报人：周逸进  小组成员：周逸进，朱德豪，邹扬，蔡祎珏 </dc:creator>
  <cp:lastModifiedBy>周逸进</cp:lastModifiedBy>
  <cp:revision>2</cp:revision>
  <dcterms:created xsi:type="dcterms:W3CDTF">2026-03-12T15:17:37Z</dcterms:created>
  <dcterms:modified xsi:type="dcterms:W3CDTF">2026-03-12T15:17:37Z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2025-10-27T08:00:00Z</vt:filetime>
  </property>
  <property fmtid="{D5CDD505-2E9C-101B-9397-08002B2CF9AE}" pid="3" name="Creator">
    <vt:lpwstr>LaTeX with Beamer class</vt:lpwstr>
  </property>
  <property fmtid="{D5CDD505-2E9C-101B-9397-08002B2CF9AE}" pid="4" name="Producer">
    <vt:lpwstr>xdvipdfmx (20250410)</vt:lpwstr>
  </property>
  <property fmtid="{D5CDD505-2E9C-101B-9397-08002B2CF9AE}" pid="5" name="LastSaved">
    <vt:filetime>2025-10-27T08:00:00Z</vt:filetime>
  </property>
  <property fmtid="{D5CDD505-2E9C-101B-9397-08002B2CF9AE}" pid="6" name="ICV">
    <vt:lpwstr>875AB5A32ED06C9F0DD9B2696733843B_42</vt:lpwstr>
  </property>
  <property fmtid="{D5CDD505-2E9C-101B-9397-08002B2CF9AE}" pid="7" name="KSOProductBuildVer">
    <vt:lpwstr>2052-12.1.23540.23540</vt:lpwstr>
  </property>
</Properties>
</file>