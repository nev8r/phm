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5765800" cy="324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868680"/>
            <a:ext cx="1965960" cy="1965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417320"/>
            <a:ext cx="1143000" cy="1143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ingFang SC"/>
              </a:rPr>
              <a:t>工业轴承故障预测系统的实现</a:t>
            </a:r>
          </a:p>
          <a:p>
            <a:r>
              <a:rPr sz="3000" b="1">
                <a:solidFill>
                  <a:srgbClr val="FFFFFF"/>
                </a:solidFill>
                <a:latin typeface="PingFang SC"/>
              </a:rPr>
              <a:t>软件工程课程中期检查汇报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BFDBFE"/>
                </a:solidFill>
                <a:latin typeface="PingFang SC"/>
              </a:rPr>
              <a:t>从开题方案进入工程落地：数据、训练、测试与文档已经形成闭环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PingFang SC"/>
              </a:rPr>
              <a:t>指导老师：zjf</a:t>
            </a:r>
          </a:p>
          <a:p>
            <a:r>
              <a:rPr sz="1600">
                <a:solidFill>
                  <a:srgbClr val="E2E8F0"/>
                </a:solidFill>
                <a:latin typeface="PingFang SC"/>
              </a:rPr>
              <a:t>汇报人：周逸进</a:t>
            </a:r>
          </a:p>
          <a:p>
            <a:r>
              <a:rPr sz="1600">
                <a:solidFill>
                  <a:srgbClr val="E2E8F0"/>
                </a:solidFill>
                <a:latin typeface="PingFang SC"/>
              </a:rPr>
              <a:t>小组成员：zyj、cyj、zdh、zy</a:t>
            </a:r>
          </a:p>
          <a:p>
            <a:r>
              <a:rPr sz="1600">
                <a:solidFill>
                  <a:srgbClr val="E2E8F0"/>
                </a:solidFill>
                <a:latin typeface="PingFang SC"/>
              </a:rPr>
              <a:t>中国科学技术大学 软件学院 | 2026 年 3 月 13 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06440"/>
            <a:ext cx="2971800" cy="47548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92531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PingFang SC"/>
              </a:rPr>
              <a:t>关键词：真实数据 | 模块化框架 | 可复现实验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Mid-Term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9728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01 项目定位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3736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目标回顾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当前阶段位置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10972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02 已完成工作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73736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工程框架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数据与模型进展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2344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234440"/>
            <a:ext cx="10972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03 结果与验证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73736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真实数据 smoke test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自动化测试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10972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27523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2626"/>
                </a:solidFill>
                <a:latin typeface="PingFang SC"/>
              </a:rPr>
              <a:t>04 当前问题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10896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风险点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应对措施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6060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2606040"/>
            <a:ext cx="109728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7523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PingFang SC"/>
              </a:rPr>
              <a:t>05 后续计划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10896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第 7-8 周安排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答辩准备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26060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2606040"/>
            <a:ext cx="109728" cy="1097280"/>
          </a:xfrm>
          <a:prstGeom prst="rect">
            <a:avLst/>
          </a:prstGeom>
          <a:solidFill>
            <a:srgbClr val="5FA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27523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5FA8D3"/>
                </a:solidFill>
                <a:latin typeface="PingFang SC"/>
              </a:rPr>
              <a:t>06 团队协作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10896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分工状态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中期结论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2519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11827"/>
                </a:solidFill>
                <a:latin typeface="PingFang SC"/>
              </a:rPr>
              <a:t>本次中期汇报沿用开题稿的结构节奏，但内容已经从“方案设计”切换到“工程落地与阶段验证”。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11827"/>
                </a:solidFill>
                <a:latin typeface="PingFang SC"/>
              </a:rPr>
              <a:t>重点展示：真实数据接入、多模型训练链路、回调与实验记录、文档交付体系、当前剩余风险。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项目目标回顾与当前阶段定位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What We Planned vs. Where We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657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80744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开题阶段承诺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33101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统一支持 XJTU-SY 与 PHM2012 / FEMTO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构建可扩展的预测框架，而不是单脚本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支持 RUL、阶段分析、可视化与实验记录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10972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38074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当前阶段位置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37360"/>
            <a:ext cx="28986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需求与设计基线已成型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核心数据链路与训练主链路已打通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文档体系和 PDF 交付已完成重组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3444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34440"/>
            <a:ext cx="109728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38074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中期核心判断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1737360"/>
            <a:ext cx="32644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项目已经从“方案论证”进入“结果整合”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目前重点不在于再开新坑，而在于收口、稳态和答辩准备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需求与文档基线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995927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60" y="3995927"/>
            <a:ext cx="365760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50207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95020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proposal 与 mid-term 文档已落地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8912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数据接入与标签构造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407407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0360" y="4407407"/>
            <a:ext cx="3657600" cy="1645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3616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A34A"/>
                </a:solidFill>
                <a:latin typeface="Aptos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36168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两个官方数据集已真实验证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训练、评估与可视化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81888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4818888"/>
            <a:ext cx="3291840" cy="1645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7731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773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主链路完成，继续优化展示细节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21208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最终答辩与收尾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523036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80360" y="5230368"/>
            <a:ext cx="2377440" cy="1645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184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A5E9"/>
                </a:solidFill>
                <a:latin typeface="Aptos"/>
              </a:rPr>
              <a:t>65%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1846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集中在最后两周完成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开题以来已完成的工作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Completed Since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6576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80744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工程框架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33101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建立 USTC.SSE.BearingPrediction 命名空间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统一数据实体、训练器、预测器、评估器接口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形成主程序、测试、文档、脚本的工程组织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5204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109728" cy="2240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数据与特征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37360"/>
            <a:ext cx="31729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实现 XJTU-SY / PHM2012 Loader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支持滑动窗口、归一化、RMS、峭度、FFT 特征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支持 RUL、阶段标签、健康指标序列构造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109728" cy="2240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38074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训练与展示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737360"/>
            <a:ext cx="299008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接入 CNN、RNN、Transformer、MLP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实现 EarlyStopping、TensorBoard、梯度告警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支持预测曲线、阶段图、混淆矩阵、注意力热图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阶段性结论：当前系统不是演示脚本，而是一套具备真实数据加载、任务构造、模型训练、结果记录和文档交付能力的课程工程。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与开题相比，最大的变化是“可运行链路”已经被真实数据和测试体系验证。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系统架构与模块完成度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Architecture &amp; Module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F244A"/>
                </a:solidFill>
                <a:latin typeface="PingFang SC"/>
              </a:rPr>
              <a:t>数据接入层  -&gt;  预处理与特征工程层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0F244A"/>
                </a:solidFill>
                <a:latin typeface="PingFang SC"/>
              </a:rPr>
              <a:t>        -&gt;  标签构造层  -&gt;  模型训练与预测层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0F244A"/>
                </a:solidFill>
                <a:latin typeface="PingFang SC"/>
              </a:rPr>
              <a:t>        -&gt;  评估、可视化与实验管理层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M1 数据接入与管理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39572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395728"/>
            <a:ext cx="365760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5000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35000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XJTU-SY / PHM2012 已跑通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M2 预处理与特征工程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80720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807208"/>
            <a:ext cx="3657600" cy="1645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614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76148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原始序列 + 统计特征双入口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M3 退化阶段与标签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21868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34640" y="3218688"/>
            <a:ext cx="3657600" cy="1645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172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A34A"/>
                </a:solidFill>
                <a:latin typeface="Apto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729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3σ、FPT、RUL、HI 序列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M4 模型训练与预测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363016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34640" y="3630168"/>
            <a:ext cx="3364992" cy="1645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5844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EA5E9"/>
                </a:solidFill>
                <a:latin typeface="Aptos"/>
              </a:rPr>
              <a:t>92%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844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多模型和回调均已工作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M5 评估、可视化与实验管理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04164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34640" y="4041648"/>
            <a:ext cx="3474720" cy="164592"/>
          </a:xfrm>
          <a:prstGeom prst="roundRect">
            <a:avLst/>
          </a:prstGeom>
          <a:solidFill>
            <a:srgbClr val="5FA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959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FA8D3"/>
                </a:solidFill>
                <a:latin typeface="Aptos"/>
              </a:rPr>
              <a:t>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9959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图表、日志、导出基本齐全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1325880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1325880"/>
            <a:ext cx="109728" cy="342900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1472184"/>
            <a:ext cx="4526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44A"/>
                </a:solidFill>
                <a:latin typeface="PingFang SC"/>
              </a:rPr>
              <a:t>当前架构特征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1828800"/>
            <a:ext cx="4544568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统一对象：BearingEntity / BearingWindowDataset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统一训练：BaseTrainer + Callback 生命周期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统一实验记录：配置、历史、预测、指标、告警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统一输出：CSV / PKL / JSON / YAML / PNG / 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数据工程与真实数据进展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Data Pipeline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9728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80744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官方数据集现状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33101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XJTU-SY：已下载并完成实体加载验证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PHM2012 / FEMTO：已下载并保留温度通道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原始压缩包已通过 Git LFS 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109728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380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已解决的真实问题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37360"/>
            <a:ext cx="30815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CSV 表头和非数值行兼容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温度文件与振动文件按快照对齐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目录层次不一致时的实体路径解析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10972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38074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当前输入能力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737360"/>
            <a:ext cx="30358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水平振动 / 垂直振动 / 温度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原始序列建模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统计特征建模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健康指标序列建模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77639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数据主线是中期阶段最关键的基础工作。当前的训练与测试不再依赖手工拼目录，而是建立在统一 loader 和标签器之上。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这意味着后续新增模型时，不需要重写数据入口。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训练链路与实验管理进展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Training, Callbacks and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3474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109728" cy="2651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3502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模型与预测方式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91640"/>
            <a:ext cx="31272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CNN / RNN / Transformer / MLP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端到端预测、单步滚动、多步滚动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Monte Carlo Dropout 不确定性估计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474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109728" cy="2651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33502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PingFang SC"/>
              </a:rPr>
              <a:t>训练监控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691640"/>
            <a:ext cx="31272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EarlyStopping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TensorBoard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GradientAlert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ExperimentLogger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188720"/>
            <a:ext cx="34747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188720"/>
            <a:ext cx="109728" cy="2651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33502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实验记录项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691640"/>
            <a:ext cx="31272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模型结构、学习率、正则化、epoch 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采样策略、预测模式、回调配置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history、metrics、predictions、alerts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中期阶段的重点不是继续堆模型，而是让“训练过程可监控、实验结果可追踪、异常情况可告警”。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这一点已经基本完成。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当前结果与验证情况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Current Results and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109728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35024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自动化测试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91640"/>
            <a:ext cx="28072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当前主分支测试：8 passed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覆盖训练回调、数据 IO、阶段划分、预测模式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重点验证真实数据 smoke test 与导出行为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1887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188720"/>
            <a:ext cx="10972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335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真实数据验证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691640"/>
            <a:ext cx="30815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PHM2012：可加载加速度与温度通道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XJTU-SY：可解析带表头 CSV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两个官方数据集均完成最小训练/评估验证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188720"/>
            <a:ext cx="3703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188720"/>
            <a:ext cx="109728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1" y="1335024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交付材料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1" y="1691640"/>
            <a:ext cx="3355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11 份课程文档已完成 Markdown + PDF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proposal / mid-term 目录已重组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README 已补充 PDF 导航与说明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代码主链路稳定性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3950207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60" y="3950207"/>
            <a:ext cx="3291840" cy="1645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04487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A34A"/>
                </a:solidFill>
                <a:latin typeface="Aptos"/>
              </a:rP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90448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回调、评估、导出已联通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真实数据兼容性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36168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0360" y="4361688"/>
            <a:ext cx="3218688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315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3159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已覆盖主路径，继续补细节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54880"/>
            <a:ext cx="2103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PingFang SC"/>
              </a:rPr>
              <a:t>课程交付完整度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773168"/>
            <a:ext cx="365760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4773168"/>
            <a:ext cx="3364992" cy="1645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7274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Aptos"/>
              </a:rPr>
              <a:t>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7274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PingFang SC"/>
              </a:rPr>
              <a:t>文档和 PPT 已逐步补齐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当前问题与应对策略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Issues and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5204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9728" cy="2651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2626"/>
                </a:solidFill>
                <a:latin typeface="PingFang SC"/>
              </a:rPr>
              <a:t>问题 1：真实数据体量大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31729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下载慢、LFS 上传耗时长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不同镜像入口稳定性不一致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处理策略：保留官方入口、本地目录加载与 LFS 原始包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5204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109728" cy="2651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问题 2：可选依赖差异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737360"/>
            <a:ext cx="31729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TensorBoard、PyYAML 等环境存在可选性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处理策略：代码中放宽依赖要求，缺失时优雅降级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测试中同步覆盖降级行为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29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109728" cy="2651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380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问题 3：文档口径一致性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737360"/>
            <a:ext cx="30815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项目名、分工、时间线、路径曾有偏差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处理策略：按 proposal / mid-term 统一重构，并批量导出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PingFang SC"/>
              </a:rPr>
              <a:t>当前风险已经从“做不出来”转移到“如何收口得更稳”。因此后半程要优先保证一致性、可展示性和最终答辩效果。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后续工作计划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Next Two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1490472"/>
            <a:ext cx="1078992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17904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第 7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72184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补充真实数据实验结果，完善图表输出和答辩演示稿。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52120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816352"/>
            <a:ext cx="1078992" cy="310896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43784"/>
            <a:ext cx="868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第 8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98064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完成确认测试、最终文档核对、PDF 排版检查和最终提交。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109728" cy="2423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7218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PingFang SC"/>
              </a:rPr>
              <a:t>重点收口事项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28800"/>
            <a:ext cx="49103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把实验结果从“能跑”提升到“可讲清楚”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核对 4 人分工、时间线、术语和目录路径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准备中英文术语统一的答辩表达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77639"/>
            <a:ext cx="109728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12394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明确不再扩张的边界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480559"/>
            <a:ext cx="49103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不再新增大范围功能，优先打磨已有成果。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不再让文档、代码、演示三套口径脱节。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PingFang SC"/>
              </a:rPr>
              <a:t>团队分工与阶段结论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1945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2E8F0"/>
                </a:solidFill>
                <a:latin typeface="PingFang SC"/>
              </a:rPr>
              <a:t>Team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743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9728" cy="2377440"/>
          </a:xfrm>
          <a:prstGeom prst="rect">
            <a:avLst/>
          </a:prstGeom>
          <a:solidFill>
            <a:srgbClr val="0F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8074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44A"/>
                </a:solidFill>
                <a:latin typeface="PingFang SC"/>
              </a:rPr>
              <a:t>zyj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2395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系统架构与训练框架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主程序与文档集成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当前重点：收口主线、把控提交质量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2697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234440"/>
            <a:ext cx="109728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38074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97316"/>
                </a:solidFill>
                <a:latin typeface="PingFang SC"/>
              </a:rPr>
              <a:t>cyj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1737360"/>
            <a:ext cx="2350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数据接入、预处理、特征工程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真实数据兼容性修复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当前重点：实验数据与文档一致性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234440"/>
            <a:ext cx="2697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234440"/>
            <a:ext cx="109728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1380744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PingFang SC"/>
              </a:rPr>
              <a:t>zdh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1737360"/>
            <a:ext cx="23500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阶段划分、生存分析、确认测试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规格化需求与测试口径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当前重点：验收与评价体系说明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234440"/>
            <a:ext cx="2148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1234440"/>
            <a:ext cx="10972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380744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PingFang SC"/>
              </a:rPr>
              <a:t>zy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1737360"/>
            <a:ext cx="180136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可视化、图表输出、展示材料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分支修复与交付展示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PingFang SC"/>
              </a:rPr>
              <a:t>当前重点：答辩展示效果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11827"/>
                </a:solidFill>
                <a:latin typeface="PingFang SC"/>
              </a:rPr>
              <a:t>中期结论：项目的工程骨架已经完整，真实数据、训练流程、测试与文档均已打通。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11827"/>
                </a:solidFill>
                <a:latin typeface="PingFang SC"/>
              </a:rPr>
              <a:t>最后阶段的核心任务是：稳住质量、补强展示、完成最终答辩交付。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6480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PingFang SC"/>
              </a:rPr>
              <a:t>中国科学技术大学 软件学院 | 软件工程课程中期检查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914400"/>
            <a:ext cx="2240280" cy="22402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1554480"/>
            <a:ext cx="1097280" cy="10972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6949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PingFang SC"/>
              </a:rPr>
              <a:t>中期检查汇报完毕</a:t>
            </a:r>
          </a:p>
          <a:p>
            <a:r>
              <a:rPr sz="2400">
                <a:solidFill>
                  <a:srgbClr val="BFDBFE"/>
                </a:solidFill>
                <a:latin typeface="PingFang SC"/>
              </a:rPr>
              <a:t>谢谢老师与各位同学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49039"/>
            <a:ext cx="7680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PingFang SC"/>
              </a:rPr>
              <a:t>项目名称：工业轴承故障预测系统的实现</a:t>
            </a:r>
          </a:p>
          <a:p>
            <a:r>
              <a:rPr sz="1600">
                <a:solidFill>
                  <a:srgbClr val="E2E8F0"/>
                </a:solidFill>
                <a:latin typeface="PingFang SC"/>
              </a:rPr>
              <a:t>课程：软件工程 | 学院：中国科学技术大学 软件学院</a:t>
            </a:r>
          </a:p>
          <a:p>
            <a:r>
              <a:rPr sz="1600">
                <a:solidFill>
                  <a:srgbClr val="E2E8F0"/>
                </a:solidFill>
                <a:latin typeface="PingFang SC"/>
              </a:rPr>
              <a:t>文档与代码已统一归档到 proposal / mid-term 目录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