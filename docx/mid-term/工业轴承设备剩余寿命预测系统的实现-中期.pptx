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Geist" panose="02010600030101010101" charset="0"/>
      <p:regular r:id="rId1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184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image" Target="../media/image19.png"/><Relationship Id="rId6" Type="http://schemas.openxmlformats.org/officeDocument/2006/relationships/image" Target="../media/image20.svg"/><Relationship Id="rId7" Type="http://schemas.openxmlformats.org/officeDocument/2006/relationships/image" Target="../media/image21.png"/><Relationship Id="rId8" Type="http://schemas.openxmlformats.org/officeDocument/2006/relationships/image" Target="../media/image22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65941"/>
            <a:ext cx="6449854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工业轴承设备剩余寿命预测系统的实现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490198"/>
            <a:ext cx="3859530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中期检查报告 · V2.0 · 2026-03-12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4110395"/>
            <a:ext cx="7556421" cy="7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项目围绕工业轴承预测性维护场景，建设支持真实数据接入、预处理、退化阶段分析、RUL 预测与可视化展示的工程化实验系统。本报告对截至中期的进度、成果、问题与后续计划进行全面梳理。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5122902"/>
            <a:ext cx="1466017" cy="325517"/>
          </a:xfrm>
          <a:prstGeom prst="roundRect">
            <a:avLst>
              <a:gd name="adj" fmla="val 20487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6399252" y="5182433"/>
            <a:ext cx="1227892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zh-CN" altLang="en-US" sz="12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文档编写</a:t>
            </a:r>
            <a:r>
              <a:rPr lang="en-US" altLang="zh-CN" sz="12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： ZY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45385" y="5107662"/>
            <a:ext cx="2020491" cy="355997"/>
          </a:xfrm>
          <a:prstGeom prst="roundRect">
            <a:avLst>
              <a:gd name="adj" fmla="val 18733"/>
            </a:avLst>
          </a:prstGeom>
          <a:noFill/>
          <a:ln w="1524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979688" y="5182433"/>
            <a:ext cx="1751886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参与编写：ZYJ · ZDH · CYJ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965055" y="5107662"/>
            <a:ext cx="1696998" cy="355997"/>
          </a:xfrm>
          <a:prstGeom prst="roundRect">
            <a:avLst>
              <a:gd name="adj" fmla="val 18733"/>
            </a:avLst>
          </a:prstGeom>
          <a:noFill/>
          <a:ln w="15240">
            <a:solidFill>
              <a:srgbClr val="629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0099358" y="5182433"/>
            <a:ext cx="1428393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检查范围：截至中期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29019"/>
            <a:ext cx="4961811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项目概述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3571637"/>
            <a:ext cx="6565106" cy="2028944"/>
          </a:xfrm>
          <a:prstGeom prst="roundRect">
            <a:avLst>
              <a:gd name="adj" fmla="val 7043"/>
            </a:avLst>
          </a:prstGeom>
          <a:solidFill>
            <a:srgbClr val="1F2A5D">
              <a:alpha val="9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849273" y="3769995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项目定位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4290893"/>
            <a:ext cx="6168390" cy="7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围绕工业轴承预测性维护（Predictive Maintenance）场景，构建一套完整的工程化实验系统，覆盖从原始数据输入到最终 RUL 预测结果输出的全链路。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3769995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中期里程碑达成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4290893"/>
            <a:ext cx="6279356" cy="1240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需求与设计基线已建立，文档体系完整</a:t>
            </a:r>
            <a:endParaRPr lang="en-US" sz="15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核心数据链路与训练主链路已全面打通</a:t>
            </a:r>
            <a:endParaRPr lang="en-US" sz="15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具备真实数据接入与本地验证能力</a:t>
            </a:r>
            <a:endParaRPr lang="en-US" sz="15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系统整体从"方案论证"进入"成果整合"阶段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82378"/>
            <a:ext cx="4961811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已完成工作概览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2824996"/>
            <a:ext cx="3679031" cy="1923693"/>
          </a:xfrm>
          <a:prstGeom prst="roundRect">
            <a:avLst>
              <a:gd name="adj" fmla="val 4333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015008" y="3046214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文档与规范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15008" y="3487817"/>
            <a:ext cx="3236595" cy="103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完成开题、SRS、需求定义、项目管理、技术预研等前置文档；统一项目名称、技术基线（Python 3.11+ / uv）及五大模块划分。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671179" y="2824996"/>
            <a:ext cx="3679031" cy="1923693"/>
          </a:xfrm>
          <a:prstGeom prst="roundRect">
            <a:avLst>
              <a:gd name="adj" fmla="val 4333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892397" y="3046214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工程框架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892397" y="3487817"/>
            <a:ext cx="3236595" cy="1039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建立 </a:t>
            </a:r>
            <a:r>
              <a:rPr lang="en-US" sz="15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USTC.SSE.BearingPrediction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命名空间结构；统一数据实体、训练器、预测器、评估器与可视化器接口规范。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4947047"/>
            <a:ext cx="7556421" cy="1400056"/>
          </a:xfrm>
          <a:prstGeom prst="roundRect">
            <a:avLst>
              <a:gd name="adj" fmla="val 595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015008" y="5168265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数据主线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15008" y="5609868"/>
            <a:ext cx="7113984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完成 XJTU-SY 和 PHM2012/FEMTO 加载器；实现滑动窗口、归一化、统计特征、频域特征及 RUL/阶段标签构造。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7179"/>
            <a:ext cx="4961811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系统当前可运行能力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238976"/>
            <a:ext cx="13042821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截至中期，系统已具备端到端可运行的完整能力，核心链路通过真实数据 smoke test 与自动化测试验证。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720227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7930" y="3720227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数据接入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37930" y="4161830"/>
            <a:ext cx="5653207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支持 XJTU-SY 和 PHM2012/FEMTO 两大官方数据集的加载、目录识别与实体解析。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144" y="3720227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285" y="3720227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数据处理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8183285" y="4161830"/>
            <a:ext cx="5653326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支持滑动窗口、归一化、RMS、峭度等统计特征及频域特征提取。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074682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7930" y="5074682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模型训练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537930" y="5516285"/>
            <a:ext cx="5653207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支持 CNN、RNN、Transformer、MLP 多模型训练，集成 EarlyStopping、TensorBoard 与梯度异常记录。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9144" y="5074682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83285" y="5074682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结果展示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8183285" y="5516285"/>
            <a:ext cx="5653326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支持预测曲线、阶段图、误差分布图与注意力热图等多维度可视化输出。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4153"/>
            <a:ext cx="4961811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五大模块完成情况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835950"/>
            <a:ext cx="13042821" cy="3599497"/>
          </a:xfrm>
          <a:prstGeom prst="roundRect">
            <a:avLst>
              <a:gd name="adj" fmla="val 231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01410" y="2843570"/>
            <a:ext cx="13027581" cy="5113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00006" y="2970252"/>
            <a:ext cx="2465427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模块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869769" y="2970252"/>
            <a:ext cx="5848826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中期完成情况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122932" y="2970252"/>
            <a:ext cx="3507700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当前状态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3354943"/>
            <a:ext cx="13027581" cy="5113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00006" y="3481626"/>
            <a:ext cx="2465427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M1 数据接入与管理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869769" y="3481626"/>
            <a:ext cx="5848826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数据集加载、导入导出、元数据抽象完成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122932" y="3481626"/>
            <a:ext cx="3507700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已完成主流程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3866317"/>
            <a:ext cx="13027581" cy="5113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0006" y="3992999"/>
            <a:ext cx="2465427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M2 预处理与特征工程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869769" y="3992999"/>
            <a:ext cx="5848826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滑动窗口、归一化、统计特征、频域特征完成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122932" y="3992999"/>
            <a:ext cx="3507700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已完成主流程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4377690"/>
            <a:ext cx="13027581" cy="76938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00006" y="4504373"/>
            <a:ext cx="2465427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M3 退化阶段划分与标签构造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869769" y="4504373"/>
            <a:ext cx="5848826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RUL 标签、3sigma、FPT、HI 序列完成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122932" y="4504373"/>
            <a:ext cx="3507700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已完成主流程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5147072"/>
            <a:ext cx="13027581" cy="5113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00006" y="5273754"/>
            <a:ext cx="2465427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M4 模型训练与预测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869769" y="5273754"/>
            <a:ext cx="5848826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多模型训练、回调和预测策略完成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122932" y="5273754"/>
            <a:ext cx="3507700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已完成主流程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5658445"/>
            <a:ext cx="13027581" cy="76938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00006" y="5785128"/>
            <a:ext cx="2465427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M5 评估、可视化与实验管理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869769" y="5785128"/>
            <a:ext cx="5848826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指标计算、图表导出、实验记录完成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0122932" y="5785128"/>
            <a:ext cx="3507700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🔄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持续优化中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71550"/>
            <a:ext cx="4961811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数据主线进展详情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1914168"/>
            <a:ext cx="7556421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数据主线是中期阶段的核心重点，直接支撑后续建模、评估与确认测试，是当前阶段最重要的基础成果之一。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2653427"/>
            <a:ext cx="7556421" cy="1400056"/>
          </a:xfrm>
          <a:prstGeom prst="roundRect">
            <a:avLst>
              <a:gd name="adj" fmla="val 7837"/>
            </a:avLst>
          </a:prstGeom>
          <a:solidFill>
            <a:srgbClr val="101620">
              <a:alpha val="95000"/>
            </a:srgbClr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30" y="2653427"/>
            <a:ext cx="91440" cy="14000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3588" y="2874645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数据集解析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083588" y="3316248"/>
            <a:ext cx="7045404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完成两个官方数据集的下载、目录识别与实体解析，解决表头差异、目录层级差异及温度通道对齐问题。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793790" y="4251841"/>
            <a:ext cx="7556421" cy="1407676"/>
          </a:xfrm>
          <a:prstGeom prst="roundRect">
            <a:avLst>
              <a:gd name="adj" fmla="val 7795"/>
            </a:avLst>
          </a:prstGeom>
          <a:solidFill>
            <a:srgbClr val="101620">
              <a:alpha val="95000"/>
            </a:srgbClr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930" y="4251841"/>
            <a:ext cx="91440" cy="14076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3588" y="4473059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统一数据抽象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083588" y="4914662"/>
            <a:ext cx="7045404" cy="523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建立 </a:t>
            </a:r>
            <a:r>
              <a:rPr lang="en-US" sz="15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BearingEntity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与窗口级数据集抽象，使训练流程不再依赖具体数据集目录结构，形成"原始序列"与"统计特征"两种建模入口。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793790" y="5857875"/>
            <a:ext cx="7556421" cy="1400056"/>
          </a:xfrm>
          <a:prstGeom prst="roundRect">
            <a:avLst>
              <a:gd name="adj" fmla="val 7837"/>
            </a:avLst>
          </a:prstGeom>
          <a:solidFill>
            <a:srgbClr val="101620">
              <a:alpha val="95000"/>
            </a:srgbClr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30" y="5857875"/>
            <a:ext cx="91440" cy="14000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83588" y="6079093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自动化测试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1083588" y="6520696"/>
            <a:ext cx="7045404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针对数据导入、导出与 loader 行为编写了完整自动化测试，核心链路已通过真实数据 smoke test 验证。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5463"/>
            <a:ext cx="4961811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遇到的问题与解决措施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36438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⚠️</a:t>
            </a:r>
            <a:r>
              <a:rPr lang="en-US" sz="19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主要问题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30" y="3459361"/>
            <a:ext cx="45720" cy="13406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7868" y="3482221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数据下载与目录兼容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37868" y="4003119"/>
            <a:ext cx="2771537" cy="7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官方数据集体积大、压缩包层级不一致，早期 loader 需兼容多种目录结构。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552" y="3459361"/>
            <a:ext cx="45720" cy="13406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01490" y="3482221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多模型统一接口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4301490" y="4003119"/>
            <a:ext cx="2771656" cy="7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CNN、RNN、Transformer 输入形式各异，训练流程容易碎片化，接口设计复杂。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30" y="5151120"/>
            <a:ext cx="45720" cy="10826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7868" y="5173980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文档口径一致性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037868" y="5694878"/>
            <a:ext cx="6035278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项目名称、模块名称和归档路径在早期草稿中存在不一致，影响文档管理效率。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7421999" y="2738080"/>
            <a:ext cx="6565106" cy="3696057"/>
          </a:xfrm>
          <a:prstGeom prst="roundRect">
            <a:avLst>
              <a:gd name="adj" fmla="val 3866"/>
            </a:avLst>
          </a:prstGeom>
          <a:solidFill>
            <a:srgbClr val="12386E">
              <a:alpha val="9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7620357" y="2936438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✅</a:t>
            </a:r>
            <a:r>
              <a:rPr lang="en-US" sz="19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解决措施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7620357" y="3457337"/>
            <a:ext cx="6168390" cy="1240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采用统一数据实体与数据集对象，屏蔽底层目录差异</a:t>
            </a:r>
            <a:endParaRPr lang="en-US" sz="15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将训练扩展逻辑抽离为回调，避免训练器变为巨型类</a:t>
            </a:r>
            <a:endParaRPr lang="en-US" sz="15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建立实验记录器，自动保存配置、历史、指标与预测结果</a:t>
            </a:r>
            <a:endParaRPr lang="en-US" sz="15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统一文档目录和命名规则，为批量转 PDF 做准备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6588"/>
            <a:ext cx="5457587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当前项目风险与应对策略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268385"/>
            <a:ext cx="13042821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以下三项风险为中期后最需关注的核心挑战，已制定针对性应对策略。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749635"/>
            <a:ext cx="4215289" cy="2253377"/>
          </a:xfrm>
          <a:prstGeom prst="roundRect">
            <a:avLst>
              <a:gd name="adj" fmla="val 3699"/>
            </a:avLst>
          </a:prstGeom>
          <a:solidFill>
            <a:srgbClr val="101620">
              <a:alpha val="95000"/>
            </a:srgbClr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16650" y="3772495"/>
            <a:ext cx="4169569" cy="595313"/>
          </a:xfrm>
          <a:prstGeom prst="roundRect">
            <a:avLst>
              <a:gd name="adj" fmla="val 9395"/>
            </a:avLst>
          </a:prstGeom>
          <a:solidFill>
            <a:srgbClr val="10162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2606" y="3909893"/>
            <a:ext cx="297656" cy="297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008" y="4566166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文档口径不一致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5007769"/>
            <a:ext cx="3772853" cy="7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当前状态：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中期后期风险较高</a:t>
            </a:r>
            <a:endParaRPr lang="en-US" sz="15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应对：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统一模板、统一术语、统一目录，集中整理文档归档体系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3749635"/>
            <a:ext cx="4215408" cy="2253377"/>
          </a:xfrm>
          <a:prstGeom prst="roundRect">
            <a:avLst>
              <a:gd name="adj" fmla="val 3699"/>
            </a:avLst>
          </a:prstGeom>
          <a:solidFill>
            <a:srgbClr val="101620">
              <a:alpha val="95000"/>
            </a:srgbClr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230297" y="3772495"/>
            <a:ext cx="4169688" cy="595313"/>
          </a:xfrm>
          <a:prstGeom prst="roundRect">
            <a:avLst>
              <a:gd name="adj" fmla="val 9395"/>
            </a:avLst>
          </a:prstGeom>
          <a:solidFill>
            <a:srgbClr val="10162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6253" y="3909893"/>
            <a:ext cx="297656" cy="297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8655" y="4566166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真实数据实验耗时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28655" y="5007769"/>
            <a:ext cx="3772972" cy="7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当前状态：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已出现，影响迭代效率</a:t>
            </a:r>
            <a:endParaRPr lang="en-US" sz="15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应对：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采用小样本先验证主流程，完整实验后续补跑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3749635"/>
            <a:ext cx="4215289" cy="2253377"/>
          </a:xfrm>
          <a:prstGeom prst="roundRect">
            <a:avLst>
              <a:gd name="adj" fmla="val 3699"/>
            </a:avLst>
          </a:prstGeom>
          <a:solidFill>
            <a:srgbClr val="101620">
              <a:alpha val="95000"/>
            </a:srgbClr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9644063" y="3772495"/>
            <a:ext cx="4169569" cy="595313"/>
          </a:xfrm>
          <a:prstGeom prst="roundRect">
            <a:avLst>
              <a:gd name="adj" fmla="val 9395"/>
            </a:avLst>
          </a:prstGeom>
          <a:solidFill>
            <a:srgbClr val="10162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80019" y="3909893"/>
            <a:ext cx="297656" cy="2976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42421" y="4566166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最终 PDF 版式问题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42421" y="5007769"/>
            <a:ext cx="3772853" cy="7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当前状态：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尚未完全处理</a:t>
            </a:r>
            <a:endParaRPr lang="en-US" sz="15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应对：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使用 Pandoc + XeLaTeX 渲染并做批量抽查验证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9876"/>
            <a:ext cx="4961811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后续工作计划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51673"/>
            <a:ext cx="13042821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中期之后的工作重心从"从无到有"转向</a:t>
            </a: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"从能跑到可交付"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，聚焦文档完整度、测试质量与最终交付物整理。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303770" y="2432923"/>
            <a:ext cx="22860" cy="4886682"/>
          </a:xfrm>
          <a:prstGeom prst="roundRect">
            <a:avLst>
              <a:gd name="adj" fmla="val 364651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519505" y="2644735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091958" y="243292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166372" y="2462689"/>
            <a:ext cx="297656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842028" y="2494836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文档完善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93790" y="2936438"/>
            <a:ext cx="5529143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补充设计文档、测试计划与编码规范，统一检查项目名称、术语与模块划分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515582" y="3835360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091958" y="362354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166372" y="3653314"/>
            <a:ext cx="297656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307467" y="3685461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实验补充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307467" y="4127063"/>
            <a:ext cx="5529143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对真实数据补充更稳定的实验记录与结果对比，完善自动化测试覆盖率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519505" y="4858583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091958" y="464677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166372" y="4676537"/>
            <a:ext cx="297656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3842028" y="4708684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PDF 归档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93790" y="5150287"/>
            <a:ext cx="5529143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批量导出课程文档 PDF 并做版式检查，使用 Pandoc + XeLaTeX 渲染流程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515582" y="5881807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091958" y="5669994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166372" y="5699760"/>
            <a:ext cx="297656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307467" y="5731907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确认测试与答辩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307467" y="6173510"/>
            <a:ext cx="5529143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完成确认测试，整理最终答辩材料，形成完整交付物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6749"/>
            <a:ext cx="6449854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团队成员阶段性任务完成情况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08546"/>
            <a:ext cx="676394" cy="6763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8191" y="3608546"/>
            <a:ext cx="2150269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zyj · 系统架构与训练框架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718191" y="4372689"/>
            <a:ext cx="2150269" cy="12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完成系统整体架构设计、训练框架搭建、主入口实现及文档统筹工作。</a:t>
            </a:r>
            <a:endParaRPr lang="en-US" sz="15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进度：符合预期 </a:t>
            </a:r>
            <a:r>
              <a:rPr lang="en-US" sz="155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467" y="3608546"/>
            <a:ext cx="676394" cy="6763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40868" y="3608546"/>
            <a:ext cx="2150269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cyy · 数据接入与特征工程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040868" y="4372689"/>
            <a:ext cx="2150269" cy="12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完成数据集接入、预处理流程、特征工程实现及相关自动化数据测试。</a:t>
            </a:r>
            <a:endParaRPr lang="en-US" sz="15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进度：符合预期 </a:t>
            </a:r>
            <a:r>
              <a:rPr lang="en-US" sz="155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144" y="3608546"/>
            <a:ext cx="676394" cy="6763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63545" y="3608546"/>
            <a:ext cx="2150269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zdh · 阶段划分与生存分析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8363545" y="4372689"/>
            <a:ext cx="2150269" cy="103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完成退化阶段划分算法、生存分析模块实现及确认测试基线建立。</a:t>
            </a:r>
            <a:endParaRPr lang="en-US" sz="15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进度：符合预期 </a:t>
            </a:r>
            <a:r>
              <a:rPr lang="en-US" sz="155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1821" y="3608546"/>
            <a:ext cx="676394" cy="6763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686223" y="3608546"/>
            <a:ext cx="2150388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zy · 可视化与文档展示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1686223" y="4372689"/>
            <a:ext cx="2150388" cy="103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完成可视化模块、图表输出功能实现及文档展示规范的整理与制定。</a:t>
            </a:r>
            <a:endParaRPr lang="en-US" sz="15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进度：符合预期 </a:t>
            </a:r>
            <a:r>
              <a:rPr lang="en-US" sz="155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03571"/>
            <a:ext cx="4961811" cy="644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9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中期总结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846189"/>
            <a:ext cx="7556421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项目截至中期已完成最关键的基础设施与核心链路建设。系统整体状态从</a:t>
            </a: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"方案论证"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顺利转入</a:t>
            </a:r>
            <a:r>
              <a:rPr lang="en-US" sz="15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"成果整合与交付优化"</a:t>
            </a: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阶段，全体成员进度符合预期。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3585448"/>
            <a:ext cx="3679031" cy="1400056"/>
          </a:xfrm>
          <a:prstGeom prst="roundRect">
            <a:avLst>
              <a:gd name="adj" fmla="val 595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015008" y="3806666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已完成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15008" y="4248269"/>
            <a:ext cx="3236595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五大模块主流程全部就绪，真实数据链路打通，实验框架稳定可用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671179" y="3585448"/>
            <a:ext cx="3679031" cy="1400056"/>
          </a:xfrm>
          <a:prstGeom prst="roundRect">
            <a:avLst>
              <a:gd name="adj" fmla="val 595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892397" y="3806666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后续聚焦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892397" y="4248269"/>
            <a:ext cx="3236595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提升文档完整度、统一测试口径、完成最终 PDF 归档与答辩材料整理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93790" y="5183862"/>
            <a:ext cx="7556421" cy="1142048"/>
          </a:xfrm>
          <a:prstGeom prst="roundRect">
            <a:avLst>
              <a:gd name="adj" fmla="val 7299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15008" y="5405080"/>
            <a:ext cx="248090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整体评价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015008" y="5846683"/>
            <a:ext cx="7113984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项目结构清晰、风险可控，后续交付阶段具备充足基础条件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518</Words>
  <Application>Microsoft Office PowerPoint</Application>
  <PresentationFormat>自定义</PresentationFormat>
  <Paragraphs>128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Geist</vt:lpstr>
      <vt:lpstr>Geist Bold</vt:lpstr>
      <vt:lpstr>Consolas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扬 邹</cp:lastModifiedBy>
  <cp:revision>2</cp:revision>
  <dcterms:created xsi:type="dcterms:W3CDTF">2026-03-13T05:29:44Z</dcterms:created>
  <dcterms:modified xsi:type="dcterms:W3CDTF">2026-03-13T05:32:58Z</dcterms:modified>
</cp:coreProperties>
</file>