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99734fe1c942d4" /><Relationship Type="http://schemas.openxmlformats.org/officeDocument/2006/relationships/extended-properties" Target="/docProps/app.xml" Id="R967191e303fd491b" /><Relationship Type="http://schemas.openxmlformats.org/officeDocument/2006/relationships/officeDocument" Target="/ppt/presentation.xml" Id="R4883d1ec2a924a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be7abf82f4e94"/>
  </p:sldMasterIdLst>
  <p:notesMasterIdLst>
    <p:notesMasterId xmlns:r="http://schemas.openxmlformats.org/officeDocument/2006/relationships" r:id="R629e4e1ab65441a0"/>
  </p:notesMasterIdLst>
  <p:sldIdLst>
    <p:sldId xmlns:r="http://schemas.openxmlformats.org/officeDocument/2006/relationships" id="256" r:id="R93f9ef2bb6104fe0"/>
    <p:sldId xmlns:r="http://schemas.openxmlformats.org/officeDocument/2006/relationships" id="257" r:id="R195b258b04174c77"/>
    <p:sldId xmlns:r="http://schemas.openxmlformats.org/officeDocument/2006/relationships" id="258" r:id="Re3a633d2b2364be8"/>
    <p:sldId xmlns:r="http://schemas.openxmlformats.org/officeDocument/2006/relationships" id="259" r:id="Re77172c13cff4729"/>
    <p:sldId xmlns:r="http://schemas.openxmlformats.org/officeDocument/2006/relationships" id="260" r:id="R7cf10a81ff2f4c41"/>
    <p:sldId xmlns:r="http://schemas.openxmlformats.org/officeDocument/2006/relationships" id="261" r:id="R4887f2dcedac402d"/>
    <p:sldId xmlns:r="http://schemas.openxmlformats.org/officeDocument/2006/relationships" id="262" r:id="R7edea391b3444a21"/>
    <p:sldId xmlns:r="http://schemas.openxmlformats.org/officeDocument/2006/relationships" id="263" r:id="R6919f2984b5a4ac4"/>
    <p:sldId xmlns:r="http://schemas.openxmlformats.org/officeDocument/2006/relationships" id="264" r:id="Rd7c91869394349b7"/>
    <p:sldId xmlns:r="http://schemas.openxmlformats.org/officeDocument/2006/relationships" id="265" r:id="R77d9a8d9a17e4dbb"/>
    <p:sldId xmlns:r="http://schemas.openxmlformats.org/officeDocument/2006/relationships" id="266" r:id="R48e67017b5b3441c"/>
    <p:sldId xmlns:r="http://schemas.openxmlformats.org/officeDocument/2006/relationships" id="267" r:id="R75c2e89095d04554"/>
  </p:sldIdLst>
  <p:sldSz cx="5765800" cy="32448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166489b41d4e2f" /><Relationship Type="http://schemas.openxmlformats.org/officeDocument/2006/relationships/slideMaster" Target="/ppt/slideMasters/slideMaster1.xml" Id="Rdadbe7abf82f4e94" /><Relationship Type="http://schemas.openxmlformats.org/officeDocument/2006/relationships/notesMaster" Target="/ppt/notesMasters/notesMaster1.xml" Id="R629e4e1ab65441a0" /><Relationship Type="http://schemas.openxmlformats.org/officeDocument/2006/relationships/presProps" Target="/ppt/presProps.xml" Id="Rcabe598c968348ce" /><Relationship Type="http://schemas.openxmlformats.org/officeDocument/2006/relationships/tableStyles" Target="/ppt/tableStyles.xml" Id="R4707748af01e4966" /><Relationship Type="http://schemas.openxmlformats.org/officeDocument/2006/relationships/slide" Target="/ppt/slides/slide1.xml" Id="R93f9ef2bb6104fe0" /><Relationship Type="http://schemas.openxmlformats.org/officeDocument/2006/relationships/slide" Target="/ppt/slides/slide2.xml" Id="R195b258b04174c77" /><Relationship Type="http://schemas.openxmlformats.org/officeDocument/2006/relationships/slide" Target="/ppt/slides/slide3.xml" Id="Re3a633d2b2364be8" /><Relationship Type="http://schemas.openxmlformats.org/officeDocument/2006/relationships/slide" Target="/ppt/slides/slide4.xml" Id="Re77172c13cff4729" /><Relationship Type="http://schemas.openxmlformats.org/officeDocument/2006/relationships/slide" Target="/ppt/slides/slide5.xml" Id="R7cf10a81ff2f4c41" /><Relationship Type="http://schemas.openxmlformats.org/officeDocument/2006/relationships/slide" Target="/ppt/slides/slide6.xml" Id="R4887f2dcedac402d" /><Relationship Type="http://schemas.openxmlformats.org/officeDocument/2006/relationships/slide" Target="/ppt/slides/slide7.xml" Id="R7edea391b3444a21" /><Relationship Type="http://schemas.openxmlformats.org/officeDocument/2006/relationships/slide" Target="/ppt/slides/slide8.xml" Id="R6919f2984b5a4ac4" /><Relationship Type="http://schemas.openxmlformats.org/officeDocument/2006/relationships/slide" Target="/ppt/slides/slide9.xml" Id="Rd7c91869394349b7" /><Relationship Type="http://schemas.openxmlformats.org/officeDocument/2006/relationships/slide" Target="/ppt/slides/slide10.xml" Id="R77d9a8d9a17e4dbb" /><Relationship Type="http://schemas.openxmlformats.org/officeDocument/2006/relationships/slide" Target="/ppt/slides/slide11.xml" Id="R48e67017b5b3441c" /><Relationship Type="http://schemas.openxmlformats.org/officeDocument/2006/relationships/slide" Target="/ppt/slides/slide12.xml" Id="R75c2e89095d045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c6004a8f6240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09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704317cad043a2" /><Relationship Type="http://schemas.openxmlformats.org/officeDocument/2006/relationships/notesMaster" Target="/ppt/notesMasters/notesMaster1.xml" Id="Rc57d4d84120b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8c83109c5740e5" /><Relationship Type="http://schemas.openxmlformats.org/officeDocument/2006/relationships/notesMaster" Target="/ppt/notesMasters/notesMaster1.xml" Id="R3bc29065de304b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e5b7c447d44a6" /><Relationship Type="http://schemas.openxmlformats.org/officeDocument/2006/relationships/notesMaster" Target="/ppt/notesMasters/notesMaster1.xml" Id="R54bf9441f3bf47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281b40f1b4474c" /><Relationship Type="http://schemas.openxmlformats.org/officeDocument/2006/relationships/notesMaster" Target="/ppt/notesMasters/notesMaster1.xml" Id="R945e4c0cdbd94a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b74e43d6834038" /><Relationship Type="http://schemas.openxmlformats.org/officeDocument/2006/relationships/notesMaster" Target="/ppt/notesMasters/notesMaster1.xml" Id="R59fdb4d941a141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8be80ab88a49f1" /><Relationship Type="http://schemas.openxmlformats.org/officeDocument/2006/relationships/notesMaster" Target="/ppt/notesMasters/notesMaster1.xml" Id="R73b0a757789c49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9e417f3e774af7" /><Relationship Type="http://schemas.openxmlformats.org/officeDocument/2006/relationships/notesMaster" Target="/ppt/notesMasters/notesMaster1.xml" Id="R3d9487c0852c43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dd63052ec64b6a" /><Relationship Type="http://schemas.openxmlformats.org/officeDocument/2006/relationships/notesMaster" Target="/ppt/notesMasters/notesMaster1.xml" Id="R9b9b18b2468043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daf5ce90e744e9" /><Relationship Type="http://schemas.openxmlformats.org/officeDocument/2006/relationships/notesMaster" Target="/ppt/notesMasters/notesMaster1.xml" Id="R835092ca170c46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e9ea4bc87d42ac" /><Relationship Type="http://schemas.openxmlformats.org/officeDocument/2006/relationships/notesMaster" Target="/ppt/notesMasters/notesMaster1.xml" Id="R7adc72b0e5a746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fcc4332b344c53" /><Relationship Type="http://schemas.openxmlformats.org/officeDocument/2006/relationships/notesMaster" Target="/ppt/notesMasters/notesMaster1.xml" Id="R31b73dd37f0743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893242030f441a" /><Relationship Type="http://schemas.openxmlformats.org/officeDocument/2006/relationships/notesMaster" Target="/ppt/notesMasters/notesMaster1.xml" Id="Re9b63b1a10a046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小组汇报的题目是《轴承寿命预测与故障诊断系统》。项目定位不是线上工业平台，而是在课程要求下，把真实轴承数据、论文主线复现、工程代码、测试验证和交付文档串成一条可复查的证据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这一页先说明汇报结构。我们会从项目范围进入系统架构，再讲数据、特征、RUL 和 Fault 两条主线，最后收束到工程交付与结论。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项目只聚焦轴承 PHM。PHM2012 做 RUL 回归，XJTU-SY 做健康/故障检测。这里主动说明 Fault 当前是二分类，不扩展成多故障类型诊断。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这一页看系统结构。底层包路径是 USTC.SSE.BearingPrediction，示例和 Notebook 通过 phm 入口导入。PHM2012 和 XJTU-SY 进入统一数据加载与特征构造，再分别进入 RUL 模型和故障检测模型，最后统一走 BaseTrainer、评估器和 Notebook 可视化。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RUL 标签按寿命过程从 1 降到 0，序列样本取窗口最后一个快照标签。Fault 标签用水平 RMS 的 3σ 首次故障时间点自动生成，前 30% 样本作为健康基线，连续异常后标为 Faulty。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这里回答模型输入是什么。RUL 增强版先做 Hann window 和 rFFT，去掉 DC 分量后取 256 个 log1p 频域 bin，再补 20 维退化统计特征，所以单个快照是 276 维，32 个快照组成一个序列。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RUL 主线参考 CBAM-CNN-LSTM。流程是读取 PHM2012 加速度文件，构造频域和退化统计特征，生成 32 步窗口，再通过 CNN、CBAM 和 LSTM 输出归一化 RUL。本次训练提高到 200 轮，并保存最佳 epoch、checkpoint、预测 CSV 和图表。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增强训练后的最佳验证点是 epoch 124，validation MSE 为 0.002183；测试集 MSE 为 0.040336，RMSE 为 0.2008，MAE 为 0.1550。右侧曲线展示趋势，平滑只用于阅读，指标仍按原始预测计算。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这一页把主线指标汇总到一张表。答辩时重点看 RUL 输入、RUL MSE/RMSE、训练轮数、Fault Accuracy/Macro-F1 和工程验证，保证老师能快速对应到可检查交付物。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Fault 检测使用 XJTU-SY 数据。我们用 RMS 的 3σ FOT 构造 Healthy/Faulty 标签，再把每个快照变成双通道时频特征，最后用 ResCNN-LSTM 做二分类。测试集中 Healthy 误判 3 个，Faulty 误判 2 个，Accuracy 0.9963，Macro-F1 0.9949。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工程上统一到 Python 3.11、uv 和 PyTorch 2.10，Mac 优先 MPS。训练入口使用 BaseTrainer，Notebook 展示特征图、训练曲线、指标和热力图。测试和文档也按课程结题交付整理。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最后总结三点：项目聚焦轴承 PHM；RUL 和 Fault 两条论文主线都通过统一框架跑通并输出证据；文档、测试和 PPT 已按课程结题交付整理。我的汇报到这里，谢谢老师。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11b7cfe5643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935b593a3e40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874ed608744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2caffb0b94c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a7e0216f747b9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067BB39-2AA7-4C71-85D9-2F955F067B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32435" y="1005903"/>
            <a:ext cx="4900930" cy="6814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200" b="0" i="0">
                <a:solidFill>
                  <a:schemeClr val="bg1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781CDB-2A5F-4EF7-A8D3-979C6292BEA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64870" y="1817116"/>
            <a:ext cx="4036060" cy="811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100" b="0" i="0">
                <a:solidFill>
                  <a:schemeClr val="tx1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7031821A-D6E5-46C5-B7FB-400136F4046B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1BF6CEA-7F72-416B-85B8-7CF32E56DCB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EA8E79F-29C8-483B-BFC5-35C6C21003B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ACBACA2A-84F0-4B41-8644-0E3689293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200" b="0" i="0">
                <a:solidFill>
                  <a:schemeClr val="bg1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A0428C5-4491-4B66-A9D3-4A8B6E6DC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100" b="0" i="0">
                <a:solidFill>
                  <a:schemeClr val="tx1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1CFFC59B-69DB-4481-B2A6-C694EA3AF86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C76D94B-4E7B-4EA4-9FDE-61007A4E821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AE06C4A7-E9EB-4889-8FE8-0CC468D5BF88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29E413C3-CB36-40E9-B333-DD8D9D677F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200" b="0" i="0">
                <a:solidFill>
                  <a:schemeClr val="bg1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8947006-6F1F-4CEE-BB1D-A0C8EC410F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88290" y="746315"/>
            <a:ext cx="2508123" cy="21416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E78B50C-0826-4D9E-9A1D-15248499C92C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969387" y="746315"/>
            <a:ext cx="2508123" cy="21416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7A50BCE-965D-4AE2-BE51-15AA794C6BF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24BF665D-52D3-4711-8045-C8E5A346B81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488BF117-9643-45CE-881D-E3764B31C66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FFB59F3-2651-4CC1-BA5B-892118D0BA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200" b="0" i="0">
                <a:solidFill>
                  <a:schemeClr val="bg1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1F9F938-0499-40FD-B267-58905BF7AC4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09B228A-B532-4F83-A3ED-58A737AE057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95A668AF-1FEB-4BE1-83F9-C61A485BA99F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C966F7C-F0BF-416A-BD00-835A16A5CF7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EC2C175B-918B-422B-AD90-FF3C53188CC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0348067-C06A-4973-8218-399C9EB6C287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d6e0633f9e0414a" /><Relationship Type="http://schemas.openxmlformats.org/officeDocument/2006/relationships/image" Target="/ppt/media/image2.png" Id="Rf98c078d146848fb" /><Relationship Type="http://schemas.openxmlformats.org/officeDocument/2006/relationships/image" Target="/ppt/media/image3.png" Id="Rd0acbdde658a4feb" /><Relationship Type="http://schemas.openxmlformats.org/officeDocument/2006/relationships/theme" Target="/ppt/slideMasters/theme/theme2.xml" Id="R41516eb40e00459e" /><Relationship Type="http://schemas.openxmlformats.org/officeDocument/2006/relationships/slideLayout" Target="/ppt/slideLayouts/slideLayout1.xml" Id="R6eaaa07edae5420f" /><Relationship Type="http://schemas.openxmlformats.org/officeDocument/2006/relationships/slideLayout" Target="/ppt/slideLayouts/slideLayout2.xml" Id="R134c2d9a4ec8471b" /><Relationship Type="http://schemas.openxmlformats.org/officeDocument/2006/relationships/slideLayout" Target="/ppt/slideLayouts/slideLayout3.xml" Id="Rea8316996d894e28" /><Relationship Type="http://schemas.openxmlformats.org/officeDocument/2006/relationships/slideLayout" Target="/ppt/slideLayouts/slideLayout4.xml" Id="R418325331c68484c" /><Relationship Type="http://schemas.openxmlformats.org/officeDocument/2006/relationships/slideLayout" Target="/ppt/slideLayouts/slideLayout5.xml" Id="Raa7f0f80be634a1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e0633f9e041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" y="-18"/>
            <a:ext cx="5757885" cy="36927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A30642F6-2505-4F8E-B238-32EB09BF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" y="953"/>
            <a:ext cx="3289935" cy="368300"/>
          </a:xfrm>
          <a:custGeom xmlns:a="http://schemas.openxmlformats.org/drawingml/2006/main">
            <a:rect l="l" t="t" r="r" b="b"/>
            <a:pathLst>
              <a:path w="3289935" h="368300">
                <a:moveTo>
                  <a:pt x="0" y="238760"/>
                </a:moveTo>
                <a:lnTo>
                  <a:pt x="0" y="368300"/>
                </a:lnTo>
                <a:lnTo>
                  <a:pt x="1637969" y="368300"/>
                </a:lnTo>
                <a:lnTo>
                  <a:pt x="1585556" y="365760"/>
                </a:lnTo>
                <a:lnTo>
                  <a:pt x="1117577" y="331469"/>
                </a:lnTo>
                <a:lnTo>
                  <a:pt x="1065985" y="326389"/>
                </a:lnTo>
                <a:lnTo>
                  <a:pt x="809201" y="307339"/>
                </a:lnTo>
                <a:lnTo>
                  <a:pt x="758076" y="302260"/>
                </a:lnTo>
                <a:lnTo>
                  <a:pt x="605153" y="290830"/>
                </a:lnTo>
                <a:lnTo>
                  <a:pt x="554328" y="285750"/>
                </a:lnTo>
                <a:lnTo>
                  <a:pt x="452898" y="278130"/>
                </a:lnTo>
                <a:lnTo>
                  <a:pt x="402293" y="273050"/>
                </a:lnTo>
                <a:lnTo>
                  <a:pt x="301298" y="265430"/>
                </a:lnTo>
                <a:lnTo>
                  <a:pt x="250907" y="260350"/>
                </a:lnTo>
                <a:lnTo>
                  <a:pt x="200586" y="256539"/>
                </a:lnTo>
                <a:lnTo>
                  <a:pt x="150336" y="251460"/>
                </a:lnTo>
                <a:lnTo>
                  <a:pt x="50043" y="243839"/>
                </a:lnTo>
                <a:lnTo>
                  <a:pt x="0" y="238760"/>
                </a:lnTo>
                <a:close/>
              </a:path>
              <a:path w="3289935" h="368300">
                <a:moveTo>
                  <a:pt x="0" y="97789"/>
                </a:moveTo>
                <a:lnTo>
                  <a:pt x="0" y="172719"/>
                </a:lnTo>
                <a:lnTo>
                  <a:pt x="50973" y="179069"/>
                </a:lnTo>
                <a:lnTo>
                  <a:pt x="101918" y="184150"/>
                </a:lnTo>
                <a:lnTo>
                  <a:pt x="203718" y="196850"/>
                </a:lnTo>
                <a:lnTo>
                  <a:pt x="254572" y="201930"/>
                </a:lnTo>
                <a:lnTo>
                  <a:pt x="305395" y="208280"/>
                </a:lnTo>
                <a:lnTo>
                  <a:pt x="356184" y="213360"/>
                </a:lnTo>
                <a:lnTo>
                  <a:pt x="406940" y="219710"/>
                </a:lnTo>
                <a:lnTo>
                  <a:pt x="457662" y="224789"/>
                </a:lnTo>
                <a:lnTo>
                  <a:pt x="508349" y="231139"/>
                </a:lnTo>
                <a:lnTo>
                  <a:pt x="660190" y="246380"/>
                </a:lnTo>
                <a:lnTo>
                  <a:pt x="710728" y="252730"/>
                </a:lnTo>
                <a:lnTo>
                  <a:pt x="962816" y="278130"/>
                </a:lnTo>
                <a:lnTo>
                  <a:pt x="1013107" y="281939"/>
                </a:lnTo>
                <a:lnTo>
                  <a:pt x="1163714" y="297180"/>
                </a:lnTo>
                <a:lnTo>
                  <a:pt x="1213824" y="300989"/>
                </a:lnTo>
                <a:lnTo>
                  <a:pt x="1263887" y="306069"/>
                </a:lnTo>
                <a:lnTo>
                  <a:pt x="1313903" y="309880"/>
                </a:lnTo>
                <a:lnTo>
                  <a:pt x="1363869" y="314960"/>
                </a:lnTo>
                <a:lnTo>
                  <a:pt x="1463652" y="322580"/>
                </a:lnTo>
                <a:lnTo>
                  <a:pt x="1513467" y="327660"/>
                </a:lnTo>
                <a:lnTo>
                  <a:pt x="2008618" y="365760"/>
                </a:lnTo>
                <a:lnTo>
                  <a:pt x="2057816" y="368300"/>
                </a:lnTo>
                <a:lnTo>
                  <a:pt x="2633147" y="368300"/>
                </a:lnTo>
                <a:lnTo>
                  <a:pt x="2410945" y="353060"/>
                </a:lnTo>
                <a:lnTo>
                  <a:pt x="2355840" y="347980"/>
                </a:lnTo>
                <a:lnTo>
                  <a:pt x="2191620" y="336550"/>
                </a:lnTo>
                <a:lnTo>
                  <a:pt x="2137251" y="331469"/>
                </a:lnTo>
                <a:lnTo>
                  <a:pt x="2083070" y="327660"/>
                </a:lnTo>
                <a:lnTo>
                  <a:pt x="2029079" y="322580"/>
                </a:lnTo>
                <a:lnTo>
                  <a:pt x="1975280" y="318769"/>
                </a:lnTo>
                <a:lnTo>
                  <a:pt x="1921674" y="313689"/>
                </a:lnTo>
                <a:lnTo>
                  <a:pt x="1868264" y="309880"/>
                </a:lnTo>
                <a:lnTo>
                  <a:pt x="1815050" y="304800"/>
                </a:lnTo>
                <a:lnTo>
                  <a:pt x="1762035" y="300989"/>
                </a:lnTo>
                <a:lnTo>
                  <a:pt x="1709219" y="295910"/>
                </a:lnTo>
                <a:lnTo>
                  <a:pt x="1656606" y="292100"/>
                </a:lnTo>
                <a:lnTo>
                  <a:pt x="1551992" y="281939"/>
                </a:lnTo>
                <a:lnTo>
                  <a:pt x="1499994" y="278130"/>
                </a:lnTo>
                <a:lnTo>
                  <a:pt x="991776" y="227330"/>
                </a:lnTo>
                <a:lnTo>
                  <a:pt x="942168" y="220980"/>
                </a:lnTo>
                <a:lnTo>
                  <a:pt x="843634" y="210819"/>
                </a:lnTo>
                <a:lnTo>
                  <a:pt x="794713" y="204469"/>
                </a:lnTo>
                <a:lnTo>
                  <a:pt x="746023" y="199389"/>
                </a:lnTo>
                <a:lnTo>
                  <a:pt x="697569" y="193039"/>
                </a:lnTo>
                <a:lnTo>
                  <a:pt x="649350" y="187960"/>
                </a:lnTo>
                <a:lnTo>
                  <a:pt x="553626" y="175260"/>
                </a:lnTo>
                <a:lnTo>
                  <a:pt x="506125" y="170180"/>
                </a:lnTo>
                <a:lnTo>
                  <a:pt x="180505" y="125730"/>
                </a:lnTo>
                <a:lnTo>
                  <a:pt x="134993" y="118110"/>
                </a:lnTo>
                <a:lnTo>
                  <a:pt x="89736" y="111760"/>
                </a:lnTo>
                <a:lnTo>
                  <a:pt x="44738" y="104139"/>
                </a:lnTo>
                <a:lnTo>
                  <a:pt x="0" y="97789"/>
                </a:lnTo>
                <a:close/>
              </a:path>
              <a:path w="3289935" h="368300">
                <a:moveTo>
                  <a:pt x="187545" y="0"/>
                </a:moveTo>
                <a:lnTo>
                  <a:pt x="0" y="0"/>
                </a:lnTo>
                <a:lnTo>
                  <a:pt x="0" y="21589"/>
                </a:lnTo>
                <a:lnTo>
                  <a:pt x="40939" y="30480"/>
                </a:lnTo>
                <a:lnTo>
                  <a:pt x="124172" y="45719"/>
                </a:lnTo>
                <a:lnTo>
                  <a:pt x="166451" y="54610"/>
                </a:lnTo>
                <a:lnTo>
                  <a:pt x="428986" y="100330"/>
                </a:lnTo>
                <a:lnTo>
                  <a:pt x="474154" y="106680"/>
                </a:lnTo>
                <a:lnTo>
                  <a:pt x="565639" y="121919"/>
                </a:lnTo>
                <a:lnTo>
                  <a:pt x="611943" y="128269"/>
                </a:lnTo>
                <a:lnTo>
                  <a:pt x="658612" y="135889"/>
                </a:lnTo>
                <a:lnTo>
                  <a:pt x="705639" y="142239"/>
                </a:lnTo>
                <a:lnTo>
                  <a:pt x="753017" y="149860"/>
                </a:lnTo>
                <a:lnTo>
                  <a:pt x="1244623" y="213360"/>
                </a:lnTo>
                <a:lnTo>
                  <a:pt x="1295416" y="218439"/>
                </a:lnTo>
                <a:lnTo>
                  <a:pt x="1346478" y="224789"/>
                </a:lnTo>
                <a:lnTo>
                  <a:pt x="1397803" y="229869"/>
                </a:lnTo>
                <a:lnTo>
                  <a:pt x="1449384" y="236219"/>
                </a:lnTo>
                <a:lnTo>
                  <a:pt x="1553286" y="246380"/>
                </a:lnTo>
                <a:lnTo>
                  <a:pt x="1605594" y="252730"/>
                </a:lnTo>
                <a:lnTo>
                  <a:pt x="2031714" y="293369"/>
                </a:lnTo>
                <a:lnTo>
                  <a:pt x="2085834" y="297180"/>
                </a:lnTo>
                <a:lnTo>
                  <a:pt x="2140121" y="302260"/>
                </a:lnTo>
                <a:lnTo>
                  <a:pt x="2194569" y="306069"/>
                </a:lnTo>
                <a:lnTo>
                  <a:pt x="2249170" y="311150"/>
                </a:lnTo>
                <a:lnTo>
                  <a:pt x="2303919" y="314960"/>
                </a:lnTo>
                <a:lnTo>
                  <a:pt x="2358807" y="320039"/>
                </a:lnTo>
                <a:lnTo>
                  <a:pt x="2468976" y="327660"/>
                </a:lnTo>
                <a:lnTo>
                  <a:pt x="2524244" y="332739"/>
                </a:lnTo>
                <a:lnTo>
                  <a:pt x="2857977" y="355600"/>
                </a:lnTo>
                <a:lnTo>
                  <a:pt x="2913891" y="358139"/>
                </a:lnTo>
                <a:lnTo>
                  <a:pt x="3025906" y="365760"/>
                </a:lnTo>
                <a:lnTo>
                  <a:pt x="3081994" y="368300"/>
                </a:lnTo>
                <a:lnTo>
                  <a:pt x="3289838" y="368300"/>
                </a:lnTo>
                <a:lnTo>
                  <a:pt x="2953082" y="345439"/>
                </a:lnTo>
                <a:lnTo>
                  <a:pt x="2897271" y="340360"/>
                </a:lnTo>
                <a:lnTo>
                  <a:pt x="2785980" y="332739"/>
                </a:lnTo>
                <a:lnTo>
                  <a:pt x="2730514" y="327660"/>
                </a:lnTo>
                <a:lnTo>
                  <a:pt x="2619978" y="320039"/>
                </a:lnTo>
                <a:lnTo>
                  <a:pt x="2564922" y="314960"/>
                </a:lnTo>
                <a:lnTo>
                  <a:pt x="2510015" y="311150"/>
                </a:lnTo>
                <a:lnTo>
                  <a:pt x="2455266" y="306069"/>
                </a:lnTo>
                <a:lnTo>
                  <a:pt x="2400681" y="302260"/>
                </a:lnTo>
                <a:lnTo>
                  <a:pt x="2292030" y="292100"/>
                </a:lnTo>
                <a:lnTo>
                  <a:pt x="2237979" y="288289"/>
                </a:lnTo>
                <a:lnTo>
                  <a:pt x="1709173" y="237489"/>
                </a:lnTo>
                <a:lnTo>
                  <a:pt x="1657616" y="231139"/>
                </a:lnTo>
                <a:lnTo>
                  <a:pt x="1606328" y="226060"/>
                </a:lnTo>
                <a:lnTo>
                  <a:pt x="1555315" y="219710"/>
                </a:lnTo>
                <a:lnTo>
                  <a:pt x="1504584" y="214630"/>
                </a:lnTo>
                <a:lnTo>
                  <a:pt x="1454143" y="208280"/>
                </a:lnTo>
                <a:lnTo>
                  <a:pt x="1403998" y="203200"/>
                </a:lnTo>
                <a:lnTo>
                  <a:pt x="1061867" y="158750"/>
                </a:lnTo>
                <a:lnTo>
                  <a:pt x="1014344" y="151130"/>
                </a:lnTo>
                <a:lnTo>
                  <a:pt x="967179" y="144780"/>
                </a:lnTo>
                <a:lnTo>
                  <a:pt x="920381" y="137160"/>
                </a:lnTo>
                <a:lnTo>
                  <a:pt x="873955" y="130810"/>
                </a:lnTo>
                <a:lnTo>
                  <a:pt x="782251" y="115569"/>
                </a:lnTo>
                <a:lnTo>
                  <a:pt x="736986" y="109219"/>
                </a:lnTo>
                <a:lnTo>
                  <a:pt x="647665" y="93980"/>
                </a:lnTo>
                <a:lnTo>
                  <a:pt x="603624" y="85089"/>
                </a:lnTo>
                <a:lnTo>
                  <a:pt x="516812" y="69850"/>
                </a:lnTo>
                <a:lnTo>
                  <a:pt x="474056" y="60960"/>
                </a:lnTo>
                <a:lnTo>
                  <a:pt x="431742" y="53339"/>
                </a:lnTo>
                <a:lnTo>
                  <a:pt x="187545" y="0"/>
                </a:lnTo>
                <a:close/>
              </a:path>
              <a:path w="3289935" h="368300">
                <a:moveTo>
                  <a:pt x="669050" y="0"/>
                </a:moveTo>
                <a:lnTo>
                  <a:pt x="509825" y="0"/>
                </a:lnTo>
                <a:lnTo>
                  <a:pt x="740049" y="45719"/>
                </a:lnTo>
                <a:lnTo>
                  <a:pt x="780063" y="52069"/>
                </a:lnTo>
                <a:lnTo>
                  <a:pt x="944979" y="82550"/>
                </a:lnTo>
                <a:lnTo>
                  <a:pt x="987445" y="88900"/>
                </a:lnTo>
                <a:lnTo>
                  <a:pt x="1073894" y="104139"/>
                </a:lnTo>
                <a:lnTo>
                  <a:pt x="1117886" y="110489"/>
                </a:lnTo>
                <a:lnTo>
                  <a:pt x="1162395" y="118110"/>
                </a:lnTo>
                <a:lnTo>
                  <a:pt x="1207426" y="124460"/>
                </a:lnTo>
                <a:lnTo>
                  <a:pt x="1252983" y="132080"/>
                </a:lnTo>
                <a:lnTo>
                  <a:pt x="1345695" y="144780"/>
                </a:lnTo>
                <a:lnTo>
                  <a:pt x="1392858" y="152400"/>
                </a:lnTo>
                <a:lnTo>
                  <a:pt x="1636931" y="184150"/>
                </a:lnTo>
                <a:lnTo>
                  <a:pt x="1687428" y="191769"/>
                </a:lnTo>
                <a:lnTo>
                  <a:pt x="1738496" y="198119"/>
                </a:lnTo>
                <a:lnTo>
                  <a:pt x="1790140" y="203200"/>
                </a:lnTo>
                <a:lnTo>
                  <a:pt x="2002564" y="228600"/>
                </a:lnTo>
                <a:lnTo>
                  <a:pt x="2057154" y="233680"/>
                </a:lnTo>
                <a:lnTo>
                  <a:pt x="2168148" y="246380"/>
                </a:lnTo>
                <a:lnTo>
                  <a:pt x="2224560" y="251460"/>
                </a:lnTo>
                <a:lnTo>
                  <a:pt x="2281588" y="257810"/>
                </a:lnTo>
                <a:lnTo>
                  <a:pt x="2397512" y="267969"/>
                </a:lnTo>
                <a:lnTo>
                  <a:pt x="2456416" y="274319"/>
                </a:lnTo>
                <a:lnTo>
                  <a:pt x="2698418" y="294639"/>
                </a:lnTo>
                <a:lnTo>
                  <a:pt x="2760538" y="300989"/>
                </a:lnTo>
                <a:lnTo>
                  <a:pt x="2823314" y="304800"/>
                </a:lnTo>
                <a:lnTo>
                  <a:pt x="2950855" y="314960"/>
                </a:lnTo>
                <a:lnTo>
                  <a:pt x="2832781" y="304800"/>
                </a:lnTo>
                <a:lnTo>
                  <a:pt x="2774245" y="298450"/>
                </a:lnTo>
                <a:lnTo>
                  <a:pt x="2658193" y="288289"/>
                </a:lnTo>
                <a:lnTo>
                  <a:pt x="2600684" y="281939"/>
                </a:lnTo>
                <a:lnTo>
                  <a:pt x="2543526" y="276860"/>
                </a:lnTo>
                <a:lnTo>
                  <a:pt x="2430276" y="264160"/>
                </a:lnTo>
                <a:lnTo>
                  <a:pt x="2374191" y="259080"/>
                </a:lnTo>
                <a:lnTo>
                  <a:pt x="1939002" y="208280"/>
                </a:lnTo>
                <a:lnTo>
                  <a:pt x="1886347" y="200660"/>
                </a:lnTo>
                <a:lnTo>
                  <a:pt x="1782241" y="187960"/>
                </a:lnTo>
                <a:lnTo>
                  <a:pt x="1730798" y="180339"/>
                </a:lnTo>
                <a:lnTo>
                  <a:pt x="1679767" y="173989"/>
                </a:lnTo>
                <a:lnTo>
                  <a:pt x="1578956" y="158750"/>
                </a:lnTo>
                <a:lnTo>
                  <a:pt x="1529183" y="152400"/>
                </a:lnTo>
                <a:lnTo>
                  <a:pt x="1100913" y="83819"/>
                </a:lnTo>
                <a:lnTo>
                  <a:pt x="1055586" y="74930"/>
                </a:lnTo>
                <a:lnTo>
                  <a:pt x="966331" y="59689"/>
                </a:lnTo>
                <a:lnTo>
                  <a:pt x="922411" y="50800"/>
                </a:lnTo>
                <a:lnTo>
                  <a:pt x="878969" y="43180"/>
                </a:lnTo>
                <a:lnTo>
                  <a:pt x="751544" y="16510"/>
                </a:lnTo>
                <a:lnTo>
                  <a:pt x="710049" y="8889"/>
                </a:lnTo>
                <a:lnTo>
                  <a:pt x="669050" y="0"/>
                </a:lnTo>
                <a:close/>
              </a:path>
            </a:pathLst>
          </a:custGeom>
          <a:solidFill xmlns:a="http://schemas.openxmlformats.org/drawingml/2006/main">
            <a:srgbClr val="003F9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2C214413-EC2B-425B-A22B-9FBE5409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" y="369253"/>
            <a:ext cx="5758180" cy="19685"/>
          </a:xfrm>
          <a:custGeom xmlns:a="http://schemas.openxmlformats.org/drawingml/2006/main">
            <a:rect l="l" t="t" r="r" b="b"/>
            <a:pathLst>
              <a:path w="5758180" h="19685">
                <a:moveTo>
                  <a:pt x="5757885" y="0"/>
                </a:moveTo>
                <a:lnTo>
                  <a:pt x="0" y="0"/>
                </a:lnTo>
                <a:lnTo>
                  <a:pt x="0" y="19261"/>
                </a:lnTo>
                <a:lnTo>
                  <a:pt x="5757885" y="19261"/>
                </a:lnTo>
                <a:lnTo>
                  <a:pt x="5757885" y="0"/>
                </a:lnTo>
                <a:close/>
              </a:path>
            </a:pathLst>
          </a:custGeom>
          <a:solidFill xmlns:a="http://schemas.openxmlformats.org/drawingml/2006/main">
            <a:srgbClr val="EAEBE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9" name="bg object 19">
            <a:extLst xmlns:a="http://schemas.openxmlformats.org/drawingml/2006/main">
              <a:ext uri="{FF2B5EF4-FFF2-40B4-BE49-F238E27FC236}">
                <a16:creationId xmlns:a16="http://schemas.microsoft.com/office/drawing/2014/main" id="{BBD709B6-5EFD-4BDB-BA6B-A8EFEA4E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" y="3069966"/>
            <a:ext cx="5758180" cy="168910"/>
          </a:xfrm>
          <a:custGeom xmlns:a="http://schemas.openxmlformats.org/drawingml/2006/main">
            <a:rect l="l" t="t" r="r" b="b"/>
            <a:pathLst>
              <a:path w="5758180" h="168910">
                <a:moveTo>
                  <a:pt x="5757885" y="0"/>
                </a:moveTo>
                <a:lnTo>
                  <a:pt x="0" y="0"/>
                </a:lnTo>
                <a:lnTo>
                  <a:pt x="0" y="168876"/>
                </a:lnTo>
                <a:lnTo>
                  <a:pt x="5757885" y="168876"/>
                </a:lnTo>
                <a:lnTo>
                  <a:pt x="5757885" y="0"/>
                </a:lnTo>
                <a:close/>
              </a:path>
            </a:pathLst>
          </a:custGeom>
          <a:solidFill xmlns:a="http://schemas.openxmlformats.org/drawingml/2006/main">
            <a:srgbClr val="003F9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0" name="bg object 20">
            <a:extLst xmlns:a="http://schemas.openxmlformats.org/drawingml/2006/main">
              <a:ext uri="{FF2B5EF4-FFF2-40B4-BE49-F238E27FC236}">
                <a16:creationId xmlns:a16="http://schemas.microsoft.com/office/drawing/2014/main" id="{3B610DF4-44A2-454A-B8FC-30BF22E8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" y="3050704"/>
            <a:ext cx="5758180" cy="19685"/>
          </a:xfrm>
          <a:custGeom xmlns:a="http://schemas.openxmlformats.org/drawingml/2006/main">
            <a:rect l="l" t="t" r="r" b="b"/>
            <a:pathLst>
              <a:path w="5758180" h="19685">
                <a:moveTo>
                  <a:pt x="5757885" y="0"/>
                </a:moveTo>
                <a:lnTo>
                  <a:pt x="0" y="0"/>
                </a:lnTo>
                <a:lnTo>
                  <a:pt x="0" y="19261"/>
                </a:lnTo>
                <a:lnTo>
                  <a:pt x="5757885" y="19261"/>
                </a:lnTo>
                <a:lnTo>
                  <a:pt x="5757885" y="0"/>
                </a:lnTo>
                <a:close/>
              </a:path>
            </a:pathLst>
          </a:custGeom>
          <a:solidFill xmlns:a="http://schemas.openxmlformats.org/drawingml/2006/main">
            <a:srgbClr val="EAEBE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21" name="bg 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c078d146848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4737" y="53035"/>
            <a:ext cx="270597" cy="270510"/>
          </a:xfrm>
          <a:prstGeom xmlns:a="http://schemas.openxmlformats.org/drawingml/2006/main" prst="rect">
            <a:avLst/>
          </a:prstGeom>
        </p:spPr>
      </p:pic>
      <p:pic>
        <p:nvPicPr>
          <p:cNvPr id="22" name="bg 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cbdde658a4f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6801" y="75062"/>
            <a:ext cx="1135005" cy="226368"/>
          </a:xfrm>
          <a:prstGeom xmlns:a="http://schemas.openxmlformats.org/drawingml/2006/main" prst="rect">
            <a:avLst/>
          </a:prstGeom>
        </p:spPr>
      </p:pic>
      <p:sp>
        <p:nvSpPr>
          <p:cNvPr id="23" name="bg object 23">
            <a:extLst xmlns:a="http://schemas.openxmlformats.org/drawingml/2006/main">
              <a:ext uri="{FF2B5EF4-FFF2-40B4-BE49-F238E27FC236}">
                <a16:creationId xmlns:a16="http://schemas.microsoft.com/office/drawing/2014/main" id="{681DDEB5-B927-47C9-9A0E-9E589D5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125" y="3155250"/>
            <a:ext cx="43180" cy="30480"/>
          </a:xfrm>
          <a:custGeom xmlns:a="http://schemas.openxmlformats.org/drawingml/2006/main"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xmlns:a="http://schemas.openxmlformats.org/drawingml/2006/main" w="5060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4" name="bg object 24">
            <a:extLst xmlns:a="http://schemas.openxmlformats.org/drawingml/2006/main">
              <a:ext uri="{FF2B5EF4-FFF2-40B4-BE49-F238E27FC236}">
                <a16:creationId xmlns:a16="http://schemas.microsoft.com/office/drawing/2014/main" id="{B02AA5A2-C5C4-4B08-AF44-D51BBF4A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508" y="3151288"/>
            <a:ext cx="25400" cy="38100"/>
          </a:xfrm>
          <a:custGeom xmlns:a="http://schemas.openxmlformats.org/drawingml/2006/main"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 xmlns:a="http://schemas.openxmlformats.org/drawingml/2006/main">
            <a:srgbClr val="D6D6E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bg object 25">
            <a:extLst xmlns:a="http://schemas.openxmlformats.org/drawingml/2006/main">
              <a:ext uri="{FF2B5EF4-FFF2-40B4-BE49-F238E27FC236}">
                <a16:creationId xmlns:a16="http://schemas.microsoft.com/office/drawing/2014/main" id="{104FA046-351A-4F7C-BF92-1AD7E44A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310" y="3151288"/>
            <a:ext cx="25400" cy="38100"/>
          </a:xfrm>
          <a:custGeom xmlns:a="http://schemas.openxmlformats.org/drawingml/2006/main"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6E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6" name="bg object 26">
            <a:extLst xmlns:a="http://schemas.openxmlformats.org/drawingml/2006/main">
              <a:ext uri="{FF2B5EF4-FFF2-40B4-BE49-F238E27FC236}">
                <a16:creationId xmlns:a16="http://schemas.microsoft.com/office/drawing/2014/main" id="{18E374CB-0834-4078-BD80-CAE4B2C4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644" y="3144938"/>
            <a:ext cx="64135" cy="50800"/>
          </a:xfrm>
          <a:custGeom xmlns:a="http://schemas.openxmlformats.org/drawingml/2006/main"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xmlns:a="http://schemas.openxmlformats.org/drawingml/2006/main" w="5060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7" name="bg object 27">
            <a:extLst xmlns:a="http://schemas.openxmlformats.org/drawingml/2006/main">
              <a:ext uri="{FF2B5EF4-FFF2-40B4-BE49-F238E27FC236}">
                <a16:creationId xmlns:a16="http://schemas.microsoft.com/office/drawing/2014/main" id="{5D27E5B7-362B-43BA-9064-72A12C40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475" y="3151288"/>
            <a:ext cx="203200" cy="38100"/>
          </a:xfrm>
          <a:custGeom xmlns:a="http://schemas.openxmlformats.org/drawingml/2006/main"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 xmlns:a="http://schemas.openxmlformats.org/drawingml/2006/main">
            <a:srgbClr val="D6D6E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8" name="bg object 28">
            <a:extLst xmlns:a="http://schemas.openxmlformats.org/drawingml/2006/main">
              <a:ext uri="{FF2B5EF4-FFF2-40B4-BE49-F238E27FC236}">
                <a16:creationId xmlns:a16="http://schemas.microsoft.com/office/drawing/2014/main" id="{1DAE1466-6A37-4B4A-8AE0-CDBDD6B5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343" y="3157638"/>
            <a:ext cx="38100" cy="0"/>
          </a:xfrm>
          <a:custGeom xmlns:a="http://schemas.openxmlformats.org/drawingml/2006/main"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xmlns:a="http://schemas.openxmlformats.org/drawingml/2006/main" w="7591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9" name="bg object 29">
            <a:extLst xmlns:a="http://schemas.openxmlformats.org/drawingml/2006/main">
              <a:ext uri="{FF2B5EF4-FFF2-40B4-BE49-F238E27FC236}">
                <a16:creationId xmlns:a16="http://schemas.microsoft.com/office/drawing/2014/main" id="{50639031-AFDA-4718-B48E-B5BAE98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42" y="3151288"/>
            <a:ext cx="203200" cy="38100"/>
          </a:xfrm>
          <a:custGeom xmlns:a="http://schemas.openxmlformats.org/drawingml/2006/main"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 xmlns:a="http://schemas.openxmlformats.org/drawingml/2006/main">
            <a:srgbClr val="D6D6E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0" name="bg object 30">
            <a:extLst xmlns:a="http://schemas.openxmlformats.org/drawingml/2006/main">
              <a:ext uri="{FF2B5EF4-FFF2-40B4-BE49-F238E27FC236}">
                <a16:creationId xmlns:a16="http://schemas.microsoft.com/office/drawing/2014/main" id="{1AFAA9F5-52C7-4B76-BDD5-6D3F63E2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43" y="3144938"/>
            <a:ext cx="50800" cy="50800"/>
          </a:xfrm>
          <a:custGeom xmlns:a="http://schemas.openxmlformats.org/drawingml/2006/main"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xmlns:a="http://schemas.openxmlformats.org/drawingml/2006/main" w="7591">
            <a:solidFill>
              <a:srgbClr val="D6D6EF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1" name="bg object 31">
            <a:extLst xmlns:a="http://schemas.openxmlformats.org/drawingml/2006/main">
              <a:ext uri="{FF2B5EF4-FFF2-40B4-BE49-F238E27FC236}">
                <a16:creationId xmlns:a16="http://schemas.microsoft.com/office/drawing/2014/main" id="{B0C4DD90-76EC-4E8A-8C77-02976264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610" y="3144938"/>
            <a:ext cx="50800" cy="25400"/>
          </a:xfrm>
          <a:custGeom xmlns:a="http://schemas.openxmlformats.org/drawingml/2006/main"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xmlns:a="http://schemas.openxmlformats.org/drawingml/2006/main" w="7591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2" name="bg object 32">
            <a:extLst xmlns:a="http://schemas.openxmlformats.org/drawingml/2006/main">
              <a:ext uri="{FF2B5EF4-FFF2-40B4-BE49-F238E27FC236}">
                <a16:creationId xmlns:a16="http://schemas.microsoft.com/office/drawing/2014/main" id="{98636FF0-C339-40F1-9161-59348BEB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409" y="3151288"/>
            <a:ext cx="203200" cy="38100"/>
          </a:xfrm>
          <a:custGeom xmlns:a="http://schemas.openxmlformats.org/drawingml/2006/main"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 xmlns:a="http://schemas.openxmlformats.org/drawingml/2006/main">
            <a:srgbClr val="D6D6E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3" name="bg object 33">
            <a:extLst xmlns:a="http://schemas.openxmlformats.org/drawingml/2006/main">
              <a:ext uri="{FF2B5EF4-FFF2-40B4-BE49-F238E27FC236}">
                <a16:creationId xmlns:a16="http://schemas.microsoft.com/office/drawing/2014/main" id="{332937AF-5BC6-4D1C-BF5F-C736259B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610" y="3183038"/>
            <a:ext cx="50800" cy="12700"/>
          </a:xfrm>
          <a:custGeom xmlns:a="http://schemas.openxmlformats.org/drawingml/2006/main"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xmlns:a="http://schemas.openxmlformats.org/drawingml/2006/main" w="7591">
            <a:solidFill>
              <a:srgbClr val="D6D6EF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4" name="bg object 34">
            <a:extLst xmlns:a="http://schemas.openxmlformats.org/drawingml/2006/main">
              <a:ext uri="{FF2B5EF4-FFF2-40B4-BE49-F238E27FC236}">
                <a16:creationId xmlns:a16="http://schemas.microsoft.com/office/drawing/2014/main" id="{72E8F097-031F-437D-AFB1-A4DF97EF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577" y="3144938"/>
            <a:ext cx="50800" cy="50800"/>
          </a:xfrm>
          <a:custGeom xmlns:a="http://schemas.openxmlformats.org/drawingml/2006/main"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xmlns:a="http://schemas.openxmlformats.org/drawingml/2006/main" w="7591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5" name="bg object 35">
            <a:extLst xmlns:a="http://schemas.openxmlformats.org/drawingml/2006/main">
              <a:ext uri="{FF2B5EF4-FFF2-40B4-BE49-F238E27FC236}">
                <a16:creationId xmlns:a16="http://schemas.microsoft.com/office/drawing/2014/main" id="{D6CDBE60-A57C-42D1-82F6-5AA5D6E5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025" y="3175418"/>
            <a:ext cx="20320" cy="20320"/>
          </a:xfrm>
          <a:custGeom xmlns:a="http://schemas.openxmlformats.org/drawingml/2006/main"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xmlns:a="http://schemas.openxmlformats.org/drawingml/2006/main" w="7591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6" name="bg object 36">
            <a:extLst xmlns:a="http://schemas.openxmlformats.org/drawingml/2006/main">
              <a:ext uri="{FF2B5EF4-FFF2-40B4-BE49-F238E27FC236}">
                <a16:creationId xmlns:a16="http://schemas.microsoft.com/office/drawing/2014/main" id="{45613345-98A5-4375-ADD4-FB97A2FC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961" y="3148924"/>
            <a:ext cx="30480" cy="30480"/>
          </a:xfrm>
          <a:custGeom xmlns:a="http://schemas.openxmlformats.org/drawingml/2006/main"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xmlns:a="http://schemas.openxmlformats.org/drawingml/2006/main" w="5060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7" name="bg object 37">
            <a:extLst xmlns:a="http://schemas.openxmlformats.org/drawingml/2006/main">
              <a:ext uri="{FF2B5EF4-FFF2-40B4-BE49-F238E27FC236}">
                <a16:creationId xmlns:a16="http://schemas.microsoft.com/office/drawing/2014/main" id="{8C80846F-3CE8-4AF9-96C9-5C715F53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104" y="3144938"/>
            <a:ext cx="233679" cy="50800"/>
          </a:xfrm>
          <a:custGeom xmlns:a="http://schemas.openxmlformats.org/drawingml/2006/main"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xmlns:a="http://schemas.openxmlformats.org/drawingml/2006/main" w="5060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1CFD3D9-29E5-4867-A3C3-4959550BA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300" y="65872"/>
            <a:ext cx="1263650" cy="207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200" b="0" i="0">
                <a:solidFill>
                  <a:schemeClr val="bg1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74B5AD1-75CA-4695-9611-29728A964D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1894" y="683371"/>
            <a:ext cx="3542665" cy="1814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100" b="0" i="0">
                <a:solidFill>
                  <a:schemeClr val="tx1"/>
                </a:solidFill>
                <a:latin typeface="宋体"/>
                <a:ea typeface="宋体"/>
                <a:cs typeface="宋体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3A6CCA5-06B6-475E-8E98-DDFD7D90DDE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960372" y="3017710"/>
            <a:ext cx="1845056" cy="1622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9CDF9A01-0462-4236-AAA5-82BC0889CA1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288290" y="3017710"/>
            <a:ext cx="1326134" cy="1622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42B7912-14A2-4181-A35C-7F2718C73467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4151376" y="3017710"/>
            <a:ext cx="1326134" cy="1622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aaa07edae5420f"/>
    <p:sldLayoutId xmlns:r="http://schemas.openxmlformats.org/officeDocument/2006/relationships" id="2147483650" r:id="R134c2d9a4ec8471b"/>
    <p:sldLayoutId xmlns:r="http://schemas.openxmlformats.org/officeDocument/2006/relationships" id="2147483651" r:id="Rea8316996d894e28"/>
    <p:sldLayoutId xmlns:r="http://schemas.openxmlformats.org/officeDocument/2006/relationships" id="2147483652" r:id="R418325331c68484c"/>
    <p:sldLayoutId xmlns:r="http://schemas.openxmlformats.org/officeDocument/2006/relationships" id="2147483653" r:id="Raa7f0f80be634a1d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09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41d18ed58642be" /><Relationship Type="http://schemas.openxmlformats.org/officeDocument/2006/relationships/image" Target="/ppt/media/image4.png" Id="Re69afedb885a456a" /><Relationship Type="http://schemas.openxmlformats.org/officeDocument/2006/relationships/image" Target="/ppt/media/image5.png" Id="Rc2921430910f4528" /><Relationship Type="http://schemas.openxmlformats.org/officeDocument/2006/relationships/image" Target="/ppt/media/image6.png" Id="R373685953fa64269" /><Relationship Type="http://schemas.openxmlformats.org/officeDocument/2006/relationships/notesSlide" Target="/ppt/notesSlides/notesSlide1.xml" Id="R9ccafbb18a1947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41aa1c03b09482b" /><Relationship Type="http://schemas.openxmlformats.org/officeDocument/2006/relationships/notesSlide" Target="/ppt/notesSlides/notesSlide2.xml" Id="R5d60bbe581ac4b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5eeaa832ed4b54" /><Relationship Type="http://schemas.openxmlformats.org/officeDocument/2006/relationships/notesSlide" Target="/ppt/notesSlides/notesSlide3.xml" Id="R1ebf4a0d72f246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83b8185de8449c" /><Relationship Type="http://schemas.openxmlformats.org/officeDocument/2006/relationships/image" Target="/ppt/media/image7.png" Id="Rcd088d4f54e546b4" /><Relationship Type="http://schemas.openxmlformats.org/officeDocument/2006/relationships/notesSlide" Target="/ppt/notesSlides/notesSlide4.xml" Id="Rb9e7f317134c44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e9215b837146f9" /><Relationship Type="http://schemas.openxmlformats.org/officeDocument/2006/relationships/image" Target="/ppt/media/image8.png" Id="R599f7e2273564890" /><Relationship Type="http://schemas.openxmlformats.org/officeDocument/2006/relationships/notesSlide" Target="/ppt/notesSlides/notesSlide5.xml" Id="Rd16f62b7b55544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eb6223981b4934" /><Relationship Type="http://schemas.openxmlformats.org/officeDocument/2006/relationships/image" Target="/ppt/media/image9.png" Id="Rc2cf6de9dbee4772" /><Relationship Type="http://schemas.openxmlformats.org/officeDocument/2006/relationships/notesSlide" Target="/ppt/notesSlides/notesSlide6.xml" Id="Rc54526e42fa741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1ab695c3748ae" /><Relationship Type="http://schemas.openxmlformats.org/officeDocument/2006/relationships/image" Target="/ppt/media/image10.png" Id="R2d865f98099342fa" /><Relationship Type="http://schemas.openxmlformats.org/officeDocument/2006/relationships/notesSlide" Target="/ppt/notesSlides/notesSlide7.xml" Id="R395a1d4c586243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122f1d9cd74043" /><Relationship Type="http://schemas.openxmlformats.org/officeDocument/2006/relationships/image" Target="/ppt/media/image11.png" Id="Rfbf9e05b45a940c6" /><Relationship Type="http://schemas.openxmlformats.org/officeDocument/2006/relationships/notesSlide" Target="/ppt/notesSlides/notesSlide8.xml" Id="Ra099682a9dce4f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0f132c8e244452" /><Relationship Type="http://schemas.openxmlformats.org/officeDocument/2006/relationships/notesSlide" Target="/ppt/notesSlides/notesSlide9.xml" Id="R130bdf4dea974b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c460c3d31b44e0" /><Relationship Type="http://schemas.openxmlformats.org/officeDocument/2006/relationships/image" Target="/ppt/media/image12.png" Id="R3e1978a916154b71" /><Relationship Type="http://schemas.openxmlformats.org/officeDocument/2006/relationships/notesSlide" Target="/ppt/notesSlides/notesSlide10.xml" Id="R3e506ea3bc4147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fedf2820d44937" /><Relationship Type="http://schemas.openxmlformats.org/officeDocument/2006/relationships/notesSlide" Target="/ppt/notesSlides/notesSlide11.xml" Id="Rd918bfeb07d546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f6973f400f46da" /><Relationship Type="http://schemas.openxmlformats.org/officeDocument/2006/relationships/notesSlide" Target="/ppt/notesSlides/notesSlide12.xml" Id="Rfa204fd3fb4a4761" /></Relationships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afedb885a45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" y="887153"/>
            <a:ext cx="5757885" cy="1680424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9C8EEF52-1D1B-4404-9AAD-EC48107E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" y="-18"/>
            <a:ext cx="5758180" cy="640715"/>
          </a:xfrm>
          <a:custGeom xmlns:a="http://schemas.openxmlformats.org/drawingml/2006/main">
            <a:rect l="l" t="t" r="r" b="b"/>
            <a:pathLst>
              <a:path w="5758180" h="640715">
                <a:moveTo>
                  <a:pt x="5757885" y="0"/>
                </a:moveTo>
                <a:lnTo>
                  <a:pt x="0" y="0"/>
                </a:lnTo>
                <a:lnTo>
                  <a:pt x="0" y="640515"/>
                </a:lnTo>
                <a:lnTo>
                  <a:pt x="5757885" y="640515"/>
                </a:lnTo>
                <a:lnTo>
                  <a:pt x="5757885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6866F8B-DE09-4E61-AD88-FA1B2165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" y="891177"/>
            <a:ext cx="3289935" cy="1676400"/>
          </a:xfrm>
          <a:custGeom xmlns:a="http://schemas.openxmlformats.org/drawingml/2006/main">
            <a:rect l="l" t="t" r="r" b="b"/>
            <a:pathLst>
              <a:path w="3289935" h="1676400">
                <a:moveTo>
                  <a:pt x="0" y="1092200"/>
                </a:moveTo>
                <a:lnTo>
                  <a:pt x="0" y="1676400"/>
                </a:lnTo>
                <a:lnTo>
                  <a:pt x="1637969" y="1676400"/>
                </a:lnTo>
                <a:lnTo>
                  <a:pt x="1490196" y="1638300"/>
                </a:lnTo>
                <a:lnTo>
                  <a:pt x="1441087" y="1612900"/>
                </a:lnTo>
                <a:lnTo>
                  <a:pt x="1294200" y="1574800"/>
                </a:lnTo>
                <a:lnTo>
                  <a:pt x="1245383" y="1549400"/>
                </a:lnTo>
                <a:lnTo>
                  <a:pt x="1147963" y="1524000"/>
                </a:lnTo>
                <a:lnTo>
                  <a:pt x="1099359" y="1498600"/>
                </a:lnTo>
                <a:lnTo>
                  <a:pt x="1002363" y="1473200"/>
                </a:lnTo>
                <a:lnTo>
                  <a:pt x="953969" y="1447800"/>
                </a:lnTo>
                <a:lnTo>
                  <a:pt x="857389" y="1422400"/>
                </a:lnTo>
                <a:lnTo>
                  <a:pt x="809201" y="1397000"/>
                </a:lnTo>
                <a:lnTo>
                  <a:pt x="713028" y="1371600"/>
                </a:lnTo>
                <a:lnTo>
                  <a:pt x="665042" y="1346200"/>
                </a:lnTo>
                <a:lnTo>
                  <a:pt x="617122" y="1333500"/>
                </a:lnTo>
                <a:lnTo>
                  <a:pt x="569269" y="1308100"/>
                </a:lnTo>
                <a:lnTo>
                  <a:pt x="521480" y="1295400"/>
                </a:lnTo>
                <a:lnTo>
                  <a:pt x="473757" y="1270000"/>
                </a:lnTo>
                <a:lnTo>
                  <a:pt x="378503" y="1244600"/>
                </a:lnTo>
                <a:lnTo>
                  <a:pt x="330972" y="1219200"/>
                </a:lnTo>
                <a:lnTo>
                  <a:pt x="283504" y="1206500"/>
                </a:lnTo>
                <a:lnTo>
                  <a:pt x="236099" y="1181100"/>
                </a:lnTo>
                <a:lnTo>
                  <a:pt x="188757" y="1168400"/>
                </a:lnTo>
                <a:lnTo>
                  <a:pt x="141476" y="1143000"/>
                </a:lnTo>
                <a:lnTo>
                  <a:pt x="94256" y="1130300"/>
                </a:lnTo>
                <a:lnTo>
                  <a:pt x="47098" y="1104900"/>
                </a:lnTo>
                <a:lnTo>
                  <a:pt x="0" y="1092200"/>
                </a:lnTo>
                <a:close/>
              </a:path>
              <a:path w="3289935" h="1676400">
                <a:moveTo>
                  <a:pt x="0" y="444500"/>
                </a:moveTo>
                <a:lnTo>
                  <a:pt x="0" y="787400"/>
                </a:lnTo>
                <a:lnTo>
                  <a:pt x="473794" y="1041400"/>
                </a:lnTo>
                <a:lnTo>
                  <a:pt x="521015" y="1054100"/>
                </a:lnTo>
                <a:lnTo>
                  <a:pt x="709580" y="1155700"/>
                </a:lnTo>
                <a:lnTo>
                  <a:pt x="756638" y="1168400"/>
                </a:lnTo>
                <a:lnTo>
                  <a:pt x="850650" y="1219200"/>
                </a:lnTo>
                <a:lnTo>
                  <a:pt x="897602" y="1231900"/>
                </a:lnTo>
                <a:lnTo>
                  <a:pt x="991396" y="1282700"/>
                </a:lnTo>
                <a:lnTo>
                  <a:pt x="1038236" y="1295400"/>
                </a:lnTo>
                <a:lnTo>
                  <a:pt x="1131801" y="1346200"/>
                </a:lnTo>
                <a:lnTo>
                  <a:pt x="1178524" y="1358900"/>
                </a:lnTo>
                <a:lnTo>
                  <a:pt x="1225206" y="1384300"/>
                </a:lnTo>
                <a:lnTo>
                  <a:pt x="1271848" y="1397000"/>
                </a:lnTo>
                <a:lnTo>
                  <a:pt x="1318447" y="1422400"/>
                </a:lnTo>
                <a:lnTo>
                  <a:pt x="1365004" y="1435100"/>
                </a:lnTo>
                <a:lnTo>
                  <a:pt x="1411518" y="1460500"/>
                </a:lnTo>
                <a:lnTo>
                  <a:pt x="1504413" y="1485900"/>
                </a:lnTo>
                <a:lnTo>
                  <a:pt x="1550794" y="1511300"/>
                </a:lnTo>
                <a:lnTo>
                  <a:pt x="1643417" y="1536700"/>
                </a:lnTo>
                <a:lnTo>
                  <a:pt x="1689658" y="1562100"/>
                </a:lnTo>
                <a:lnTo>
                  <a:pt x="1781997" y="1587500"/>
                </a:lnTo>
                <a:lnTo>
                  <a:pt x="1828093" y="1612900"/>
                </a:lnTo>
                <a:lnTo>
                  <a:pt x="2057816" y="1676400"/>
                </a:lnTo>
                <a:lnTo>
                  <a:pt x="2633147" y="1676400"/>
                </a:lnTo>
                <a:lnTo>
                  <a:pt x="2483424" y="1638300"/>
                </a:lnTo>
                <a:lnTo>
                  <a:pt x="2433800" y="1612900"/>
                </a:lnTo>
                <a:lnTo>
                  <a:pt x="2334985" y="1587500"/>
                </a:lnTo>
                <a:lnTo>
                  <a:pt x="2285797" y="1562100"/>
                </a:lnTo>
                <a:lnTo>
                  <a:pt x="2187864" y="1536700"/>
                </a:lnTo>
                <a:lnTo>
                  <a:pt x="2139123" y="1511300"/>
                </a:lnTo>
                <a:lnTo>
                  <a:pt x="2090532" y="1498600"/>
                </a:lnTo>
                <a:lnTo>
                  <a:pt x="2042094" y="1473200"/>
                </a:lnTo>
                <a:lnTo>
                  <a:pt x="1945681" y="1447800"/>
                </a:lnTo>
                <a:lnTo>
                  <a:pt x="1897708" y="1422400"/>
                </a:lnTo>
                <a:lnTo>
                  <a:pt x="1849892" y="1409700"/>
                </a:lnTo>
                <a:lnTo>
                  <a:pt x="1802235" y="1384300"/>
                </a:lnTo>
                <a:lnTo>
                  <a:pt x="1754738" y="1371600"/>
                </a:lnTo>
                <a:lnTo>
                  <a:pt x="1707402" y="1346200"/>
                </a:lnTo>
                <a:lnTo>
                  <a:pt x="1660228" y="1333500"/>
                </a:lnTo>
                <a:lnTo>
                  <a:pt x="1613218" y="1308100"/>
                </a:lnTo>
                <a:lnTo>
                  <a:pt x="1566372" y="1295400"/>
                </a:lnTo>
                <a:lnTo>
                  <a:pt x="1519693" y="1270000"/>
                </a:lnTo>
                <a:lnTo>
                  <a:pt x="1473181" y="1257300"/>
                </a:lnTo>
                <a:lnTo>
                  <a:pt x="1426837" y="1231900"/>
                </a:lnTo>
                <a:lnTo>
                  <a:pt x="1380663" y="1219200"/>
                </a:lnTo>
                <a:lnTo>
                  <a:pt x="1334660" y="1193800"/>
                </a:lnTo>
                <a:lnTo>
                  <a:pt x="1288828" y="1181100"/>
                </a:lnTo>
                <a:lnTo>
                  <a:pt x="1197687" y="1130300"/>
                </a:lnTo>
                <a:lnTo>
                  <a:pt x="1152380" y="1117600"/>
                </a:lnTo>
                <a:lnTo>
                  <a:pt x="1062297" y="1066800"/>
                </a:lnTo>
                <a:lnTo>
                  <a:pt x="1017525" y="1054100"/>
                </a:lnTo>
                <a:lnTo>
                  <a:pt x="884295" y="977900"/>
                </a:lnTo>
                <a:lnTo>
                  <a:pt x="840253" y="965200"/>
                </a:lnTo>
                <a:lnTo>
                  <a:pt x="622848" y="838200"/>
                </a:lnTo>
                <a:lnTo>
                  <a:pt x="579937" y="825500"/>
                </a:lnTo>
                <a:lnTo>
                  <a:pt x="326566" y="673100"/>
                </a:lnTo>
                <a:lnTo>
                  <a:pt x="285031" y="647700"/>
                </a:lnTo>
                <a:lnTo>
                  <a:pt x="243698" y="609600"/>
                </a:lnTo>
                <a:lnTo>
                  <a:pt x="40098" y="482600"/>
                </a:lnTo>
                <a:lnTo>
                  <a:pt x="0" y="444500"/>
                </a:lnTo>
                <a:close/>
              </a:path>
              <a:path w="3289935" h="1676400">
                <a:moveTo>
                  <a:pt x="187545" y="0"/>
                </a:moveTo>
                <a:lnTo>
                  <a:pt x="0" y="0"/>
                </a:lnTo>
                <a:lnTo>
                  <a:pt x="0" y="101600"/>
                </a:lnTo>
                <a:lnTo>
                  <a:pt x="35650" y="139700"/>
                </a:lnTo>
                <a:lnTo>
                  <a:pt x="71645" y="165100"/>
                </a:lnTo>
                <a:lnTo>
                  <a:pt x="107981" y="203200"/>
                </a:lnTo>
                <a:lnTo>
                  <a:pt x="144653" y="228600"/>
                </a:lnTo>
                <a:lnTo>
                  <a:pt x="181656" y="266700"/>
                </a:lnTo>
                <a:lnTo>
                  <a:pt x="218987" y="292100"/>
                </a:lnTo>
                <a:lnTo>
                  <a:pt x="256640" y="330200"/>
                </a:lnTo>
                <a:lnTo>
                  <a:pt x="332896" y="381000"/>
                </a:lnTo>
                <a:lnTo>
                  <a:pt x="371489" y="419100"/>
                </a:lnTo>
                <a:lnTo>
                  <a:pt x="449586" y="469900"/>
                </a:lnTo>
                <a:lnTo>
                  <a:pt x="489079" y="508000"/>
                </a:lnTo>
                <a:lnTo>
                  <a:pt x="649918" y="609600"/>
                </a:lnTo>
                <a:lnTo>
                  <a:pt x="690821" y="647700"/>
                </a:lnTo>
                <a:lnTo>
                  <a:pt x="773428" y="698500"/>
                </a:lnTo>
                <a:lnTo>
                  <a:pt x="984407" y="825500"/>
                </a:lnTo>
                <a:lnTo>
                  <a:pt x="1245347" y="977900"/>
                </a:lnTo>
                <a:lnTo>
                  <a:pt x="1289597" y="990600"/>
                </a:lnTo>
                <a:lnTo>
                  <a:pt x="1468607" y="1092200"/>
                </a:lnTo>
                <a:lnTo>
                  <a:pt x="1513838" y="1104900"/>
                </a:lnTo>
                <a:lnTo>
                  <a:pt x="1604845" y="1155700"/>
                </a:lnTo>
                <a:lnTo>
                  <a:pt x="1650612" y="1168400"/>
                </a:lnTo>
                <a:lnTo>
                  <a:pt x="1742647" y="1219200"/>
                </a:lnTo>
                <a:lnTo>
                  <a:pt x="1788908" y="1231900"/>
                </a:lnTo>
                <a:lnTo>
                  <a:pt x="1835323" y="1257300"/>
                </a:lnTo>
                <a:lnTo>
                  <a:pt x="1881891" y="1270000"/>
                </a:lnTo>
                <a:lnTo>
                  <a:pt x="1928604" y="1295400"/>
                </a:lnTo>
                <a:lnTo>
                  <a:pt x="1975460" y="1308100"/>
                </a:lnTo>
                <a:lnTo>
                  <a:pt x="2022454" y="1333500"/>
                </a:lnTo>
                <a:lnTo>
                  <a:pt x="2069580" y="1346200"/>
                </a:lnTo>
                <a:lnTo>
                  <a:pt x="2116835" y="1371600"/>
                </a:lnTo>
                <a:lnTo>
                  <a:pt x="2164214" y="1384300"/>
                </a:lnTo>
                <a:lnTo>
                  <a:pt x="2211713" y="1409700"/>
                </a:lnTo>
                <a:lnTo>
                  <a:pt x="2307051" y="1435100"/>
                </a:lnTo>
                <a:lnTo>
                  <a:pt x="2354882" y="1460500"/>
                </a:lnTo>
                <a:lnTo>
                  <a:pt x="2450843" y="1485900"/>
                </a:lnTo>
                <a:lnTo>
                  <a:pt x="2498964" y="1511300"/>
                </a:lnTo>
                <a:lnTo>
                  <a:pt x="2643838" y="1549400"/>
                </a:lnTo>
                <a:lnTo>
                  <a:pt x="2692285" y="1574800"/>
                </a:lnTo>
                <a:lnTo>
                  <a:pt x="3081994" y="1676400"/>
                </a:lnTo>
                <a:lnTo>
                  <a:pt x="3289838" y="1676400"/>
                </a:lnTo>
                <a:lnTo>
                  <a:pt x="3093435" y="1625600"/>
                </a:lnTo>
                <a:lnTo>
                  <a:pt x="3044482" y="1600200"/>
                </a:lnTo>
                <a:lnTo>
                  <a:pt x="2946788" y="1574800"/>
                </a:lnTo>
                <a:lnTo>
                  <a:pt x="2898056" y="1549400"/>
                </a:lnTo>
                <a:lnTo>
                  <a:pt x="2800844" y="1524000"/>
                </a:lnTo>
                <a:lnTo>
                  <a:pt x="2752373" y="1498600"/>
                </a:lnTo>
                <a:lnTo>
                  <a:pt x="2655726" y="1473200"/>
                </a:lnTo>
                <a:lnTo>
                  <a:pt x="2607558" y="1447800"/>
                </a:lnTo>
                <a:lnTo>
                  <a:pt x="2511560" y="1422400"/>
                </a:lnTo>
                <a:lnTo>
                  <a:pt x="2463738" y="1397000"/>
                </a:lnTo>
                <a:lnTo>
                  <a:pt x="2416040" y="1384300"/>
                </a:lnTo>
                <a:lnTo>
                  <a:pt x="2368471" y="1358900"/>
                </a:lnTo>
                <a:lnTo>
                  <a:pt x="2273739" y="1333500"/>
                </a:lnTo>
                <a:lnTo>
                  <a:pt x="2226584" y="1308100"/>
                </a:lnTo>
                <a:lnTo>
                  <a:pt x="2179578" y="1295400"/>
                </a:lnTo>
                <a:lnTo>
                  <a:pt x="2132723" y="1270000"/>
                </a:lnTo>
                <a:lnTo>
                  <a:pt x="2086025" y="1257300"/>
                </a:lnTo>
                <a:lnTo>
                  <a:pt x="1993118" y="1206500"/>
                </a:lnTo>
                <a:lnTo>
                  <a:pt x="1946918" y="1193800"/>
                </a:lnTo>
                <a:lnTo>
                  <a:pt x="1900894" y="1168400"/>
                </a:lnTo>
                <a:lnTo>
                  <a:pt x="1855049" y="1155700"/>
                </a:lnTo>
                <a:lnTo>
                  <a:pt x="1763918" y="1104900"/>
                </a:lnTo>
                <a:lnTo>
                  <a:pt x="1718641" y="1092200"/>
                </a:lnTo>
                <a:lnTo>
                  <a:pt x="1584020" y="1016000"/>
                </a:lnTo>
                <a:lnTo>
                  <a:pt x="1539565" y="1003300"/>
                </a:lnTo>
                <a:lnTo>
                  <a:pt x="1277553" y="850900"/>
                </a:lnTo>
                <a:lnTo>
                  <a:pt x="1065899" y="723900"/>
                </a:lnTo>
                <a:lnTo>
                  <a:pt x="901373" y="622300"/>
                </a:lnTo>
                <a:lnTo>
                  <a:pt x="860946" y="584200"/>
                </a:lnTo>
                <a:lnTo>
                  <a:pt x="741431" y="508000"/>
                </a:lnTo>
                <a:lnTo>
                  <a:pt x="702197" y="469900"/>
                </a:lnTo>
                <a:lnTo>
                  <a:pt x="663272" y="444500"/>
                </a:lnTo>
                <a:lnTo>
                  <a:pt x="624662" y="406400"/>
                </a:lnTo>
                <a:lnTo>
                  <a:pt x="586370" y="381000"/>
                </a:lnTo>
                <a:lnTo>
                  <a:pt x="548403" y="342900"/>
                </a:lnTo>
                <a:lnTo>
                  <a:pt x="510763" y="317500"/>
                </a:lnTo>
                <a:lnTo>
                  <a:pt x="473457" y="279400"/>
                </a:lnTo>
                <a:lnTo>
                  <a:pt x="436488" y="254000"/>
                </a:lnTo>
                <a:lnTo>
                  <a:pt x="363581" y="177800"/>
                </a:lnTo>
                <a:lnTo>
                  <a:pt x="327652" y="152400"/>
                </a:lnTo>
                <a:lnTo>
                  <a:pt x="292080" y="114300"/>
                </a:lnTo>
                <a:lnTo>
                  <a:pt x="256868" y="76200"/>
                </a:lnTo>
                <a:lnTo>
                  <a:pt x="222021" y="38100"/>
                </a:lnTo>
                <a:lnTo>
                  <a:pt x="187545" y="0"/>
                </a:lnTo>
                <a:close/>
              </a:path>
              <a:path w="3289935" h="1676400">
                <a:moveTo>
                  <a:pt x="669050" y="0"/>
                </a:moveTo>
                <a:lnTo>
                  <a:pt x="509825" y="0"/>
                </a:lnTo>
                <a:lnTo>
                  <a:pt x="541793" y="38100"/>
                </a:lnTo>
                <a:lnTo>
                  <a:pt x="606739" y="88900"/>
                </a:lnTo>
                <a:lnTo>
                  <a:pt x="639722" y="127000"/>
                </a:lnTo>
                <a:lnTo>
                  <a:pt x="706723" y="177800"/>
                </a:lnTo>
                <a:lnTo>
                  <a:pt x="740747" y="215900"/>
                </a:lnTo>
                <a:lnTo>
                  <a:pt x="775123" y="241300"/>
                </a:lnTo>
                <a:lnTo>
                  <a:pt x="844945" y="292100"/>
                </a:lnTo>
                <a:lnTo>
                  <a:pt x="880396" y="330200"/>
                </a:lnTo>
                <a:lnTo>
                  <a:pt x="916211" y="355600"/>
                </a:lnTo>
                <a:lnTo>
                  <a:pt x="988944" y="406400"/>
                </a:lnTo>
                <a:lnTo>
                  <a:pt x="1025868" y="444500"/>
                </a:lnTo>
                <a:lnTo>
                  <a:pt x="1100845" y="495300"/>
                </a:lnTo>
                <a:lnTo>
                  <a:pt x="1216176" y="571500"/>
                </a:lnTo>
                <a:lnTo>
                  <a:pt x="1255395" y="609600"/>
                </a:lnTo>
                <a:lnTo>
                  <a:pt x="1295007" y="635000"/>
                </a:lnTo>
                <a:lnTo>
                  <a:pt x="1416225" y="711200"/>
                </a:lnTo>
                <a:lnTo>
                  <a:pt x="1541079" y="787400"/>
                </a:lnTo>
                <a:lnTo>
                  <a:pt x="1669645" y="863600"/>
                </a:lnTo>
                <a:lnTo>
                  <a:pt x="1802000" y="939800"/>
                </a:lnTo>
                <a:lnTo>
                  <a:pt x="1938221" y="1016000"/>
                </a:lnTo>
                <a:lnTo>
                  <a:pt x="1984500" y="1028700"/>
                </a:lnTo>
                <a:lnTo>
                  <a:pt x="2031221" y="1054100"/>
                </a:lnTo>
                <a:lnTo>
                  <a:pt x="2174057" y="1130300"/>
                </a:lnTo>
                <a:lnTo>
                  <a:pt x="2222570" y="1143000"/>
                </a:lnTo>
                <a:lnTo>
                  <a:pt x="2370853" y="1219200"/>
                </a:lnTo>
                <a:lnTo>
                  <a:pt x="2421204" y="1231900"/>
                </a:lnTo>
                <a:lnTo>
                  <a:pt x="2523309" y="1282700"/>
                </a:lnTo>
                <a:lnTo>
                  <a:pt x="2575069" y="1295400"/>
                </a:lnTo>
                <a:lnTo>
                  <a:pt x="2680018" y="1346200"/>
                </a:lnTo>
                <a:lnTo>
                  <a:pt x="2733212" y="1358900"/>
                </a:lnTo>
                <a:lnTo>
                  <a:pt x="2786890" y="1384300"/>
                </a:lnTo>
                <a:lnTo>
                  <a:pt x="2841054" y="1397000"/>
                </a:lnTo>
                <a:lnTo>
                  <a:pt x="2895708" y="1422400"/>
                </a:lnTo>
                <a:lnTo>
                  <a:pt x="2950855" y="1435100"/>
                </a:lnTo>
                <a:lnTo>
                  <a:pt x="2901497" y="1422400"/>
                </a:lnTo>
                <a:lnTo>
                  <a:pt x="2803471" y="1371600"/>
                </a:lnTo>
                <a:lnTo>
                  <a:pt x="2754808" y="1358900"/>
                </a:lnTo>
                <a:lnTo>
                  <a:pt x="2658193" y="1308100"/>
                </a:lnTo>
                <a:lnTo>
                  <a:pt x="2610245" y="1295400"/>
                </a:lnTo>
                <a:lnTo>
                  <a:pt x="2515080" y="1244600"/>
                </a:lnTo>
                <a:lnTo>
                  <a:pt x="2467867" y="1231900"/>
                </a:lnTo>
                <a:lnTo>
                  <a:pt x="2235588" y="1104900"/>
                </a:lnTo>
                <a:lnTo>
                  <a:pt x="2189906" y="1092200"/>
                </a:lnTo>
                <a:lnTo>
                  <a:pt x="1965479" y="965200"/>
                </a:lnTo>
                <a:lnTo>
                  <a:pt x="1747900" y="838200"/>
                </a:lnTo>
                <a:lnTo>
                  <a:pt x="1620756" y="762000"/>
                </a:lnTo>
                <a:lnTo>
                  <a:pt x="1578956" y="723900"/>
                </a:lnTo>
                <a:lnTo>
                  <a:pt x="1414715" y="622300"/>
                </a:lnTo>
                <a:lnTo>
                  <a:pt x="1374406" y="584200"/>
                </a:lnTo>
                <a:lnTo>
                  <a:pt x="1255320" y="508000"/>
                </a:lnTo>
                <a:lnTo>
                  <a:pt x="1216245" y="469900"/>
                </a:lnTo>
                <a:lnTo>
                  <a:pt x="1139040" y="419100"/>
                </a:lnTo>
                <a:lnTo>
                  <a:pt x="1100913" y="381000"/>
                </a:lnTo>
                <a:lnTo>
                  <a:pt x="1063108" y="355600"/>
                </a:lnTo>
                <a:lnTo>
                  <a:pt x="1025626" y="317500"/>
                </a:lnTo>
                <a:lnTo>
                  <a:pt x="951638" y="266700"/>
                </a:lnTo>
                <a:lnTo>
                  <a:pt x="915138" y="228600"/>
                </a:lnTo>
                <a:lnTo>
                  <a:pt x="878969" y="203200"/>
                </a:lnTo>
                <a:lnTo>
                  <a:pt x="843134" y="165100"/>
                </a:lnTo>
                <a:lnTo>
                  <a:pt x="807636" y="139700"/>
                </a:lnTo>
                <a:lnTo>
                  <a:pt x="772476" y="101600"/>
                </a:lnTo>
                <a:lnTo>
                  <a:pt x="737657" y="63500"/>
                </a:lnTo>
                <a:lnTo>
                  <a:pt x="703181" y="38100"/>
                </a:lnTo>
                <a:lnTo>
                  <a:pt x="669050" y="0"/>
                </a:lnTo>
                <a:close/>
              </a:path>
            </a:pathLst>
          </a:custGeom>
          <a:solidFill xmlns:a="http://schemas.openxmlformats.org/drawingml/2006/main">
            <a:srgbClr val="003F9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1FB6B6C-4AA7-4EA0-B327-93571821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" y="670135"/>
            <a:ext cx="5758180" cy="19685"/>
          </a:xfrm>
          <a:custGeom xmlns:a="http://schemas.openxmlformats.org/drawingml/2006/main">
            <a:rect l="l" t="t" r="r" b="b"/>
            <a:pathLst>
              <a:path w="5758180" h="19684">
                <a:moveTo>
                  <a:pt x="5757885" y="0"/>
                </a:moveTo>
                <a:lnTo>
                  <a:pt x="0" y="0"/>
                </a:lnTo>
                <a:lnTo>
                  <a:pt x="0" y="19261"/>
                </a:lnTo>
                <a:lnTo>
                  <a:pt x="5757885" y="19261"/>
                </a:lnTo>
                <a:lnTo>
                  <a:pt x="5757885" y="0"/>
                </a:lnTo>
                <a:close/>
              </a:path>
            </a:pathLst>
          </a:custGeom>
          <a:solidFill xmlns:a="http://schemas.openxmlformats.org/drawingml/2006/main">
            <a:srgbClr val="EAEBE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pic>
        <p:nvPicPr>
          <p:cNvPr id="40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21430910f45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393" y="172705"/>
            <a:ext cx="1418081" cy="282960"/>
          </a:xfrm>
          <a:prstGeom xmlns:a="http://schemas.openxmlformats.org/drawingml/2006/main" prst="rect">
            <a:avLst/>
          </a:prstGeom>
        </p:spPr>
      </p:pic>
      <p:pic>
        <p:nvPicPr>
          <p:cNvPr id="41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685953fa64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13" y="145488"/>
            <a:ext cx="338247" cy="337819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AFF6F281-A7F9-4A2F-915D-F29B1C7E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125" y="3155250"/>
            <a:ext cx="43180" cy="30480"/>
          </a:xfrm>
          <a:custGeom xmlns:a="http://schemas.openxmlformats.org/drawingml/2006/main"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xmlns:a="http://schemas.openxmlformats.org/drawingml/2006/main" w="5060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3D80D74-9367-44B9-9715-AFC8DCC2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508" y="3151288"/>
            <a:ext cx="25400" cy="38100"/>
          </a:xfrm>
          <a:custGeom xmlns:a="http://schemas.openxmlformats.org/drawingml/2006/main"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 xmlns:a="http://schemas.openxmlformats.org/drawingml/2006/main">
            <a:srgbClr val="D6D6E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B5058A68-5AEE-472B-8D7F-9F9739F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310" y="3151288"/>
            <a:ext cx="25400" cy="38100"/>
          </a:xfrm>
          <a:custGeom xmlns:a="http://schemas.openxmlformats.org/drawingml/2006/main"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D6E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1AC3207A-86A0-41FC-9C2D-1A315E55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577" y="3144938"/>
            <a:ext cx="50800" cy="50800"/>
          </a:xfrm>
          <a:custGeom xmlns:a="http://schemas.openxmlformats.org/drawingml/2006/main"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xmlns:a="http://schemas.openxmlformats.org/drawingml/2006/main" w="7591">
            <a:solidFill>
              <a:srgbClr val="ADADE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0A13149C-EF8E-4711-97D8-4C3DBCAA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60" y="1057910"/>
            <a:ext cx="454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135"/>
              </a:spcBef>
              <a:buNone/>
              <a:defRPr sz="1388" b="1">
                <a:solidFill>
                  <a:srgbClr val="FFFFFF"/>
                </a:solidFill>
              </a:defRPr>
            </a:pPr>
            <a:r>
              <a:rPr sz="138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轴承寿命预测与故障诊断系统</a:t>
            </a:r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1252F92B-DD13-4F29-8EAE-A4A603A42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3114" y="1363089"/>
            <a:ext cx="1134110" cy="3662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81915" indent="-69850" algn="ctr">
              <a:lnSpc>
                <a:spcPct val="103000"/>
              </a:lnSpc>
              <a:spcBef>
                <a:spcPts val="55"/>
              </a:spcBef>
              <a:buNone/>
              <a:defRPr sz="660">
                <a:solidFill>
                  <a:srgbClr val="FFFFFF"/>
                </a:solidFill>
              </a:defRPr>
            </a:pPr>
            <a:r>
              <a:rPr sz="660">
                <a:solidFill>
                  <a:srgbClr val="FFFFFF"/>
                </a:solidFill>
              </a:rPr>
              <a:t>指导老师：翟建芳</a:t>
            </a:r>
          </a:p>
          <a:p xmlns:a="http://schemas.openxmlformats.org/drawingml/2006/main">
            <a:pPr marL="81915" indent="-69850" algn="ctr">
              <a:lnSpc>
                <a:spcPct val="103000"/>
              </a:lnSpc>
              <a:spcBef>
                <a:spcPts val="55"/>
              </a:spcBef>
              <a:buNone/>
              <a:defRPr sz="660">
                <a:solidFill>
                  <a:srgbClr val="FFFFFF"/>
                </a:solidFill>
              </a:defRPr>
            </a:pPr>
            <a:r>
              <a:rPr sz="660">
                <a:solidFill>
                  <a:srgbClr val="FFFFFF"/>
                </a:solidFill>
              </a:rPr>
              <a:t>汇报人：周逸进</a:t>
            </a: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1A7FDF47-78EA-4CB9-BEBC-18A97DEA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114" y="1707234"/>
            <a:ext cx="2658110" cy="765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90"/>
              </a:spcBef>
              <a:buNone/>
              <a:defRPr sz="690">
                <a:solidFill>
                  <a:srgbClr val="FFFFFF"/>
                </a:solidFill>
              </a:defRPr>
            </a:pPr>
            <a:r>
              <a:rPr sz="69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小组成员：周逸进，朱德豪，邹扬，蔡祎珏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1240"/>
              </a:spcBef>
              <a:buNone/>
              <a:defRPr sz="690">
                <a:solidFill>
                  <a:srgbClr val="FFFFFF"/>
                </a:solidFill>
              </a:defRPr>
            </a:pPr>
            <a:r>
              <a:rPr sz="69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中国科学技术大学 软件学院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995"/>
              </a:spcBef>
              <a:buNone/>
              <a:defRPr sz="690">
                <a:solidFill>
                  <a:srgbClr val="FFFFFF"/>
                </a:solidFill>
              </a:defRPr>
            </a:pPr>
            <a:r>
              <a:rPr sz="69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2026 年 6 月 18 日</a:t>
            </a:r>
          </a:p>
        </p:txBody>
      </p:sp>
    </p:spTree>
    <p:extLst>
      <p:ext uri="{BB962C8B-B14F-4D97-AF65-F5344CB8AC3E}">
        <p14:creationId xmlns:p14="http://schemas.microsoft.com/office/powerpoint/2010/main" val="4743603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FB9777A4-2280-4FA3-B99A-5421BAFF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0" y="65872"/>
            <a:ext cx="329565" cy="207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20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大纲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DF3CBB98-7E98-4CEE-87C1-041690E5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" y="648030"/>
            <a:ext cx="127000" cy="127000"/>
          </a:xfrm>
          <a:custGeom xmlns:a="http://schemas.openxmlformats.org/drawingml/2006/main">
            <a:rect l="l" t="t" r="r" b="b"/>
            <a:pathLst>
              <a:path w="127000" h="127000">
                <a:moveTo>
                  <a:pt x="126403" y="0"/>
                </a:moveTo>
                <a:lnTo>
                  <a:pt x="0" y="0"/>
                </a:lnTo>
                <a:lnTo>
                  <a:pt x="0" y="126403"/>
                </a:lnTo>
                <a:lnTo>
                  <a:pt x="126403" y="126403"/>
                </a:lnTo>
                <a:lnTo>
                  <a:pt x="126403" y="0"/>
                </a:lnTo>
                <a:close/>
              </a:path>
            </a:pathLst>
          </a:custGeom>
          <a:solidFill xmlns:a="http://schemas.openxmlformats.org/drawingml/2006/main">
            <a:srgbClr val="004097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7FFA1E23-4145-4B7F-BEED-F867A936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" y="1041006"/>
            <a:ext cx="127000" cy="127000"/>
          </a:xfrm>
          <a:custGeom xmlns:a="http://schemas.openxmlformats.org/drawingml/2006/main">
            <a:rect l="l" t="t" r="r" b="b"/>
            <a:pathLst>
              <a:path w="127000" h="127000">
                <a:moveTo>
                  <a:pt x="126403" y="0"/>
                </a:moveTo>
                <a:lnTo>
                  <a:pt x="0" y="0"/>
                </a:lnTo>
                <a:lnTo>
                  <a:pt x="0" y="126403"/>
                </a:lnTo>
                <a:lnTo>
                  <a:pt x="126403" y="126403"/>
                </a:lnTo>
                <a:lnTo>
                  <a:pt x="126403" y="0"/>
                </a:lnTo>
                <a:close/>
              </a:path>
            </a:pathLst>
          </a:custGeom>
          <a:solidFill xmlns:a="http://schemas.openxmlformats.org/drawingml/2006/main">
            <a:srgbClr val="004097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2672ABC-9B38-48FE-ACDD-8F210FB4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" y="1433804"/>
            <a:ext cx="127000" cy="127000"/>
          </a:xfrm>
          <a:custGeom xmlns:a="http://schemas.openxmlformats.org/drawingml/2006/main">
            <a:rect l="l" t="t" r="r" b="b"/>
            <a:pathLst>
              <a:path w="127000" h="127000">
                <a:moveTo>
                  <a:pt x="126403" y="0"/>
                </a:moveTo>
                <a:lnTo>
                  <a:pt x="0" y="0"/>
                </a:lnTo>
                <a:lnTo>
                  <a:pt x="0" y="126403"/>
                </a:lnTo>
                <a:lnTo>
                  <a:pt x="126403" y="126403"/>
                </a:lnTo>
                <a:lnTo>
                  <a:pt x="126403" y="0"/>
                </a:lnTo>
                <a:close/>
              </a:path>
            </a:pathLst>
          </a:custGeom>
          <a:solidFill xmlns:a="http://schemas.openxmlformats.org/drawingml/2006/main">
            <a:srgbClr val="004097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ADFA51D-15A4-48F5-B3E2-6EDF7456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" y="1813699"/>
            <a:ext cx="127000" cy="127000"/>
          </a:xfrm>
          <a:custGeom xmlns:a="http://schemas.openxmlformats.org/drawingml/2006/main">
            <a:rect l="l" t="t" r="r" b="b"/>
            <a:pathLst>
              <a:path w="127000" h="127000">
                <a:moveTo>
                  <a:pt x="126403" y="0"/>
                </a:moveTo>
                <a:lnTo>
                  <a:pt x="0" y="0"/>
                </a:lnTo>
                <a:lnTo>
                  <a:pt x="0" y="126403"/>
                </a:lnTo>
                <a:lnTo>
                  <a:pt x="126403" y="126403"/>
                </a:lnTo>
                <a:lnTo>
                  <a:pt x="126403" y="0"/>
                </a:lnTo>
                <a:close/>
              </a:path>
            </a:pathLst>
          </a:custGeom>
          <a:solidFill xmlns:a="http://schemas.openxmlformats.org/drawingml/2006/main">
            <a:srgbClr val="004097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B53EDEA-042B-4996-97C9-C39D0C65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" y="2206675"/>
            <a:ext cx="127000" cy="127000"/>
          </a:xfrm>
          <a:custGeom xmlns:a="http://schemas.openxmlformats.org/drawingml/2006/main">
            <a:rect l="l" t="t" r="r" b="b"/>
            <a:pathLst>
              <a:path w="127000" h="127000">
                <a:moveTo>
                  <a:pt x="126403" y="0"/>
                </a:moveTo>
                <a:lnTo>
                  <a:pt x="0" y="0"/>
                </a:lnTo>
                <a:lnTo>
                  <a:pt x="0" y="126403"/>
                </a:lnTo>
                <a:lnTo>
                  <a:pt x="126403" y="126403"/>
                </a:lnTo>
                <a:lnTo>
                  <a:pt x="126403" y="0"/>
                </a:lnTo>
                <a:close/>
              </a:path>
            </a:pathLst>
          </a:custGeom>
          <a:solidFill xmlns:a="http://schemas.openxmlformats.org/drawingml/2006/main">
            <a:srgbClr val="004097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A6DE4F40-1913-48A2-AEFC-E0C41CB8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" y="2586570"/>
            <a:ext cx="127000" cy="127000"/>
          </a:xfrm>
          <a:custGeom xmlns:a="http://schemas.openxmlformats.org/drawingml/2006/main">
            <a:rect l="l" t="t" r="r" b="b"/>
            <a:pathLst>
              <a:path w="127000" h="127000">
                <a:moveTo>
                  <a:pt x="126403" y="0"/>
                </a:moveTo>
                <a:lnTo>
                  <a:pt x="0" y="0"/>
                </a:lnTo>
                <a:lnTo>
                  <a:pt x="0" y="126403"/>
                </a:lnTo>
                <a:lnTo>
                  <a:pt x="126403" y="126403"/>
                </a:lnTo>
                <a:lnTo>
                  <a:pt x="126403" y="0"/>
                </a:lnTo>
                <a:close/>
              </a:path>
            </a:pathLst>
          </a:custGeom>
          <a:solidFill xmlns:a="http://schemas.openxmlformats.org/drawingml/2006/main">
            <a:srgbClr val="004097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CD52A50B-7F70-4778-B305-A10E1FB7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1975"/>
            <a:ext cx="23812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75895" indent="-163195">
              <a:lnSpc>
                <a:spcPct val="100000"/>
              </a:lnSpc>
              <a:spcBef>
                <a:spcPts val="95"/>
              </a:spcBef>
              <a:buAutoNum type="arabicPlain"/>
              <a:defRPr sz="1238">
                <a:solidFill>
                  <a:srgbClr val="003F98"/>
                </a:solidFill>
              </a:defRPr>
            </a:pPr>
            <a:r>
              <a:rPr sz="1238">
                <a:solidFill>
                  <a:srgbClr val="003F98"/>
                </a:solidFill>
                <a:latin typeface="宋体"/>
                <a:ea typeface="宋体"/>
                <a:cs typeface="宋体"/>
              </a:rPr>
              <a:t>任务范围</a:t>
            </a:r>
          </a:p>
          <a:p xmlns:a="http://schemas.openxmlformats.org/drawingml/2006/main">
            <a:pPr marL="175895" indent="-163195">
              <a:lnSpc>
                <a:spcPct val="100000"/>
              </a:lnSpc>
              <a:spcBef>
                <a:spcPts val="1415"/>
              </a:spcBef>
              <a:buAutoNum type="arabicPlain"/>
              <a:defRPr sz="1238">
                <a:solidFill>
                  <a:srgbClr val="003F98"/>
                </a:solidFill>
              </a:defRPr>
            </a:pPr>
            <a:r>
              <a:rPr sz="1238">
                <a:solidFill>
                  <a:srgbClr val="003F98"/>
                </a:solidFill>
                <a:latin typeface="宋体"/>
                <a:ea typeface="宋体"/>
                <a:cs typeface="宋体"/>
              </a:rPr>
              <a:t>架构与数据</a:t>
            </a:r>
          </a:p>
          <a:p xmlns:a="http://schemas.openxmlformats.org/drawingml/2006/main">
            <a:pPr marL="175895" indent="-163195">
              <a:lnSpc>
                <a:spcPct val="100000"/>
              </a:lnSpc>
              <a:spcBef>
                <a:spcPts val="1410"/>
              </a:spcBef>
              <a:buAutoNum type="arabicPlain"/>
              <a:defRPr sz="1238">
                <a:solidFill>
                  <a:srgbClr val="003F98"/>
                </a:solidFill>
              </a:defRPr>
            </a:pPr>
            <a:r>
              <a:rPr sz="1238">
                <a:solidFill>
                  <a:srgbClr val="003F98"/>
                </a:solidFill>
                <a:latin typeface="Lucida Sans Unicode"/>
                <a:ea typeface="Lucida Sans Unicode"/>
                <a:cs typeface="Lucida Sans Unicode"/>
              </a:rPr>
              <a:t>特征与模型</a:t>
            </a:r>
          </a:p>
          <a:p xmlns:a="http://schemas.openxmlformats.org/drawingml/2006/main">
            <a:pPr marL="175895" indent="-163195">
              <a:lnSpc>
                <a:spcPct val="100000"/>
              </a:lnSpc>
              <a:spcBef>
                <a:spcPts val="1310"/>
              </a:spcBef>
              <a:buAutoNum type="arabicPlain"/>
              <a:defRPr sz="1238">
                <a:solidFill>
                  <a:srgbClr val="003F98"/>
                </a:solidFill>
              </a:defRPr>
            </a:pPr>
            <a:r>
              <a:rPr sz="1238">
                <a:solidFill>
                  <a:srgbClr val="003F98"/>
                </a:solidFill>
                <a:latin typeface="宋体"/>
                <a:ea typeface="宋体"/>
                <a:cs typeface="宋体"/>
              </a:rPr>
              <a:t>RUL 结果</a:t>
            </a:r>
          </a:p>
          <a:p xmlns:a="http://schemas.openxmlformats.org/drawingml/2006/main">
            <a:pPr marL="175895" indent="-163195">
              <a:lnSpc>
                <a:spcPct val="100000"/>
              </a:lnSpc>
              <a:spcBef>
                <a:spcPts val="1415"/>
              </a:spcBef>
              <a:buAutoNum type="arabicPlain"/>
              <a:defRPr sz="1238">
                <a:solidFill>
                  <a:srgbClr val="003F98"/>
                </a:solidFill>
              </a:defRPr>
            </a:pPr>
            <a:r>
              <a:rPr sz="1238">
                <a:solidFill>
                  <a:srgbClr val="003F98"/>
                </a:solidFill>
                <a:latin typeface="宋体"/>
                <a:ea typeface="宋体"/>
                <a:cs typeface="宋体"/>
              </a:rPr>
              <a:t>Fault 结果</a:t>
            </a:r>
          </a:p>
          <a:p xmlns:a="http://schemas.openxmlformats.org/drawingml/2006/main">
            <a:pPr marL="175895" indent="-163195">
              <a:lnSpc>
                <a:spcPct val="100000"/>
              </a:lnSpc>
              <a:spcBef>
                <a:spcPts val="1310"/>
              </a:spcBef>
              <a:buAutoNum type="arabicPlain"/>
              <a:defRPr sz="1238">
                <a:solidFill>
                  <a:srgbClr val="003F98"/>
                </a:solidFill>
              </a:defRPr>
            </a:pPr>
            <a:r>
              <a:rPr sz="1238">
                <a:solidFill>
                  <a:srgbClr val="003F98"/>
                </a:solidFill>
                <a:latin typeface="宋体"/>
                <a:ea typeface="宋体"/>
                <a:cs typeface="宋体"/>
              </a:rPr>
              <a:t>工程交付</a:t>
            </a:r>
          </a:p>
        </p:txBody>
      </p:sp>
    </p:spTree>
    <p:extLst>
      <p:ext uri="{BB962C8B-B14F-4D97-AF65-F5344CB8AC3E}">
        <p14:creationId xmlns:p14="http://schemas.microsoft.com/office/powerpoint/2010/main" val="820938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FB56B64A-E59C-4CE9-A456-19FA4BC5A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300" y="65872"/>
            <a:ext cx="633095" cy="572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t>项目定位与任务范围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20B80C62-E219-4B37-A850-0297C1C2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85800"/>
            <a:ext cx="4953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38100">
              <a:lnSpc>
                <a:spcPct val="103000"/>
              </a:lnSpc>
              <a:spcBef>
                <a:spcPts val="55"/>
              </a:spcBef>
              <a:buNone/>
              <a:defRPr sz="870">
                <a:solidFill>
                  <a:srgbClr val="111111"/>
                </a:solidFill>
              </a:defRPr>
            </a:pPr>
            <a:r>
              <a:rPr sz="87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本项目聚焦轴承 PHM，不做泛化工业平台包装。</a:t>
            </a:r>
          </a:p>
          <a:p xmlns:a="http://schemas.openxmlformats.org/drawingml/2006/main">
            <a:pPr marL="38100">
              <a:lnSpc>
                <a:spcPct val="100000"/>
              </a:lnSpc>
              <a:spcBef>
                <a:spcPts val="600"/>
              </a:spcBef>
              <a:buNone/>
              <a:defRPr sz="870">
                <a:solidFill>
                  <a:srgbClr val="111111"/>
                </a:solidFill>
              </a:defRPr>
            </a:pPr>
            <a:r>
              <a:rPr sz="87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交付目标：把公开轴承数据、论文主线复现、工程训练流程、测试验证与结题文档串成可复查证据链。</a:t>
            </a:r>
          </a:p>
          <a:p xmlns:a="http://schemas.openxmlformats.org/drawingml/2006/main">
            <a:pPr marL="313055" indent="-175260">
              <a:lnSpc>
                <a:spcPct val="100000"/>
              </a:lnSpc>
              <a:spcBef>
                <a:spcPts val="335"/>
              </a:spcBef>
              <a:buChar char="►"/>
              <a:defRPr sz="870">
                <a:solidFill>
                  <a:srgbClr val="111111"/>
                </a:solidFill>
              </a:defRPr>
            </a:pPr>
            <a:r>
              <a:rPr sz="87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两条主线：</a:t>
            </a:r>
          </a:p>
          <a:p xmlns:a="http://schemas.openxmlformats.org/drawingml/2006/main">
            <a:pPr marL="313055" indent="-175260">
              <a:lnSpc>
                <a:spcPct val="100000"/>
              </a:lnSpc>
              <a:spcBef>
                <a:spcPts val="335"/>
              </a:spcBef>
              <a:buChar char="►"/>
              <a:defRPr sz="870">
                <a:solidFill>
                  <a:srgbClr val="111111"/>
                </a:solidFill>
              </a:defRPr>
            </a:pPr>
            <a:r>
              <a:rPr sz="87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▶ PHM2012/FEMTO：剩余寿命 RUL 回归，输出 MSE、RMSE、MAE 与预测曲线；</a:t>
            </a:r>
          </a:p>
          <a:p xmlns:a="http://schemas.openxmlformats.org/drawingml/2006/main">
            <a:pPr marL="38100">
              <a:lnSpc>
                <a:spcPct val="103000"/>
              </a:lnSpc>
              <a:spcBef>
                <a:spcPts val="300"/>
              </a:spcBef>
              <a:buNone/>
              <a:defRPr sz="870">
                <a:solidFill>
                  <a:srgbClr val="111111"/>
                </a:solidFill>
              </a:defRPr>
            </a:pPr>
            <a:r>
              <a:rPr sz="87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▶ XJTU-SY：Healthy/Faulty 二分类检测，输出 Accuracy、Macro-F1 与混淆矩阵。</a:t>
            </a:r>
          </a:p>
          <a:p xmlns:a="http://schemas.openxmlformats.org/drawingml/2006/main">
            <a:pPr marL="38100">
              <a:lnSpc>
                <a:spcPct val="103000"/>
              </a:lnSpc>
              <a:spcBef>
                <a:spcPts val="300"/>
              </a:spcBef>
              <a:buNone/>
              <a:defRPr sz="870">
                <a:solidFill>
                  <a:srgbClr val="111111"/>
                </a:solidFill>
              </a:defRPr>
            </a:pPr>
            <a:r>
              <a:rPr sz="87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工程约束：Python 3.11、uv、PyTorch 2.10，Mac 环境优先使用 MPS。</a:t>
            </a:r>
          </a:p>
        </p:txBody>
      </p:sp>
    </p:spTree>
    <p:extLst>
      <p:ext uri="{BB962C8B-B14F-4D97-AF65-F5344CB8AC3E}">
        <p14:creationId xmlns:p14="http://schemas.microsoft.com/office/powerpoint/2010/main" val="13118486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8BA4895-F910-4639-B755-625695341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0" cy="207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>
                <a:latin typeface="Lucida Sans Unicode"/>
                <a:ea typeface="Lucida Sans Unicode"/>
                <a:cs typeface="Lucida Sans Unicode"/>
              </a:rPr>
              <a:t>系统架构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475E98A-A67F-4893-B5D8-7DD09B8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6750"/>
            <a:ext cx="1885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5244" rIns="0" bIns="0">
            <a:spAutoFit/>
          </a:bodyPr>
          <a:lstStyle xmlns:a="http://schemas.openxmlformats.org/drawingml/2006/main"/>
          <a:p xmlns:a="http://schemas.openxmlformats.org/drawingml/2006/main">
            <a:pPr marL="38100">
              <a:lnSpc>
                <a:spcPct val="100000"/>
              </a:lnSpc>
              <a:spcBef>
                <a:spcPts val="4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包路径：USTC.SSE.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BearingPrediction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导入：from phm ...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0"/>
              </a:spcBef>
              <a:buAutoNum type="arabicPeriod" startAt="2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训练：BaseTrainer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评估：Evaluator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 startAt="3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展示：Notebook + 图表</a:t>
            </a: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4B5FC93-C2AE-4CBA-8487-DE3D51EC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95"/>
              </a:spcBef>
              <a:buNone/>
              <a:defRPr sz="690">
                <a:solidFill>
                  <a:srgbClr val="333333"/>
                </a:solidFill>
              </a:defRPr>
            </a:pPr>
            <a:r>
              <a:rPr sz="690">
                <a:solidFill>
                  <a:srgbClr val="333333"/>
                </a:solidFill>
                <a:latin typeface="宋体"/>
                <a:ea typeface="宋体"/>
                <a:cs typeface="宋体"/>
              </a:rPr>
              <a:t>图：轴承 PHM 系统 UML 架构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88d4f54e546b4"/>
          <a:stretch xmlns:a="http://schemas.openxmlformats.org/drawingml/2006/main"/>
        </p:blipFill>
        <p:spPr>
          <a:xfrm xmlns:a="http://schemas.openxmlformats.org/drawingml/2006/main">
            <a:off x="2266950" y="681669"/>
            <a:ext cx="3238500" cy="18656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81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8BA4895-F910-4639-B755-625695341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0" cy="207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>
                <a:latin typeface="Lucida Sans Unicode"/>
                <a:ea typeface="Lucida Sans Unicode"/>
                <a:cs typeface="Lucida Sans Unicode"/>
              </a:rPr>
              <a:t>数据与标签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475E98A-A67F-4893-B5D8-7DD09B8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6750"/>
            <a:ext cx="1885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5244" rIns="0" bIns="0">
            <a:spAutoFit/>
          </a:bodyPr>
          <a:lstStyle xmlns:a="http://schemas.openxmlformats.org/drawingml/2006/main"/>
          <a:p xmlns:a="http://schemas.openxmlformats.org/drawingml/2006/main">
            <a:pPr marL="38100">
              <a:lnSpc>
                <a:spcPct val="100000"/>
              </a:lnSpc>
              <a:spcBef>
                <a:spcPts val="4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PHM2012：RUL 回归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XJTU-SY：Fault 检测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RUL 标签：1 线性退化到 0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0"/>
              </a:spcBef>
              <a:buAutoNum type="arabicPeriod" startAt="2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窗口取最后一个快照标签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Fault 标签：RMS 3σ FOT 后为 Faulty</a:t>
            </a: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4B5FC93-C2AE-4CBA-8487-DE3D51EC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95"/>
              </a:spcBef>
              <a:buNone/>
              <a:defRPr sz="690">
                <a:solidFill>
                  <a:srgbClr val="333333"/>
                </a:solidFill>
              </a:defRPr>
            </a:pPr>
            <a:r>
              <a:rPr sz="690">
                <a:solidFill>
                  <a:srgbClr val="333333"/>
                </a:solidFill>
                <a:latin typeface="宋体"/>
                <a:ea typeface="宋体"/>
                <a:cs typeface="宋体"/>
              </a:rPr>
              <a:t>图：数据加载、标签构造与训练流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f7e2273564890"/>
          <a:stretch xmlns:a="http://schemas.openxmlformats.org/drawingml/2006/main"/>
        </p:blipFill>
        <p:spPr>
          <a:xfrm xmlns:a="http://schemas.openxmlformats.org/drawingml/2006/main">
            <a:off x="2209800" y="739060"/>
            <a:ext cx="3333750" cy="15889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81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8BA4895-F910-4639-B755-625695341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0" cy="207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>
                <a:latin typeface="Lucida Sans Unicode"/>
                <a:ea typeface="Lucida Sans Unicode"/>
                <a:cs typeface="Lucida Sans Unicode"/>
              </a:rPr>
              <a:t>特征工程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475E98A-A67F-4893-B5D8-7DD09B8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6750"/>
            <a:ext cx="1885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5244" rIns="0" bIns="0">
            <a:spAutoFit/>
          </a:bodyPr>
          <a:lstStyle xmlns:a="http://schemas.openxmlformats.org/drawingml/2006/main"/>
          <a:p xmlns:a="http://schemas.openxmlformats.org/drawingml/2006/main">
            <a:pPr marL="38100">
              <a:lnSpc>
                <a:spcPct val="100000"/>
              </a:lnSpc>
              <a:spcBef>
                <a:spcPts val="4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RUL：Hann window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rFFT 去 DC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256 个 log1p 频域 bin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0"/>
              </a:spcBef>
              <a:buAutoNum type="arabicPeriod" startAt="2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20 维退化统计特征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序列形状：[B, 32, 276]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 startAt="3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Fault：双通道 552 维，窗口 8</a:t>
            </a: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4B5FC93-C2AE-4CBA-8487-DE3D51EC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95"/>
              </a:spcBef>
              <a:buNone/>
              <a:defRPr sz="690">
                <a:solidFill>
                  <a:srgbClr val="333333"/>
                </a:solidFill>
              </a:defRPr>
            </a:pPr>
            <a:r>
              <a:rPr sz="690">
                <a:solidFill>
                  <a:srgbClr val="333333"/>
                </a:solidFill>
                <a:latin typeface="宋体"/>
                <a:ea typeface="宋体"/>
                <a:cs typeface="宋体"/>
              </a:rPr>
              <a:t>图：RUL 增强特征分布与退化趋势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f6de9dbee4772"/>
          <a:stretch xmlns:a="http://schemas.openxmlformats.org/drawingml/2006/main"/>
        </p:blipFill>
        <p:spPr>
          <a:xfrm xmlns:a="http://schemas.openxmlformats.org/drawingml/2006/main">
            <a:off x="2238375" y="686388"/>
            <a:ext cx="3286125" cy="1770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81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8BA4895-F910-4639-B755-625695341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0" cy="207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>
                <a:latin typeface="Lucida Sans Unicode"/>
                <a:ea typeface="Lucida Sans Unicode"/>
                <a:cs typeface="Lucida Sans Unicode"/>
              </a:rPr>
              <a:t>RUL 主线复现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475E98A-A67F-4893-B5D8-7DD09B8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6750"/>
            <a:ext cx="1885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5244" rIns="0" bIns="0">
            <a:spAutoFit/>
          </a:bodyPr>
          <a:lstStyle xmlns:a="http://schemas.openxmlformats.org/drawingml/2006/main"/>
          <a:p xmlns:a="http://schemas.openxmlformats.org/drawingml/2006/main">
            <a:pPr marL="38100">
              <a:lnSpc>
                <a:spcPct val="100000"/>
              </a:lnSpc>
              <a:spcBef>
                <a:spcPts val="435"/>
              </a:spcBef>
              <a:buNone/>
              <a:defRPr sz="840">
                <a:solidFill>
                  <a:srgbClr val="111111"/>
                </a:solidFill>
              </a:defRPr>
            </a:pPr>
            <a:r>
              <a:rPr sz="84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方法：CBAM-CNN-LSTM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/>
              <a:defRPr sz="840">
                <a:solidFill>
                  <a:srgbClr val="111111"/>
                </a:solidFill>
              </a:defRPr>
            </a:pPr>
            <a:r>
              <a:rPr sz="84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读取 PHM2012 加速度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840">
                <a:solidFill>
                  <a:srgbClr val="111111"/>
                </a:solidFill>
              </a:defRPr>
            </a:pPr>
            <a:r>
              <a:rPr sz="84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构造频域与退化统计特征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0"/>
              </a:spcBef>
              <a:buAutoNum type="arabicPeriod" startAt="2"/>
              <a:defRPr sz="840">
                <a:solidFill>
                  <a:srgbClr val="111111"/>
                </a:solidFill>
              </a:defRPr>
            </a:pPr>
            <a:r>
              <a:rPr sz="84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生成 32 步窗口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840">
                <a:solidFill>
                  <a:srgbClr val="111111"/>
                </a:solidFill>
              </a:defRPr>
            </a:pPr>
            <a:r>
              <a:rPr sz="84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输出归一化 RUL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 startAt="3"/>
              <a:defRPr sz="840">
                <a:solidFill>
                  <a:srgbClr val="111111"/>
                </a:solidFill>
              </a:defRPr>
            </a:pPr>
            <a:r>
              <a:rPr sz="84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设置：200 epochs，BaseTrainer + MPS</a:t>
            </a: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4B5FC93-C2AE-4CBA-8487-DE3D51EC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95"/>
              </a:spcBef>
              <a:buNone/>
              <a:defRPr sz="690">
                <a:solidFill>
                  <a:srgbClr val="333333"/>
                </a:solidFill>
              </a:defRPr>
            </a:pPr>
            <a:r>
              <a:rPr sz="690">
                <a:solidFill>
                  <a:srgbClr val="333333"/>
                </a:solidFill>
                <a:latin typeface="宋体"/>
                <a:ea typeface="宋体"/>
                <a:cs typeface="宋体"/>
              </a:rPr>
              <a:t>图：训练/验证损失与指标变化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65f98099342fa"/>
          <a:stretch xmlns:a="http://schemas.openxmlformats.org/drawingml/2006/main"/>
        </p:blipFill>
        <p:spPr>
          <a:xfrm xmlns:a="http://schemas.openxmlformats.org/drawingml/2006/main">
            <a:off x="2228850" y="697277"/>
            <a:ext cx="3295650" cy="17296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81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8BA4895-F910-4639-B755-625695341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0" cy="207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>
                <a:latin typeface="Lucida Sans Unicode"/>
                <a:ea typeface="Lucida Sans Unicode"/>
                <a:cs typeface="Lucida Sans Unicode"/>
              </a:rPr>
              <a:t>RUL 全量结果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475E98A-A67F-4893-B5D8-7DD09B8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6750"/>
            <a:ext cx="1885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5244" rIns="0" bIns="0">
            <a:spAutoFit/>
          </a:bodyPr>
          <a:lstStyle xmlns:a="http://schemas.openxmlformats.org/drawingml/2006/main"/>
          <a:p xmlns:a="http://schemas.openxmlformats.org/drawingml/2006/main">
            <a:pPr marL="38100">
              <a:lnSpc>
                <a:spcPct val="100000"/>
              </a:lnSpc>
              <a:spcBef>
                <a:spcPts val="4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best epoch：124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val MSE：0.002183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test MSE：0.040336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0"/>
              </a:spcBef>
              <a:buAutoNum type="arabicPeriod" startAt="2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test RMSE：0.2008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test MAE：0.1550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 startAt="3"/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  <a:latin typeface="宋体"/>
                <a:ea typeface="宋体"/>
                <a:cs typeface="宋体"/>
              </a:rPr>
              <a:t>曲线平滑仅用于展示趋势</a:t>
            </a: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4B5FC93-C2AE-4CBA-8487-DE3D51EC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2476500" cy="328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95"/>
              </a:spcBef>
              <a:buNone/>
              <a:defRPr sz="690">
                <a:solidFill>
                  <a:srgbClr val="333333"/>
                </a:solidFill>
              </a:defRPr>
            </a:pPr>
            <a:r>
              <a:rPr sz="690">
                <a:solidFill>
                  <a:srgbClr val="333333"/>
                </a:solidFill>
                <a:latin typeface="宋体"/>
                <a:ea typeface="宋体"/>
                <a:cs typeface="宋体"/>
              </a:rPr>
              <a:t>图：PHM2012 RUL 预测曲线（代表性轴承）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9e05b45a940c6"/>
          <a:stretch xmlns:a="http://schemas.openxmlformats.org/drawingml/2006/main"/>
        </p:blipFill>
        <p:spPr>
          <a:xfrm xmlns:a="http://schemas.openxmlformats.org/drawingml/2006/main">
            <a:off x="1952625" y="779585"/>
            <a:ext cx="3524250" cy="16126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81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45A34DB-3094-4C58-8805-19DC0D0D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0" y="65872"/>
            <a:ext cx="1718945" cy="207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2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</a:rPr>
              <a:t>主线指标汇总</a:t>
            </a:r>
          </a:p>
        </p:txBody>
      </p:sp>
      <p:graphicFrame>
        <p:nvGraphicFramePr>
          <p:cNvPr id="5" name="object 3"/>
          <p:cNvGraphicFramePr/>
          <p:nvPr/>
        </p:nvGraphicFramePr>
        <p:xfrm>
          <a:off xmlns:a="http://schemas.openxmlformats.org/drawingml/2006/main" x="932634" y="891778"/>
          <a:ext xmlns:a="http://schemas.openxmlformats.org/drawingml/2006/main" cx="3971290" cy="140335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120"/>
                <a:gridCol w="1591945"/>
                <a:gridCol w="1591944"/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76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交付项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3F98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765" b="1">
                          <a:solidFill>
                            <a:srgbClr val="FFFFFF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当前结果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3F98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76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答辩说明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3F98"/>
                    </a:solidFill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RUL 输入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[B, 32, 276]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Hann+rFFT 256 + 统计特征 20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RUL 指标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MSE 0.0403 / RMSE 0.2008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PHM2012 full-data test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RUL 训练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200 epochs / best 124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BaseTrainer + MPS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Fault 指标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Arial MT"/>
                          <a:ea typeface="Arial MT"/>
                          <a:cs typeface="Arial MT"/>
                        </a:rPr>
                        <a:t>Acc 0.9963 / Macro-F1 0.9949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Arial MT"/>
                          <a:ea typeface="Arial MT"/>
                          <a:cs typeface="Arial MT"/>
                        </a:rPr>
                        <a:t>XJTU Healthy/Faulty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宋体"/>
                          <a:ea typeface="宋体"/>
                          <a:cs typeface="宋体"/>
                        </a:rPr>
                        <a:t>工程验证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Arial MT"/>
                          <a:ea typeface="Arial MT"/>
                          <a:cs typeface="Arial MT"/>
                        </a:rPr>
                        <a:t>compileall + 16 tests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  <a:buNone/>
                      </a:pPr>
                      <a:r>
                        <a:rPr sz="645" b="0">
                          <a:solidFill>
                            <a:srgbClr val="111111"/>
                          </a:solidFill>
                          <a:latin typeface="Arial MT"/>
                          <a:ea typeface="Arial MT"/>
                          <a:cs typeface="Arial MT"/>
                        </a:rPr>
                        <a:t>uv / Python 3.11 / torch 2.10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4640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8BA4895-F910-4639-B755-625695341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0" cy="207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>
                <a:latin typeface="Lucida Sans Unicode"/>
                <a:ea typeface="Lucida Sans Unicode"/>
                <a:cs typeface="Lucida Sans Unicode"/>
              </a:rPr>
              <a:t>Fault 检测结果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475E98A-A67F-4893-B5D8-7DD09B8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6750"/>
            <a:ext cx="18859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5244" rIns="0" bIns="0">
            <a:spAutoFit/>
          </a:bodyPr>
          <a:lstStyle xmlns:a="http://schemas.openxmlformats.org/drawingml/2006/main"/>
          <a:p xmlns:a="http://schemas.openxmlformats.org/drawingml/2006/main">
            <a:pPr marL="38100">
              <a:lnSpc>
                <a:spcPct val="100000"/>
              </a:lnSpc>
              <a:spcBef>
                <a:spcPts val="435"/>
              </a:spcBef>
              <a:buNone/>
              <a:defRPr sz="795">
                <a:solidFill>
                  <a:srgbClr val="111111"/>
                </a:solidFill>
              </a:defRPr>
            </a:pPr>
            <a:r>
              <a:rPr sz="79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任务：XJTU-SY Healthy/Faulty 二分类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5"/>
              </a:spcBef>
              <a:buAutoNum type="arabicPeriod"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标签：RMS 3σ FOT 自动标注</a:t>
            </a:r>
          </a:p>
          <a:p xmlns:a="http://schemas.openxmlformats.org/drawingml/2006/main">
            <a:pPr marL="314960">
              <a:lnSpc>
                <a:spcPct val="100000"/>
              </a:lnSpc>
              <a:spcBef>
                <a:spcPts val="35"/>
              </a:spcBef>
              <a:buNone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Arial MT"/>
                <a:ea typeface="Arial MT"/>
                <a:cs typeface="Arial MT"/>
              </a:rPr>
              <a:t>结果：Accuracy 0.9963，Macro-F1 0.9949</a:t>
            </a:r>
          </a:p>
          <a:p xmlns:a="http://schemas.openxmlformats.org/drawingml/2006/main">
            <a:pPr marL="312420" indent="-174625">
              <a:lnSpc>
                <a:spcPct val="100000"/>
              </a:lnSpc>
              <a:spcBef>
                <a:spcPts val="330"/>
              </a:spcBef>
              <a:buAutoNum type="arabicPeriod" startAt="2"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误判：Healthy 3 个，Faulty 2 个</a:t>
            </a: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4B5FC93-C2AE-4CBA-8487-DE3D51EC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95"/>
              </a:spcBef>
              <a:buNone/>
              <a:defRPr sz="690">
                <a:solidFill>
                  <a:srgbClr val="333333"/>
                </a:solidFill>
              </a:defRPr>
            </a:pPr>
            <a:r>
              <a:rPr sz="690">
                <a:solidFill>
                  <a:srgbClr val="333333"/>
                </a:solidFill>
                <a:latin typeface="宋体"/>
                <a:ea typeface="宋体"/>
                <a:cs typeface="宋体"/>
              </a:rPr>
              <a:t>图：XJTU-SY Healthy/Faulty 混淆矩阵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978a916154b71"/>
          <a:stretch xmlns:a="http://schemas.openxmlformats.org/drawingml/2006/main"/>
        </p:blipFill>
        <p:spPr>
          <a:xfrm xmlns:a="http://schemas.openxmlformats.org/drawingml/2006/main">
            <a:off x="2857500" y="832562"/>
            <a:ext cx="2190750" cy="16305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81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A03DC64-B6E8-49D8-B52B-E9B3B714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0" y="65872"/>
            <a:ext cx="1088390" cy="207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20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工程交付与测试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8E4CA888-975F-4CF0-B712-28DE52C3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2450"/>
            <a:ext cx="4000500" cy="287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8580" rIns="0" bIns="0">
            <a:spAutoFit/>
          </a:bodyPr>
          <a:lstStyle xmlns:a="http://schemas.openxmlformats.org/drawingml/2006/main"/>
          <a:p xmlns:a="http://schemas.openxmlformats.org/drawingml/2006/main">
            <a:pPr marL="50800">
              <a:lnSpc>
                <a:spcPct val="100000"/>
              </a:lnSpc>
              <a:spcBef>
                <a:spcPts val="540"/>
              </a:spcBef>
              <a:buNone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工程实现</a:t>
            </a:r>
          </a:p>
          <a:p xmlns:a="http://schemas.openxmlformats.org/drawingml/2006/main">
            <a:pPr marL="325755" indent="-175260">
              <a:lnSpc>
                <a:spcPct val="100000"/>
              </a:lnSpc>
              <a:spcBef>
                <a:spcPts val="395"/>
              </a:spcBef>
              <a:buChar char="►"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▶ Python 3.11、uv 包管理、PyTorch 2.10；</a:t>
            </a:r>
          </a:p>
          <a:p xmlns:a="http://schemas.openxmlformats.org/drawingml/2006/main">
            <a:pPr marL="325755" indent="-175260">
              <a:lnSpc>
                <a:spcPct val="100000"/>
              </a:lnSpc>
              <a:spcBef>
                <a:spcPts val="335"/>
              </a:spcBef>
              <a:buChar char="►"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▶ Mac 环境优先 MPS，CPU 兜底；</a:t>
            </a:r>
          </a:p>
          <a:p xmlns:a="http://schemas.openxmlformats.org/drawingml/2006/main">
            <a:pPr marL="325755" indent="-175260">
              <a:lnSpc>
                <a:spcPct val="100000"/>
              </a:lnSpc>
              <a:spcBef>
                <a:spcPts val="335"/>
              </a:spcBef>
              <a:buChar char="►"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▶ 统一 phm 导入入口，底层包路径为 USTC.SSE.BearingPrediction；</a:t>
            </a:r>
          </a:p>
          <a:p xmlns:a="http://schemas.openxmlformats.org/drawingml/2006/main">
            <a:pPr marL="50800">
              <a:lnSpc>
                <a:spcPct val="100000"/>
              </a:lnSpc>
              <a:spcBef>
                <a:spcPts val="1220"/>
              </a:spcBef>
              <a:buNone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▶ examples 迁移为 Notebook，展示特征图、训练曲线、指标和热力图。</a:t>
            </a:r>
          </a:p>
          <a:p xmlns:a="http://schemas.openxmlformats.org/drawingml/2006/main">
            <a:pPr marL="325755" indent="-175260">
              <a:lnSpc>
                <a:spcPct val="100000"/>
              </a:lnSpc>
              <a:spcBef>
                <a:spcPts val="385"/>
              </a:spcBef>
              <a:buChar char="►"/>
            </a:pPr>
            <a:r>
              <a:rPr sz="1100">
                <a:latin typeface="宋体"/>
                <a:ea typeface="宋体"/>
                <a:cs typeface="宋体"/>
              </a:rPr>
              <a:t/>
            </a:r>
          </a:p>
          <a:p xmlns:a="http://schemas.openxmlformats.org/drawingml/2006/main">
            <a:pPr marL="325755" indent="-175260">
              <a:lnSpc>
                <a:spcPct val="100000"/>
              </a:lnSpc>
              <a:spcBef>
                <a:spcPts val="335"/>
              </a:spcBef>
              <a:buChar char="►"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验证与交付</a:t>
            </a:r>
          </a:p>
          <a:p xmlns:a="http://schemas.openxmlformats.org/drawingml/2006/main">
            <a:pPr marL="325755" indent="-175260">
              <a:lnSpc>
                <a:spcPct val="100000"/>
              </a:lnSpc>
              <a:spcBef>
                <a:spcPts val="335"/>
              </a:spcBef>
              <a:buChar char="►"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▶ compileall 与 unittest 已通过；</a:t>
            </a:r>
          </a:p>
          <a:p xmlns:a="http://schemas.openxmlformats.org/drawingml/2006/main">
            <a:pPr marL="325755" indent="-175260">
              <a:lnSpc>
                <a:spcPct val="100000"/>
              </a:lnSpc>
              <a:spcBef>
                <a:spcPts val="330"/>
              </a:spcBef>
              <a:buChar char="►"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▶ 文档按开题、中期、结题三阶段重建；</a:t>
            </a:r>
          </a:p>
          <a:p xmlns:a="http://schemas.openxmlformats.org/drawingml/2006/main">
            <a:pPr marL="325755" indent="-175260">
              <a:lnSpc>
                <a:spcPct val="100000"/>
              </a:lnSpc>
              <a:spcBef>
                <a:spcPts val="330"/>
              </a:spcBef>
              <a:buChar char="►"/>
              <a:defRPr sz="795">
                <a:solidFill>
                  <a:srgbClr val="111111"/>
                </a:solidFill>
              </a:defRPr>
            </a:pPr>
            <a:r>
              <a:rPr sz="795">
                <a:solidFill>
                  <a:srgbClr val="111111"/>
                </a:solidFill>
                <a:latin typeface="宋体"/>
                <a:ea typeface="宋体"/>
                <a:cs typeface="宋体"/>
              </a:rPr>
              <a:t>▶ 输出 checkpoint、预测 CSV、指标 JSON、可视化图与答辩材料。</a:t>
            </a:r>
          </a:p>
        </p:txBody>
      </p:sp>
    </p:spTree>
    <p:extLst>
      <p:ext uri="{BB962C8B-B14F-4D97-AF65-F5344CB8AC3E}">
        <p14:creationId xmlns:p14="http://schemas.microsoft.com/office/powerpoint/2010/main" val="1611937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724C7A7-C6C2-4779-A5BE-04E4201E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0" y="65872"/>
            <a:ext cx="329565" cy="207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20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总结</a:t>
            </a: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487495AA-A4C6-4D98-99AA-48191616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081" y="1317026"/>
            <a:ext cx="970280" cy="778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875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125"/>
              </a:spcBef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  <a:latin typeface="宋体"/>
                <a:ea typeface="宋体"/>
                <a:cs typeface="宋体"/>
              </a:rPr>
              <a:t>谢谢老师！</a:t>
            </a:r>
          </a:p>
        </p:txBody>
      </p:sp>
    </p:spTree>
    <p:extLst>
      <p:ext uri="{BB962C8B-B14F-4D97-AF65-F5344CB8AC3E}">
        <p14:creationId xmlns:p14="http://schemas.microsoft.com/office/powerpoint/2010/main" val="41329232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09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2026-06-18T02:56:12.1840000Z</dcterms:created>
  <dcterms:modified xsi:type="dcterms:W3CDTF">2026-06-18T02:56:12.1840000Z</dcterms:modified>
</coreProperties>
</file>