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12" d="100"/>
          <a:sy n="112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汇报的题目是轴承寿命预测与故障诊断系统。这个项目的定位不是线上工业平台，而是在课程要求下，把真实轴承数据、论文主线复现、工程代码、测试验证和交付文档串成一条可复查的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这一页先交代课程要求。我们把交付物整理成四条证据链：文档、代码、实验和验证。后面每一页都围绕这四条线展开，尽量少讲口号，多讲可运行、可检查的内容。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项目任务分成两类。第一类是 PHM2012 的剩余寿命回归，关注 RUL 曲线趋势和误差指标。第二类是 XJTU-SY 的健康/故障检测，当前是二分类任务，所以后面汇报时不会把它说成多故障类型分类。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这一页讲系统结构。左边是架构图，右边我只强调三个点：包结构已经迁移到 USTC.SSE.BearingPrediction；对外示例用 phm 导入；两条论文主线都走统一 Trainer 和 Notebook，这样流程是一致的。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这一页说明数据和标签。RUL 标签是归一化寿命，窗口标签取最后一个时间点。故障检测标签不是人工逐文件标的，而是基于水平 RMS 的 3σ FOT 自动生成，FOT 之前是 Healthy，之后是 Faulty。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这一页回答输入特征。RUL 原来只用 256 维频域，这次为了改善曲线拟合，在论文主线不变的基础上加入了 20 维退化统计特征，所以单个快照是 276 维，32 个快照组成一个序列。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 这条线保持 CBAM-CNN-LSTM 主线。针对之前曲线拟合不理想的问题，我们主要做了三点加强：增加训练轮数，加入退化统计特征，并记录验证集最佳 epoch。这样不是只展示最后一轮，而是保留训练过程证据。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 RUL 结果。验证 MSE 是 0.0022，测试 MSE 是 0.0403，RMSE 是 0.2008，MAE 是 0.1550。右侧展示 Bearing1_3 的代表性预测曲线，浅蓝色是原始逐窗口预测，深蓝色是滑动平均趋势，指标仍按原始预测计算。汇报时要强调：曲线已经通过增强训练改善，但 RUL 跨轴承泛化仍是这个任务最难的部分，我们保留完整多轴承曲线作为补充证据，不夸大结果。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这一页讲故障检测方法。这里要主动说明：高分来自健康/故障二分类，而不是多故障类型分类。标签由 3σ FOT 自动生成，模型学习的是健康到故障的状态边界。这个解释能避免过度宣称。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这一页讲故障结果。混淆矩阵里健康误判故障是 3 个，故障误判健康是 2 个，所以 Accuracy 是 0.9963，Macro-F1 是 0.9949。这里的结论是健康/故障检测稳定，不把它扩展成多类型故障诊断。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这一页讲工程实现。环境统一到 Python 3.11 和 uv，PyTorch 是 2.10，Mac 上可以走 MPS。训练入口统一用 BaseTrainer，示例都迁移到 Notebook；测试层面有编译、单测、文档扫描和导出检查。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最后收束到三点：第一，项目聚焦轴承 PHM，不再保留无关数据集和旧项目口径；第二，RUL 和故障检测两条论文主线都能通过统一框架运行并输出证据；第三，文档、测试和 PPT 已经按课程结题交付整理。我的汇报到这里，谢谢老师。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92EDA93-22CF-4126-953F-BDE26AF1F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953B5B-F0C6-4A6D-9C6B-07BF568B4A59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7239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F2933"/>
                </a:solidFill>
              </a:defRPr>
            </a:pPr>
            <a:r>
              <a:rPr sz="3600" b="1">
                <a:solidFill>
                  <a:srgbClr val="1F2933"/>
                </a:solidFill>
              </a:rPr>
              <a:t>轴承寿命预测与故障诊断系统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AC029F-B315-4D16-8516-E7D9CFB380A2}"/>
              </a:ext>
            </a:extLst>
          </p:cNvPr>
          <p:cNvSpPr>
            <a:spLocks noGrp="1"/>
          </p:cNvSpPr>
          <p:nvPr/>
        </p:nvSpPr>
        <p:spPr>
          <a:xfrm>
            <a:off x="876300" y="2428875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667085"/>
                </a:solidFill>
              </a:defRPr>
            </a:pPr>
            <a:r>
              <a:rPr sz="1725" b="0" dirty="0" err="1">
                <a:solidFill>
                  <a:srgbClr val="667085"/>
                </a:solidFill>
              </a:rPr>
              <a:t>围绕</a:t>
            </a:r>
            <a:r>
              <a:rPr sz="1725" b="0" dirty="0">
                <a:solidFill>
                  <a:srgbClr val="667085"/>
                </a:solidFill>
              </a:rPr>
              <a:t> PHM2012 </a:t>
            </a:r>
            <a:r>
              <a:rPr sz="1725" b="0" dirty="0" err="1">
                <a:solidFill>
                  <a:srgbClr val="667085"/>
                </a:solidFill>
              </a:rPr>
              <a:t>与</a:t>
            </a:r>
            <a:r>
              <a:rPr sz="1725" b="0" dirty="0">
                <a:solidFill>
                  <a:srgbClr val="667085"/>
                </a:solidFill>
              </a:rPr>
              <a:t> </a:t>
            </a:r>
            <a:r>
              <a:rPr sz="1725" b="0" dirty="0" err="1">
                <a:solidFill>
                  <a:srgbClr val="667085"/>
                </a:solidFill>
              </a:rPr>
              <a:t>XJTU-SY，完成轴承</a:t>
            </a:r>
            <a:r>
              <a:rPr sz="1725" b="0" dirty="0">
                <a:solidFill>
                  <a:srgbClr val="667085"/>
                </a:solidFill>
              </a:rPr>
              <a:t> RUL </a:t>
            </a:r>
            <a:r>
              <a:rPr sz="1725" b="0" dirty="0" err="1">
                <a:solidFill>
                  <a:srgbClr val="667085"/>
                </a:solidFill>
              </a:rPr>
              <a:t>回归、健康</a:t>
            </a:r>
            <a:r>
              <a:rPr sz="1725" b="0" dirty="0">
                <a:solidFill>
                  <a:srgbClr val="667085"/>
                </a:solidFill>
              </a:rPr>
              <a:t>/</a:t>
            </a:r>
            <a:r>
              <a:rPr sz="1725" b="0" dirty="0" err="1">
                <a:solidFill>
                  <a:srgbClr val="667085"/>
                </a:solidFill>
              </a:rPr>
              <a:t>故障诊断、实验可视化</a:t>
            </a:r>
            <a:r>
              <a:rPr sz="1725" b="0" dirty="0">
                <a:solidFill>
                  <a:srgbClr val="667085"/>
                </a:solidFill>
              </a:rPr>
              <a:t>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9417E15-9460-4ECD-9974-C9BBE86699AC}"/>
              </a:ext>
            </a:extLst>
          </p:cNvPr>
          <p:cNvSpPr>
            <a:spLocks noGrp="1"/>
          </p:cNvSpPr>
          <p:nvPr/>
        </p:nvSpPr>
        <p:spPr>
          <a:xfrm>
            <a:off x="8429625" y="1285875"/>
            <a:ext cx="2286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565F27-4680-4864-A61E-BD875BA5D3DD}"/>
              </a:ext>
            </a:extLst>
          </p:cNvPr>
          <p:cNvSpPr>
            <a:spLocks noGrp="1"/>
          </p:cNvSpPr>
          <p:nvPr/>
        </p:nvSpPr>
        <p:spPr>
          <a:xfrm>
            <a:off x="8620125" y="1495425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F6F9F"/>
                </a:solidFill>
              </a:defRPr>
            </a:pPr>
            <a:r>
              <a:rPr sz="2850" b="1">
                <a:solidFill>
                  <a:srgbClr val="2F6F9F"/>
                </a:solidFill>
              </a:rPr>
              <a:t>276维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3FBB41-13ED-411C-841B-A2D36FD3C369}"/>
              </a:ext>
            </a:extLst>
          </p:cNvPr>
          <p:cNvSpPr>
            <a:spLocks noGrp="1"/>
          </p:cNvSpPr>
          <p:nvPr/>
        </p:nvSpPr>
        <p:spPr>
          <a:xfrm>
            <a:off x="8620125" y="20288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RUL 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6F7C1B-E8C5-4C87-B40E-807DBB65D618}"/>
              </a:ext>
            </a:extLst>
          </p:cNvPr>
          <p:cNvSpPr>
            <a:spLocks noGrp="1"/>
          </p:cNvSpPr>
          <p:nvPr/>
        </p:nvSpPr>
        <p:spPr>
          <a:xfrm>
            <a:off x="8620125" y="22955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每个快照的频域与退化特征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BAB5D36-7E74-4EB4-8139-5CCAF0E8B9D1}"/>
              </a:ext>
            </a:extLst>
          </p:cNvPr>
          <p:cNvSpPr>
            <a:spLocks noGrp="1"/>
          </p:cNvSpPr>
          <p:nvPr/>
        </p:nvSpPr>
        <p:spPr>
          <a:xfrm>
            <a:off x="8429625" y="3000375"/>
            <a:ext cx="2286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8DE7D4-0776-41A7-A924-C90600AA42D3}"/>
              </a:ext>
            </a:extLst>
          </p:cNvPr>
          <p:cNvSpPr>
            <a:spLocks noGrp="1"/>
          </p:cNvSpPr>
          <p:nvPr/>
        </p:nvSpPr>
        <p:spPr>
          <a:xfrm>
            <a:off x="8620125" y="3209925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5A8F68"/>
                </a:solidFill>
              </a:defRPr>
            </a:pPr>
            <a:r>
              <a:rPr sz="2850" b="1">
                <a:solidFill>
                  <a:srgbClr val="5A8F68"/>
                </a:solidFill>
              </a:rPr>
              <a:t>99.63%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5C52AA-3A97-4268-86BA-D39CDB829A39}"/>
              </a:ext>
            </a:extLst>
          </p:cNvPr>
          <p:cNvSpPr>
            <a:spLocks noGrp="1"/>
          </p:cNvSpPr>
          <p:nvPr/>
        </p:nvSpPr>
        <p:spPr>
          <a:xfrm>
            <a:off x="8620125" y="37433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Fault 指标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4598C9-D323-4086-A3FC-8D8464437E7F}"/>
              </a:ext>
            </a:extLst>
          </p:cNvPr>
          <p:cNvSpPr>
            <a:spLocks noGrp="1"/>
          </p:cNvSpPr>
          <p:nvPr/>
        </p:nvSpPr>
        <p:spPr>
          <a:xfrm>
            <a:off x="8620125" y="40100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健康/故障二分类准确率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5F801C-8B4B-48D6-86CB-125EEEFE76F5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F9F"/>
                </a:solidFill>
              </a:defRPr>
            </a:pPr>
            <a:r>
              <a:rPr sz="1275" b="1">
                <a:solidFill>
                  <a:srgbClr val="2F6F9F"/>
                </a:solidFill>
              </a:rPr>
              <a:t>USTC 软件工程实践 · 结题答辩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60A6E1-0F08-4F70-B122-BD75B3298F74}"/>
              </a:ext>
            </a:extLst>
          </p:cNvPr>
          <p:cNvSpPr>
            <a:spLocks noGrp="1"/>
          </p:cNvSpPr>
          <p:nvPr/>
        </p:nvSpPr>
        <p:spPr>
          <a:xfrm>
            <a:off x="876300" y="61150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   </a:t>
            </a:r>
            <a:r>
              <a:rPr sz="1125" b="0" dirty="0" err="1">
                <a:solidFill>
                  <a:srgbClr val="667085"/>
                </a:solidFill>
              </a:rPr>
              <a:t>成员：zyj</a:t>
            </a:r>
            <a:r>
              <a:rPr sz="1125" b="0" dirty="0">
                <a:solidFill>
                  <a:srgbClr val="667085"/>
                </a:solidFill>
              </a:rPr>
              <a:t> / </a:t>
            </a:r>
            <a:r>
              <a:rPr sz="1125" b="0" dirty="0" err="1">
                <a:solidFill>
                  <a:srgbClr val="667085"/>
                </a:solidFill>
              </a:rPr>
              <a:t>zdh</a:t>
            </a:r>
            <a:r>
              <a:rPr sz="1125" b="0" dirty="0">
                <a:solidFill>
                  <a:srgbClr val="667085"/>
                </a:solidFill>
              </a:rPr>
              <a:t> / </a:t>
            </a:r>
            <a:r>
              <a:rPr sz="1125" b="0" dirty="0" err="1">
                <a:solidFill>
                  <a:srgbClr val="667085"/>
                </a:solidFill>
              </a:rPr>
              <a:t>cyj</a:t>
            </a:r>
            <a:r>
              <a:rPr sz="1125" b="0" dirty="0">
                <a:solidFill>
                  <a:srgbClr val="667085"/>
                </a:solidFill>
              </a:rPr>
              <a:t> / </a:t>
            </a:r>
            <a:r>
              <a:rPr sz="1125" b="0" dirty="0" err="1">
                <a:solidFill>
                  <a:srgbClr val="667085"/>
                </a:solidFill>
              </a:rPr>
              <a:t>zy</a:t>
            </a:r>
            <a:endParaRPr sz="1125" b="0" dirty="0">
              <a:solidFill>
                <a:srgbClr val="6670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81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4896CDD-762E-40C1-9148-F4780541A6D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01 课程要求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93604F-5AF9-43AC-8B99-8A4EB64CE79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从课程要求到交付证据链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2F6D5C-6689-4E58-90D3-71589FCAE6E3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6B5680-8424-4028-8341-9160797C63B4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9019763-216E-4305-95D0-C33EABEC5180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13EED9-0EDC-4BAB-B11E-BF1DFE02E2D9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3770BF-F137-4015-B3E0-97DD6959A412}"/>
              </a:ext>
            </a:extLst>
          </p:cNvPr>
          <p:cNvSpPr>
            <a:spLocks noGrp="1"/>
          </p:cNvSpPr>
          <p:nvPr/>
        </p:nvSpPr>
        <p:spPr>
          <a:xfrm>
            <a:off x="1428750" y="194310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文档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4C33CF-295B-49B6-9280-3647FA743CD4}"/>
              </a:ext>
            </a:extLst>
          </p:cNvPr>
          <p:cNvSpPr>
            <a:spLocks noGrp="1"/>
          </p:cNvSpPr>
          <p:nvPr/>
        </p:nvSpPr>
        <p:spPr>
          <a:xfrm>
            <a:off x="1428750" y="22669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开题、中期、结题阶段文档重建，统一项目名称和口径。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FD3FADD-4F6B-4061-9643-B1D9F61DDD32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DBCC2A-375E-47DE-BF56-213A18A342FF}"/>
              </a:ext>
            </a:extLst>
          </p:cNvPr>
          <p:cNvSpPr>
            <a:spLocks noGrp="1"/>
          </p:cNvSpPr>
          <p:nvPr/>
        </p:nvSpPr>
        <p:spPr>
          <a:xfrm>
            <a:off x="3657600" y="1943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2C9770-159F-4CEE-B4A3-88A6F24ACECF}"/>
              </a:ext>
            </a:extLst>
          </p:cNvPr>
          <p:cNvSpPr>
            <a:spLocks noGrp="1"/>
          </p:cNvSpPr>
          <p:nvPr/>
        </p:nvSpPr>
        <p:spPr>
          <a:xfrm>
            <a:off x="4095750" y="194310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03CA1A-AA44-4693-822C-F6E0FB0E967E}"/>
              </a:ext>
            </a:extLst>
          </p:cNvPr>
          <p:cNvSpPr>
            <a:spLocks noGrp="1"/>
          </p:cNvSpPr>
          <p:nvPr/>
        </p:nvSpPr>
        <p:spPr>
          <a:xfrm>
            <a:off x="4095750" y="22669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Python 3.11、uv、PyTorch 2.10，统一 phm 导入入口。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8612433-5098-428D-8673-635F55DFA4D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FBF645-5C2D-47FA-90BF-9A6544BFADE8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7A3D"/>
                </a:solidFill>
              </a:defRPr>
            </a:pPr>
            <a:r>
              <a:rPr sz="1650" b="1">
                <a:solidFill>
                  <a:srgbClr val="C97A3D"/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CFABFD-AABD-430F-9234-554621CE7789}"/>
              </a:ext>
            </a:extLst>
          </p:cNvPr>
          <p:cNvSpPr>
            <a:spLocks noGrp="1"/>
          </p:cNvSpPr>
          <p:nvPr/>
        </p:nvSpPr>
        <p:spPr>
          <a:xfrm>
            <a:off x="6762750" y="194310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实验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D8BE47-0658-4D92-9A25-6714B28AFA14}"/>
              </a:ext>
            </a:extLst>
          </p:cNvPr>
          <p:cNvSpPr>
            <a:spLocks noGrp="1"/>
          </p:cNvSpPr>
          <p:nvPr/>
        </p:nvSpPr>
        <p:spPr>
          <a:xfrm>
            <a:off x="6762750" y="22669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RUL 与故障诊断均通过 Notebook 展示训练、指标和图。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D9CDE3C-1F4E-44AC-A792-93F4B0AAD745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D902FC-4B93-4C82-82CB-C658B1B6CEE0}"/>
              </a:ext>
            </a:extLst>
          </p:cNvPr>
          <p:cNvSpPr>
            <a:spLocks noGrp="1"/>
          </p:cNvSpPr>
          <p:nvPr/>
        </p:nvSpPr>
        <p:spPr>
          <a:xfrm>
            <a:off x="8991600" y="1943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5524A"/>
                </a:solidFill>
              </a:defRPr>
            </a:pPr>
            <a:r>
              <a:rPr sz="1650" b="1">
                <a:solidFill>
                  <a:srgbClr val="B5524A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906A07-0EFA-42AA-A08D-18132A0A69CB}"/>
              </a:ext>
            </a:extLst>
          </p:cNvPr>
          <p:cNvSpPr>
            <a:spLocks noGrp="1"/>
          </p:cNvSpPr>
          <p:nvPr/>
        </p:nvSpPr>
        <p:spPr>
          <a:xfrm>
            <a:off x="9429750" y="194310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验证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0C2DC1-C8B7-4CFC-8206-4C517981DAC3}"/>
              </a:ext>
            </a:extLst>
          </p:cNvPr>
          <p:cNvSpPr>
            <a:spLocks noGrp="1"/>
          </p:cNvSpPr>
          <p:nvPr/>
        </p:nvSpPr>
        <p:spPr>
          <a:xfrm>
            <a:off x="9429750" y="22669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编译、单元测试、指标表、混淆矩阵和可视化结果留痕。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AB4A30-77CC-4BB7-BC15-4EF31480BB22}"/>
              </a:ext>
            </a:extLst>
          </p:cNvPr>
          <p:cNvSpPr>
            <a:spLocks noGrp="1"/>
          </p:cNvSpPr>
          <p:nvPr/>
        </p:nvSpPr>
        <p:spPr>
          <a:xfrm>
            <a:off x="1143000" y="40481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F2933"/>
                </a:solidFill>
              </a:defRPr>
            </a:pPr>
            <a:r>
              <a:rPr sz="1875" b="1">
                <a:solidFill>
                  <a:srgbClr val="1F2933"/>
                </a:solidFill>
              </a:rPr>
              <a:t>本次重构的目标不是增加宣传性功能，而是让老师能沿着文档、代码、实验和结果逐项复查。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FF1471-325A-4E14-A30B-E271156F815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74245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7FD04FD-3BE3-4FF7-853F-DF5A8E220F5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02 问题定义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D36849-6925-4E43-90C7-6A8117168DB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两个轴承 PHM 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D99783-FB09-4306-8EFE-BEE66E6B696B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0B75B3-B075-403A-B44B-9ECA3A20DE5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7B011E7-BF62-48EA-B35C-16E8FD862AE0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937370-C01A-41C2-ACC0-40D63419804F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F6F9F"/>
                </a:solidFill>
              </a:defRPr>
            </a:pPr>
            <a:r>
              <a:rPr sz="2100" b="1">
                <a:solidFill>
                  <a:srgbClr val="2F6F9F"/>
                </a:solidFill>
              </a:rPr>
              <a:t>PHM2012 RUL 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316AA2-824C-4016-8022-F9545518C618}"/>
              </a:ext>
            </a:extLst>
          </p:cNvPr>
          <p:cNvSpPr>
            <a:spLocks noGrp="1"/>
          </p:cNvSpPr>
          <p:nvPr/>
        </p:nvSpPr>
        <p:spPr>
          <a:xfrm>
            <a:off x="1257300" y="2743200"/>
            <a:ext cx="3905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输入：轴承振动快照组成的时间序列</a:t>
            </a: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输出：归一化剩余寿命 RUL</a:t>
            </a: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目标：曲线趋势、MSE/RMSE/MAE 可复查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7C78FF-4104-4D37-94FC-C5B2660449FC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重点是跨轴承退化趋势的拟合，不只看单个训练损失。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225634A-1E28-4A97-BE11-89E58A1AC21C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BA952C-5554-4289-8FC6-94B43F5B146C}"/>
              </a:ext>
            </a:extLst>
          </p:cNvPr>
          <p:cNvSpPr>
            <a:spLocks noGrp="1"/>
          </p:cNvSpPr>
          <p:nvPr/>
        </p:nvSpPr>
        <p:spPr>
          <a:xfrm>
            <a:off x="6781800" y="2095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A8F68"/>
                </a:solidFill>
              </a:defRPr>
            </a:pPr>
            <a:r>
              <a:rPr sz="2100" b="1">
                <a:solidFill>
                  <a:srgbClr val="5A8F68"/>
                </a:solidFill>
              </a:rPr>
              <a:t>XJTU-SY 故障检测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04DAF0-98C1-4430-A256-D39B194E7574}"/>
              </a:ext>
            </a:extLst>
          </p:cNvPr>
          <p:cNvSpPr>
            <a:spLocks noGrp="1"/>
          </p:cNvSpPr>
          <p:nvPr/>
        </p:nvSpPr>
        <p:spPr>
          <a:xfrm>
            <a:off x="6838950" y="2743200"/>
            <a:ext cx="3905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输入：双通道振动时频特征序列</a:t>
            </a: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输出：Healthy / Faulty 二分类</a:t>
            </a: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目标：准确率、F1 和混淆矩阵可解释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B464EC-D0B0-4284-A923-3D4EE8CFBBDC}"/>
              </a:ext>
            </a:extLst>
          </p:cNvPr>
          <p:cNvSpPr>
            <a:spLocks noGrp="1"/>
          </p:cNvSpPr>
          <p:nvPr/>
        </p:nvSpPr>
        <p:spPr>
          <a:xfrm>
            <a:off x="6838950" y="41910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当前结果是健康/故障检测，不夸大为多故障类型诊断。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85863B-B260-4F08-BBB6-96457549430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116820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6651A18-B5E4-4D19-B960-FB7A883B7BC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03 系统架构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49961B-F81B-4AA3-B786-32471B5C683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统一数据、模型、训练和可视化流程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4CF4C1-37F0-42E9-ABA9-F600E41AB3C1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E29692-A2CD-4F1B-917E-114E5973D76A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644119"/>
            <a:ext cx="6858000" cy="395076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C3CD81D6-3B9A-4750-9345-1242F87014ED}"/>
              </a:ext>
            </a:extLst>
          </p:cNvPr>
          <p:cNvSpPr>
            <a:spLocks noGrp="1"/>
          </p:cNvSpPr>
          <p:nvPr/>
        </p:nvSpPr>
        <p:spPr>
          <a:xfrm>
            <a:off x="8020050" y="1543050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905C50-6F5D-4F35-8ECD-60120C767EDF}"/>
              </a:ext>
            </a:extLst>
          </p:cNvPr>
          <p:cNvSpPr>
            <a:spLocks noGrp="1"/>
          </p:cNvSpPr>
          <p:nvPr/>
        </p:nvSpPr>
        <p:spPr>
          <a:xfrm>
            <a:off x="8248650" y="17526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F9F"/>
                </a:solidFill>
              </a:defRPr>
            </a:pPr>
            <a:r>
              <a:rPr sz="1500" b="1">
                <a:solidFill>
                  <a:srgbClr val="2F6F9F"/>
                </a:solidFill>
              </a:rPr>
              <a:t>包结构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32A838-0432-464B-A0BF-1EC83BD08DDA}"/>
              </a:ext>
            </a:extLst>
          </p:cNvPr>
          <p:cNvSpPr>
            <a:spLocks noGrp="1"/>
          </p:cNvSpPr>
          <p:nvPr/>
        </p:nvSpPr>
        <p:spPr>
          <a:xfrm>
            <a:off x="8248650" y="20764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底层包路径为 USTC.SSE.BearingPrediction，示例与 Notebook 使用 phm 入口。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BA7EEC6-D0F0-402B-96A8-09A62D55CEED}"/>
              </a:ext>
            </a:extLst>
          </p:cNvPr>
          <p:cNvSpPr>
            <a:spLocks noGrp="1"/>
          </p:cNvSpPr>
          <p:nvPr/>
        </p:nvSpPr>
        <p:spPr>
          <a:xfrm>
            <a:off x="8020050" y="2876550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BD5F34-A037-4354-9F13-008676AEBCCE}"/>
              </a:ext>
            </a:extLst>
          </p:cNvPr>
          <p:cNvSpPr>
            <a:spLocks noGrp="1"/>
          </p:cNvSpPr>
          <p:nvPr/>
        </p:nvSpPr>
        <p:spPr>
          <a:xfrm>
            <a:off x="8248650" y="3086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A8F68"/>
                </a:solidFill>
              </a:defRPr>
            </a:pPr>
            <a:r>
              <a:rPr sz="1500" b="1">
                <a:solidFill>
                  <a:srgbClr val="5A8F68"/>
                </a:solidFill>
              </a:rPr>
              <a:t>训练入口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465CF9-7431-4016-BB5A-F919AC1FBAFE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RUL 与 Fault 都通过 BaseTrainer 训练，指标和图表在 Notebook 中留痕。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78237DD-1414-472D-A095-C41326EFA6BD}"/>
              </a:ext>
            </a:extLst>
          </p:cNvPr>
          <p:cNvSpPr>
            <a:spLocks noGrp="1"/>
          </p:cNvSpPr>
          <p:nvPr/>
        </p:nvSpPr>
        <p:spPr>
          <a:xfrm>
            <a:off x="8020050" y="4210050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6FD1B4-512C-4FBF-BBB7-5B0163CFEEB2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7A3D"/>
                </a:solidFill>
              </a:defRPr>
            </a:pPr>
            <a:r>
              <a:rPr sz="1500" b="1">
                <a:solidFill>
                  <a:srgbClr val="C97A3D"/>
                </a:solidFill>
              </a:rPr>
              <a:t>交付边界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5CC1E8-C460-4602-8951-EBD447A7F206}"/>
              </a:ext>
            </a:extLst>
          </p:cNvPr>
          <p:cNvSpPr>
            <a:spLocks noGrp="1"/>
          </p:cNvSpPr>
          <p:nvPr/>
        </p:nvSpPr>
        <p:spPr>
          <a:xfrm>
            <a:off x="8248650" y="47434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仓库只面向轴承算法复现，不保留无关数据集和宣传材料。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D29B5F-1A51-4399-ACB5-486836504F3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143903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722E96A-61F9-477B-B497-8A17415E038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04 数据与标签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3631D-E362-4326-A986-60F90F7862E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数据接入与标签构造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596D87-9CEC-4D22-B6B6-6F1B16305381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681EDA-7AE2-46AA-80D7-8FB2F276AE94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181668"/>
            <a:ext cx="5334000" cy="2542290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93ECE6B-943A-443B-8AD5-35209AE40EDE}"/>
              </a:ext>
            </a:extLst>
          </p:cNvPr>
          <p:cNvSpPr>
            <a:spLocks noGrp="1"/>
          </p:cNvSpPr>
          <p:nvPr/>
        </p:nvSpPr>
        <p:spPr>
          <a:xfrm>
            <a:off x="6572250" y="1562100"/>
            <a:ext cx="42386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AB318-D02C-4B00-9146-CB2C2DF57D66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PHM2012 RUL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2BBF42-605E-4F78-B41D-87C49271125C}"/>
              </a:ext>
            </a:extLst>
          </p:cNvPr>
          <p:cNvSpPr>
            <a:spLocks noGrp="1"/>
          </p:cNvSpPr>
          <p:nvPr/>
        </p:nvSpPr>
        <p:spPr>
          <a:xfrm>
            <a:off x="6858000" y="2190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按轴承寿命过程构造归一化 RUL：从 1 逐步下降到 0。序列标签取窗口最后一个快照对应的 RUL。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F3A99B-5366-4FBD-A830-8221B47297AF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423862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91F2F9-EBB9-4C1F-81B1-D4ADF23EFC83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XJTU-SY Fault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377AEE-C881-49D5-99BB-A99569D88051}"/>
              </a:ext>
            </a:extLst>
          </p:cNvPr>
          <p:cNvSpPr>
            <a:spLocks noGrp="1"/>
          </p:cNvSpPr>
          <p:nvPr/>
        </p:nvSpPr>
        <p:spPr>
          <a:xfrm>
            <a:off x="6858000" y="3924300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用水平 RMS 的 3σ FOT 自动标注 Healthy/Faulty：前 30% 估计健康基线，连续异常后标为 Faulty。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3BD4F6-BAEE-4132-8B29-82073D1AB493}"/>
              </a:ext>
            </a:extLst>
          </p:cNvPr>
          <p:cNvSpPr>
            <a:spLocks noGrp="1"/>
          </p:cNvSpPr>
          <p:nvPr/>
        </p:nvSpPr>
        <p:spPr>
          <a:xfrm>
            <a:off x="6858000" y="52197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数据通过 data/loader_roots 映射到外部目录，仓库内不保存完整原始数据。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5AC6B1-AE93-4174-BB29-ED1B266BC78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20706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B1959C8-DFE7-41B2-9887-9F814595A4C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05 特征工程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B0405E-88FE-49D3-BEF6-F82FC9B9A75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输入特征从原始振动到可训练序列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A22305-54E8-4CDF-9738-686469364CD8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14BCF9-245D-47C7-A8CA-919B2ED3B62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6206"/>
            <a:ext cx="5857875" cy="315606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E96E97-CEA6-43FC-9BBE-9C6E7197C467}"/>
              </a:ext>
            </a:extLst>
          </p:cNvPr>
          <p:cNvSpPr>
            <a:spLocks noGrp="1"/>
          </p:cNvSpPr>
          <p:nvPr/>
        </p:nvSpPr>
        <p:spPr>
          <a:xfrm>
            <a:off x="7000875" y="16192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F6F9F"/>
                </a:solidFill>
              </a:defRPr>
            </a:pPr>
            <a:r>
              <a:rPr sz="1800" b="1">
                <a:solidFill>
                  <a:srgbClr val="2F6F9F"/>
                </a:solidFill>
              </a:rPr>
              <a:t>RUL 增强版输入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6E85E9-BE45-4592-9498-55F8F76B3CFF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Hann window 后做 rFFT</a:t>
            </a:r>
          </a:p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移除 DC，取 256 个 log1p 频域 bin</a:t>
            </a:r>
          </a:p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补充 RMS、峭度、谱心、频带能量等 20 维退化统计</a:t>
            </a:r>
          </a:p>
          <a:p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32 个快照组成一个序列，输入形状 [B, 32, 276]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0BE03E-A5F1-4F7A-8534-92DCBF5EE79D}"/>
              </a:ext>
            </a:extLst>
          </p:cNvPr>
          <p:cNvSpPr>
            <a:spLocks noGrp="1"/>
          </p:cNvSpPr>
          <p:nvPr/>
        </p:nvSpPr>
        <p:spPr>
          <a:xfrm>
            <a:off x="7000875" y="40957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Fault 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693E4-8ACC-459C-9AEE-6D7F6982AE80}"/>
              </a:ext>
            </a:extLst>
          </p:cNvPr>
          <p:cNvSpPr>
            <a:spLocks noGrp="1"/>
          </p:cNvSpPr>
          <p:nvPr/>
        </p:nvSpPr>
        <p:spPr>
          <a:xfrm>
            <a:off x="7048500" y="4476750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双通道 FFT + 时域统计 + 频域统计 + 频带能量，窗口长度为 8。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CF883C-726B-4F85-A086-F5C35F27CEA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88318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8D9AA0E8-E964-4398-A35D-3D221DD2163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06 RUL 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83D9E3-A4AB-46D7-A0C2-336343267BD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CBAM-CNN-LSTM 主线复现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5F7468-59F6-4376-B2B6-307AC34764CE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8D7500-70E5-41ED-8C0A-EEEEF450F95A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F8BCD23-20EB-4D0A-B4C2-CC3F276EC91F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D5408C-8760-4B76-9CC2-A347F426FFEF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D38224-7B2C-4EE7-A886-F8DF9D08B42B}"/>
              </a:ext>
            </a:extLst>
          </p:cNvPr>
          <p:cNvSpPr>
            <a:spLocks noGrp="1"/>
          </p:cNvSpPr>
          <p:nvPr/>
        </p:nvSpPr>
        <p:spPr>
          <a:xfrm>
            <a:off x="1428750" y="2343150"/>
            <a:ext cx="98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读文件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4F4A98-19DF-4249-88D4-729910E45C49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8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PHM2012 加速度 CSV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2E855E-CFB3-47CE-812D-0C4F1DB15539}"/>
              </a:ext>
            </a:extLst>
          </p:cNvPr>
          <p:cNvSpPr>
            <a:spLocks noGrp="1"/>
          </p:cNvSpPr>
          <p:nvPr/>
        </p:nvSpPr>
        <p:spPr>
          <a:xfrm>
            <a:off x="2952750" y="219075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19A29B-8D25-4DAF-8F64-BD6CFA67063A}"/>
              </a:ext>
            </a:extLst>
          </p:cNvPr>
          <p:cNvSpPr>
            <a:spLocks noGrp="1"/>
          </p:cNvSpPr>
          <p:nvPr/>
        </p:nvSpPr>
        <p:spPr>
          <a:xfrm>
            <a:off x="31242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6FBAF3-5E51-4897-BFCF-DEB3CE82D205}"/>
              </a:ext>
            </a:extLst>
          </p:cNvPr>
          <p:cNvSpPr>
            <a:spLocks noGrp="1"/>
          </p:cNvSpPr>
          <p:nvPr/>
        </p:nvSpPr>
        <p:spPr>
          <a:xfrm>
            <a:off x="3562350" y="2343150"/>
            <a:ext cx="98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特征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C00588-A672-4F3E-B84A-958C5ACBBB6C}"/>
              </a:ext>
            </a:extLst>
          </p:cNvPr>
          <p:cNvSpPr>
            <a:spLocks noGrp="1"/>
          </p:cNvSpPr>
          <p:nvPr/>
        </p:nvSpPr>
        <p:spPr>
          <a:xfrm>
            <a:off x="3562350" y="2667000"/>
            <a:ext cx="98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Hann + rFFT + 退化统计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008A298-04E5-4745-8EF6-CEED1C6E3330}"/>
              </a:ext>
            </a:extLst>
          </p:cNvPr>
          <p:cNvSpPr>
            <a:spLocks noGrp="1"/>
          </p:cNvSpPr>
          <p:nvPr/>
        </p:nvSpPr>
        <p:spPr>
          <a:xfrm>
            <a:off x="5086350" y="219075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A8F0EA-73D6-441E-BBE1-33E2D8A0D1AD}"/>
              </a:ext>
            </a:extLst>
          </p:cNvPr>
          <p:cNvSpPr>
            <a:spLocks noGrp="1"/>
          </p:cNvSpPr>
          <p:nvPr/>
        </p:nvSpPr>
        <p:spPr>
          <a:xfrm>
            <a:off x="52578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0320DA-F692-4682-9F7F-36B9C8DB5DCA}"/>
              </a:ext>
            </a:extLst>
          </p:cNvPr>
          <p:cNvSpPr>
            <a:spLocks noGrp="1"/>
          </p:cNvSpPr>
          <p:nvPr/>
        </p:nvSpPr>
        <p:spPr>
          <a:xfrm>
            <a:off x="5695950" y="2343150"/>
            <a:ext cx="98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序列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8979EF-7E4C-438B-BB7C-AA59AAEEE967}"/>
              </a:ext>
            </a:extLst>
          </p:cNvPr>
          <p:cNvSpPr>
            <a:spLocks noGrp="1"/>
          </p:cNvSpPr>
          <p:nvPr/>
        </p:nvSpPr>
        <p:spPr>
          <a:xfrm>
            <a:off x="5695950" y="2667000"/>
            <a:ext cx="98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32 步窗口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DAFFAB1-AB78-4181-B506-734702BE9D2F}"/>
              </a:ext>
            </a:extLst>
          </p:cNvPr>
          <p:cNvSpPr>
            <a:spLocks noGrp="1"/>
          </p:cNvSpPr>
          <p:nvPr/>
        </p:nvSpPr>
        <p:spPr>
          <a:xfrm>
            <a:off x="7219950" y="219075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67831D-95B3-4E2E-AF5E-DB4610388BAB}"/>
              </a:ext>
            </a:extLst>
          </p:cNvPr>
          <p:cNvSpPr>
            <a:spLocks noGrp="1"/>
          </p:cNvSpPr>
          <p:nvPr/>
        </p:nvSpPr>
        <p:spPr>
          <a:xfrm>
            <a:off x="73914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66672D-5C6B-4ABB-8E2D-1AFE098DE2CC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98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模型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A1D5A9-9FF8-4339-BDFB-FA7DB3C66E73}"/>
              </a:ext>
            </a:extLst>
          </p:cNvPr>
          <p:cNvSpPr>
            <a:spLocks noGrp="1"/>
          </p:cNvSpPr>
          <p:nvPr/>
        </p:nvSpPr>
        <p:spPr>
          <a:xfrm>
            <a:off x="7829550" y="2667000"/>
            <a:ext cx="98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CNN + CBAM + LSTM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288579B-2581-44CC-B1EE-8C92155CA527}"/>
              </a:ext>
            </a:extLst>
          </p:cNvPr>
          <p:cNvSpPr>
            <a:spLocks noGrp="1"/>
          </p:cNvSpPr>
          <p:nvPr/>
        </p:nvSpPr>
        <p:spPr>
          <a:xfrm>
            <a:off x="9353550" y="219075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538F99-5668-471E-93FC-71473D19B85B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08AEA2-B2B6-4088-B04C-F594AB9F5D9A}"/>
              </a:ext>
            </a:extLst>
          </p:cNvPr>
          <p:cNvSpPr>
            <a:spLocks noGrp="1"/>
          </p:cNvSpPr>
          <p:nvPr/>
        </p:nvSpPr>
        <p:spPr>
          <a:xfrm>
            <a:off x="9963150" y="2343150"/>
            <a:ext cx="98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指标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3998A3-58EE-4260-86FD-2E921B9900C4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98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MSE / RMSE / MAE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BA3989-974A-4368-BE87-BC4C33714054}"/>
              </a:ext>
            </a:extLst>
          </p:cNvPr>
          <p:cNvSpPr>
            <a:spLocks noGrp="1"/>
          </p:cNvSpPr>
          <p:nvPr/>
        </p:nvSpPr>
        <p:spPr>
          <a:xfrm>
            <a:off x="1257300" y="4000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训练加强策略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0435A96-AAB6-475F-8025-3A5C3144A10F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857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训练轮数提高到 200，并记录最佳验证 epoch：124</a:t>
            </a:r>
          </a:p>
          <a:p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优化器使用 AdamW，加入梯度裁剪和验证集监控</a:t>
            </a:r>
          </a:p>
          <a:p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输出 checkpoint、指标 JSON、预测 CSV 与可视化图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E97A28-4E1C-458C-B9F9-0EC49C7E392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201021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9984442-E4E9-4CBB-9DB5-238C5DEC607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07 RUL 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4552A2-A029-428F-998D-4B268D9A216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训练曲线与预测曲线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764B9B-1E87-44F8-8AF7-8678EB5514DC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6179A2-970B-44B0-B683-A1C08B8251BA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5B5F54D-DE47-4DB0-A648-5DFC057236C6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95262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EB7ABB-0F34-4A95-B24A-F78EBE6EEADE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571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F6F9F"/>
                </a:solidFill>
              </a:defRPr>
            </a:pPr>
            <a:r>
              <a:rPr sz="2850" b="1">
                <a:solidFill>
                  <a:srgbClr val="2F6F9F"/>
                </a:solidFill>
              </a:rPr>
              <a:t>0.0022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2B99E-A288-4AED-867B-ECE0B59C9B2A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Validation MSE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BD0318-0A84-4F71-946C-111C8F74BAF0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best epoch 124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1014359-A077-4758-9905-D78CC71AC969}"/>
              </a:ext>
            </a:extLst>
          </p:cNvPr>
          <p:cNvSpPr>
            <a:spLocks noGrp="1"/>
          </p:cNvSpPr>
          <p:nvPr/>
        </p:nvSpPr>
        <p:spPr>
          <a:xfrm>
            <a:off x="2895600" y="1524000"/>
            <a:ext cx="195262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4A2BCA-947D-4F94-846E-A7E4D2C8E213}"/>
              </a:ext>
            </a:extLst>
          </p:cNvPr>
          <p:cNvSpPr>
            <a:spLocks noGrp="1"/>
          </p:cNvSpPr>
          <p:nvPr/>
        </p:nvSpPr>
        <p:spPr>
          <a:xfrm>
            <a:off x="3086100" y="1733550"/>
            <a:ext cx="1571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5A8F68"/>
                </a:solidFill>
              </a:defRPr>
            </a:pPr>
            <a:r>
              <a:rPr sz="2850" b="1">
                <a:solidFill>
                  <a:srgbClr val="5A8F68"/>
                </a:solidFill>
              </a:rPr>
              <a:t>0.0403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785C6A-8DFB-4598-B039-636558F91E74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Test MSE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1E312A-C70F-4FCE-9C31-4DFE4415FCF0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归一化 RUL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19F7E9D-36FF-4636-9C3C-75C504B0EB9C}"/>
              </a:ext>
            </a:extLst>
          </p:cNvPr>
          <p:cNvSpPr>
            <a:spLocks noGrp="1"/>
          </p:cNvSpPr>
          <p:nvPr/>
        </p:nvSpPr>
        <p:spPr>
          <a:xfrm>
            <a:off x="5067300" y="1524000"/>
            <a:ext cx="195262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3F9A05-BA59-4E7B-82D5-39D82164374A}"/>
              </a:ext>
            </a:extLst>
          </p:cNvPr>
          <p:cNvSpPr>
            <a:spLocks noGrp="1"/>
          </p:cNvSpPr>
          <p:nvPr/>
        </p:nvSpPr>
        <p:spPr>
          <a:xfrm>
            <a:off x="5257800" y="1733550"/>
            <a:ext cx="1571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C97A3D"/>
                </a:solidFill>
              </a:defRPr>
            </a:pPr>
            <a:r>
              <a:rPr sz="2850" b="1">
                <a:solidFill>
                  <a:srgbClr val="C97A3D"/>
                </a:solidFill>
              </a:rPr>
              <a:t>0.2008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F6BCFC-1B24-40DF-9759-E1F8EBC5B149}"/>
              </a:ext>
            </a:extLst>
          </p:cNvPr>
          <p:cNvSpPr>
            <a:spLocks noGrp="1"/>
          </p:cNvSpPr>
          <p:nvPr/>
        </p:nvSpPr>
        <p:spPr>
          <a:xfrm>
            <a:off x="5257800" y="22669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Test 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EFC9B8-E222-48C2-A393-65DA3BB69A75}"/>
              </a:ext>
            </a:extLst>
          </p:cNvPr>
          <p:cNvSpPr>
            <a:spLocks noGrp="1"/>
          </p:cNvSpPr>
          <p:nvPr/>
        </p:nvSpPr>
        <p:spPr>
          <a:xfrm>
            <a:off x="5257800" y="2533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归一化 RUL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2E9A205-4D3B-45ED-92B5-C7CE43643C6D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95262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438D00-3BB4-4E92-8B68-1A23C846084D}"/>
              </a:ext>
            </a:extLst>
          </p:cNvPr>
          <p:cNvSpPr>
            <a:spLocks noGrp="1"/>
          </p:cNvSpPr>
          <p:nvPr/>
        </p:nvSpPr>
        <p:spPr>
          <a:xfrm>
            <a:off x="7429500" y="1733550"/>
            <a:ext cx="1571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B5524A"/>
                </a:solidFill>
              </a:defRPr>
            </a:pPr>
            <a:r>
              <a:rPr sz="2850" b="1">
                <a:solidFill>
                  <a:srgbClr val="B5524A"/>
                </a:solidFill>
              </a:rPr>
              <a:t>0.1550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494F6D-C103-4CA1-954B-E27E79A57C40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Test MAE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DE0207-407E-4AF2-839B-BD2FF02FB026}"/>
              </a:ext>
            </a:extLst>
          </p:cNvPr>
          <p:cNvSpPr>
            <a:spLocks noGrp="1"/>
          </p:cNvSpPr>
          <p:nvPr/>
        </p:nvSpPr>
        <p:spPr>
          <a:xfrm>
            <a:off x="7429500" y="2533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归一化 RUL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3301382"/>
            <a:ext cx="4333875" cy="227453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81625" y="3080002"/>
            <a:ext cx="6000750" cy="27458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E49750F8-63CE-4EDD-8D93-D4FC156E7F63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962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结论：增强训练后验证误差和测试误差均下降；右图为 Bearing1_3 代表性曲线，完整多轴承曲线作为补充证据保留。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AD8A7F9-AB7A-44E9-B384-2879138CEBF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166325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52A9EFA-AEEA-443B-BFB3-F2259223A3F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08 Fault 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394743-8DC8-44BD-92B5-ADF40265E5D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ResCNN-LSTM 健康/故障检测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D87652-2E4F-42B7-8043-1E886D88A369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45A43C-F0CB-4729-A666-E8DAD8444A6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858DBF4-11B6-4C53-A2E9-43607B4DA580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42887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2A10A5-2225-41B5-8463-D730620707F3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A8F68"/>
                </a:solidFill>
              </a:defRPr>
            </a:pPr>
            <a:r>
              <a:rPr sz="1650" b="1">
                <a:solidFill>
                  <a:srgbClr val="5A8F68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E75643-F39B-4807-A474-3A5F4EAB72FD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1647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读取 XJTU-SY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7A8C72-B041-4321-9C03-F34AC23701BF}"/>
              </a:ext>
            </a:extLst>
          </p:cNvPr>
          <p:cNvSpPr>
            <a:spLocks noGrp="1"/>
          </p:cNvSpPr>
          <p:nvPr/>
        </p:nvSpPr>
        <p:spPr>
          <a:xfrm>
            <a:off x="1485900" y="2286000"/>
            <a:ext cx="1647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15 个轴承、多工况、双通道振动信号。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12C9C36-D27D-493A-91A9-2F380BE47D5C}"/>
              </a:ext>
            </a:extLst>
          </p:cNvPr>
          <p:cNvSpPr>
            <a:spLocks noGrp="1"/>
          </p:cNvSpPr>
          <p:nvPr/>
        </p:nvSpPr>
        <p:spPr>
          <a:xfrm>
            <a:off x="3590925" y="1809750"/>
            <a:ext cx="242887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4982C8-5165-4827-8962-E6AE1C795E59}"/>
              </a:ext>
            </a:extLst>
          </p:cNvPr>
          <p:cNvSpPr>
            <a:spLocks noGrp="1"/>
          </p:cNvSpPr>
          <p:nvPr/>
        </p:nvSpPr>
        <p:spPr>
          <a:xfrm>
            <a:off x="3762375" y="1962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8FB6EB-717F-4381-BD6A-4061E7DE982D}"/>
              </a:ext>
            </a:extLst>
          </p:cNvPr>
          <p:cNvSpPr>
            <a:spLocks noGrp="1"/>
          </p:cNvSpPr>
          <p:nvPr/>
        </p:nvSpPr>
        <p:spPr>
          <a:xfrm>
            <a:off x="4200525" y="1962150"/>
            <a:ext cx="1647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自动打标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48AA76-1D7A-405C-900E-6F495EAD2BF5}"/>
              </a:ext>
            </a:extLst>
          </p:cNvPr>
          <p:cNvSpPr>
            <a:spLocks noGrp="1"/>
          </p:cNvSpPr>
          <p:nvPr/>
        </p:nvSpPr>
        <p:spPr>
          <a:xfrm>
            <a:off x="4200525" y="2286000"/>
            <a:ext cx="1647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基于 RMS 的 3σ FOT，得到 Healthy/Faulty。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11FCD8E-98AC-4370-9D3E-52F2D52D0913}"/>
              </a:ext>
            </a:extLst>
          </p:cNvPr>
          <p:cNvSpPr>
            <a:spLocks noGrp="1"/>
          </p:cNvSpPr>
          <p:nvPr/>
        </p:nvSpPr>
        <p:spPr>
          <a:xfrm>
            <a:off x="6305550" y="1809750"/>
            <a:ext cx="242887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78278F-2E0E-4B9D-97AD-3650A82A7F3A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7A3D"/>
                </a:solidFill>
              </a:defRPr>
            </a:pPr>
            <a:r>
              <a:rPr sz="1650" b="1">
                <a:solidFill>
                  <a:srgbClr val="C97A3D"/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C5F6B1-3335-4F92-83B2-ED4AEEF546DA}"/>
              </a:ext>
            </a:extLst>
          </p:cNvPr>
          <p:cNvSpPr>
            <a:spLocks noGrp="1"/>
          </p:cNvSpPr>
          <p:nvPr/>
        </p:nvSpPr>
        <p:spPr>
          <a:xfrm>
            <a:off x="6915150" y="1962150"/>
            <a:ext cx="1647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特征序列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874E8C-547E-4EFC-93FE-6D53FB2B6369}"/>
              </a:ext>
            </a:extLst>
          </p:cNvPr>
          <p:cNvSpPr>
            <a:spLocks noGrp="1"/>
          </p:cNvSpPr>
          <p:nvPr/>
        </p:nvSpPr>
        <p:spPr>
          <a:xfrm>
            <a:off x="6915150" y="2286000"/>
            <a:ext cx="1647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双通道 552 维特征，8 步窗口。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46DDDDC-891C-4375-83F8-311DB682585A}"/>
              </a:ext>
            </a:extLst>
          </p:cNvPr>
          <p:cNvSpPr>
            <a:spLocks noGrp="1"/>
          </p:cNvSpPr>
          <p:nvPr/>
        </p:nvSpPr>
        <p:spPr>
          <a:xfrm>
            <a:off x="9020175" y="1809750"/>
            <a:ext cx="2428875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698828-1457-4780-AE6C-41E0F55EE2C0}"/>
              </a:ext>
            </a:extLst>
          </p:cNvPr>
          <p:cNvSpPr>
            <a:spLocks noGrp="1"/>
          </p:cNvSpPr>
          <p:nvPr/>
        </p:nvSpPr>
        <p:spPr>
          <a:xfrm>
            <a:off x="9191625" y="1962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5524A"/>
                </a:solidFill>
              </a:defRPr>
            </a:pPr>
            <a:r>
              <a:rPr sz="1650" b="1">
                <a:solidFill>
                  <a:srgbClr val="B5524A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2939AA-1265-427A-A129-AF3634F672EF}"/>
              </a:ext>
            </a:extLst>
          </p:cNvPr>
          <p:cNvSpPr>
            <a:spLocks noGrp="1"/>
          </p:cNvSpPr>
          <p:nvPr/>
        </p:nvSpPr>
        <p:spPr>
          <a:xfrm>
            <a:off x="9629775" y="1962150"/>
            <a:ext cx="1647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分类模型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43A8C7-DCE5-42C5-BFB6-5DAAE5CAAD74}"/>
              </a:ext>
            </a:extLst>
          </p:cNvPr>
          <p:cNvSpPr>
            <a:spLocks noGrp="1"/>
          </p:cNvSpPr>
          <p:nvPr/>
        </p:nvSpPr>
        <p:spPr>
          <a:xfrm>
            <a:off x="9629775" y="2286000"/>
            <a:ext cx="1647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Residual CNN 提取局部模式，LSTM 汇总时间信息。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978A730-C756-4DD1-B4D5-E28CAAC3FEF7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9525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E65BB9-C25F-49F6-9738-D091516FAD20}"/>
              </a:ext>
            </a:extLst>
          </p:cNvPr>
          <p:cNvSpPr>
            <a:spLocks noGrp="1"/>
          </p:cNvSpPr>
          <p:nvPr/>
        </p:nvSpPr>
        <p:spPr>
          <a:xfrm>
            <a:off x="1476375" y="40005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口径说明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A6C888-4523-441D-9233-46D5C80E0BD9}"/>
              </a:ext>
            </a:extLst>
          </p:cNvPr>
          <p:cNvSpPr>
            <a:spLocks noGrp="1"/>
          </p:cNvSpPr>
          <p:nvPr/>
        </p:nvSpPr>
        <p:spPr>
          <a:xfrm>
            <a:off x="2857500" y="39433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当前 fault 结果分数很高，是健康/故障二分类结果；标签来自 RMS 阈值和连续异常判定，输入特征也包含 RMS 和频域能量，因此不能解释为更难的 OF/IF/CF/BF 多类型诊断已经完成。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6174C6-E840-4175-A479-9086C630561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44490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ABA4221-9C71-4AEB-A6EF-182FE168D19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09 Fault 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FA5E2D-A28E-4C33-8C11-F1585D7F1F2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混淆矩阵与指标解释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62EA4C-4205-4531-9FDD-C651081EAA0F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06FD4E-9A3D-4B5D-AE5C-890A53020EE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657779"/>
            <a:ext cx="5143500" cy="3828193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B7616370-CF1F-4DBA-8A90-35B7A16BBAB3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BCE806-0795-4D73-8A9B-2F8D021696F5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5A8F68"/>
                </a:solidFill>
              </a:defRPr>
            </a:pPr>
            <a:r>
              <a:rPr sz="2850" b="1">
                <a:solidFill>
                  <a:srgbClr val="5A8F68"/>
                </a:solidFill>
              </a:rPr>
              <a:t>0.9963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BDC899-1BE8-418A-A567-CFBC1AD4C083}"/>
              </a:ext>
            </a:extLst>
          </p:cNvPr>
          <p:cNvSpPr>
            <a:spLocks noGrp="1"/>
          </p:cNvSpPr>
          <p:nvPr/>
        </p:nvSpPr>
        <p:spPr>
          <a:xfrm>
            <a:off x="6762750" y="2419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Accuracy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C96F0B-E1B8-46CC-82AF-238CCF128C24}"/>
              </a:ext>
            </a:extLst>
          </p:cNvPr>
          <p:cNvSpPr>
            <a:spLocks noGrp="1"/>
          </p:cNvSpPr>
          <p:nvPr/>
        </p:nvSpPr>
        <p:spPr>
          <a:xfrm>
            <a:off x="6762750" y="26860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测试窗口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5818887-0F48-40EB-A515-416212699642}"/>
              </a:ext>
            </a:extLst>
          </p:cNvPr>
          <p:cNvSpPr>
            <a:spLocks noGrp="1"/>
          </p:cNvSpPr>
          <p:nvPr/>
        </p:nvSpPr>
        <p:spPr>
          <a:xfrm>
            <a:off x="9001125" y="167640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A4CCF-AB2B-42D3-B248-2C509AF2639B}"/>
              </a:ext>
            </a:extLst>
          </p:cNvPr>
          <p:cNvSpPr>
            <a:spLocks noGrp="1"/>
          </p:cNvSpPr>
          <p:nvPr/>
        </p:nvSpPr>
        <p:spPr>
          <a:xfrm>
            <a:off x="9191625" y="18859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F6F9F"/>
                </a:solidFill>
              </a:defRPr>
            </a:pPr>
            <a:r>
              <a:rPr sz="2850" b="1">
                <a:solidFill>
                  <a:srgbClr val="2F6F9F"/>
                </a:solidFill>
              </a:rPr>
              <a:t>0.9949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2DDB10-AD28-4FD3-9C77-7AE9B95665AA}"/>
              </a:ext>
            </a:extLst>
          </p:cNvPr>
          <p:cNvSpPr>
            <a:spLocks noGrp="1"/>
          </p:cNvSpPr>
          <p:nvPr/>
        </p:nvSpPr>
        <p:spPr>
          <a:xfrm>
            <a:off x="9191625" y="2419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Macro-F1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3BC2A4-3A97-4D28-A2DD-9C323165E4C6}"/>
              </a:ext>
            </a:extLst>
          </p:cNvPr>
          <p:cNvSpPr>
            <a:spLocks noGrp="1"/>
          </p:cNvSpPr>
          <p:nvPr/>
        </p:nvSpPr>
        <p:spPr>
          <a:xfrm>
            <a:off x="9191625" y="26860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类别均衡视角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720DB45-0399-4075-8056-1506652BC669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4524375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D65115-26CC-429E-A343-686DD42A7E2C}"/>
              </a:ext>
            </a:extLst>
          </p:cNvPr>
          <p:cNvSpPr>
            <a:spLocks noGrp="1"/>
          </p:cNvSpPr>
          <p:nvPr/>
        </p:nvSpPr>
        <p:spPr>
          <a:xfrm>
            <a:off x="6858000" y="3600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结果解读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95F946-41E6-461B-BFA0-3793D56F128A}"/>
              </a:ext>
            </a:extLst>
          </p:cNvPr>
          <p:cNvSpPr>
            <a:spLocks noGrp="1"/>
          </p:cNvSpPr>
          <p:nvPr/>
        </p:nvSpPr>
        <p:spPr>
          <a:xfrm>
            <a:off x="6858000" y="4048125"/>
            <a:ext cx="3810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• Healthy 误判 Faulty：3 个窗口</a:t>
            </a: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• Faulty 误判 Healthy：2 个窗口</a:t>
            </a: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• 适合展示故障检测闭环，不替代多类故障诊断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FE9B41-523F-40AE-8575-F0B2F3F6431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485505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B5BEBA0-60E7-4766-A366-D27C4D770EF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10 工程实现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0A5229-D6D0-4495-8CFC-108BE21B232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可运行、可测试、可交付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AF89D9-B23B-449F-9DBE-D63194A4DA27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A40FE3-3BD8-47E6-93D1-85C413E87FB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837322"/>
            <a:ext cx="5334000" cy="3088105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F56F7064-129B-4CE5-982A-609187769FA2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095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AD2464-0299-40B5-A315-BA9810C33973}"/>
              </a:ext>
            </a:extLst>
          </p:cNvPr>
          <p:cNvSpPr>
            <a:spLocks noGrp="1"/>
          </p:cNvSpPr>
          <p:nvPr/>
        </p:nvSpPr>
        <p:spPr>
          <a:xfrm>
            <a:off x="6838950" y="18288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6F9F"/>
                </a:solidFill>
              </a:defRPr>
            </a:pPr>
            <a:r>
              <a:rPr sz="1500" b="1">
                <a:solidFill>
                  <a:srgbClr val="2F6F9F"/>
                </a:solidFill>
              </a:rPr>
              <a:t>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E9F1F-20E3-467E-9AF8-F374D4BC6909}"/>
              </a:ext>
            </a:extLst>
          </p:cNvPr>
          <p:cNvSpPr>
            <a:spLocks noGrp="1"/>
          </p:cNvSpPr>
          <p:nvPr/>
        </p:nvSpPr>
        <p:spPr>
          <a:xfrm>
            <a:off x="7810500" y="18478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Python 3.11 + uv + PyTorch 2.10，Mac 优先使用 MPS。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5AB7BEA-6B97-4D34-8ABA-142DCA56AF5D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4095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E96907-5639-4562-B2CC-9320C3EDCB77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A8F68"/>
                </a:solidFill>
              </a:defRPr>
            </a:pPr>
            <a:r>
              <a:rPr sz="1500" b="1">
                <a:solidFill>
                  <a:srgbClr val="5A8F68"/>
                </a:solidFill>
              </a:rPr>
              <a:t>训练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05AF41-E9BB-4D9A-B93D-174A25466FD7}"/>
              </a:ext>
            </a:extLst>
          </p:cNvPr>
          <p:cNvSpPr>
            <a:spLocks noGrp="1"/>
          </p:cNvSpPr>
          <p:nvPr/>
        </p:nvSpPr>
        <p:spPr>
          <a:xfrm>
            <a:off x="7810500" y="28765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BaseTrainer 统一训练入口，Notebook 展示图与指标。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0EFB85A-6149-4418-B5FF-4545D345EA29}"/>
              </a:ext>
            </a:extLst>
          </p:cNvPr>
          <p:cNvSpPr>
            <a:spLocks noGrp="1"/>
          </p:cNvSpPr>
          <p:nvPr/>
        </p:nvSpPr>
        <p:spPr>
          <a:xfrm>
            <a:off x="6572250" y="3676650"/>
            <a:ext cx="4095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F5196E-789B-4CA2-9F06-2C14BF41DA22}"/>
              </a:ext>
            </a:extLst>
          </p:cNvPr>
          <p:cNvSpPr>
            <a:spLocks noGrp="1"/>
          </p:cNvSpPr>
          <p:nvPr/>
        </p:nvSpPr>
        <p:spPr>
          <a:xfrm>
            <a:off x="6838950" y="38862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7A3D"/>
                </a:solidFill>
              </a:defRPr>
            </a:pPr>
            <a:r>
              <a:rPr sz="1500" b="1">
                <a:solidFill>
                  <a:srgbClr val="C97A3D"/>
                </a:solidFill>
              </a:rPr>
              <a:t>测试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33EDAC-14D9-4C23-84ED-3BCA724BA303}"/>
              </a:ext>
            </a:extLst>
          </p:cNvPr>
          <p:cNvSpPr>
            <a:spLocks noGrp="1"/>
          </p:cNvSpPr>
          <p:nvPr/>
        </p:nvSpPr>
        <p:spPr>
          <a:xfrm>
            <a:off x="7810500" y="39052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compileall、unittest、文档扫描与导出验证共同覆盖。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D71BDB-8431-422B-B111-1B65AC17780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2119730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0F9FF86-4FB3-4D7E-8A98-FCE86BAD525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11 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1D4232-F133-4C0C-88BB-232929C48E6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3"/>
                </a:solidFill>
              </a:defRPr>
            </a:pPr>
            <a:r>
              <a:rPr sz="2550" b="1">
                <a:solidFill>
                  <a:srgbClr val="1F2933"/>
                </a:solidFill>
              </a:rPr>
              <a:t>分工与结论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E23565-E9D9-48F4-AA1B-D52B815BAD95}"/>
              </a:ext>
            </a:extLst>
          </p:cNvPr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56A50A-DE71-49D6-9A5C-5A987CC56A0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13335"/>
          </a:xfrm>
          <a:prstGeom prst="rect">
            <a:avLst/>
          </a:prstGeom>
          <a:solidFill>
            <a:srgbClr val="D9D6CC"/>
          </a:solidFill>
          <a:ln w="0">
            <a:solidFill>
              <a:srgbClr val="D9D6CC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77085A-102B-41E2-8C24-B10318CEBCC9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44767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F58A4A-D90E-46A3-B7D0-2693B1634E2D}"/>
              </a:ext>
            </a:extLst>
          </p:cNvPr>
          <p:cNvSpPr>
            <a:spLocks noGrp="1"/>
          </p:cNvSpPr>
          <p:nvPr/>
        </p:nvSpPr>
        <p:spPr>
          <a:xfrm>
            <a:off x="1104900" y="19716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F6F9F"/>
                </a:solidFill>
              </a:defRPr>
            </a:pPr>
            <a:r>
              <a:rPr sz="2100" b="1">
                <a:solidFill>
                  <a:srgbClr val="2F6F9F"/>
                </a:solidFill>
              </a:rPr>
              <a:t>zyj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C864AF-7251-4C83-B7B0-4497BF745F95}"/>
              </a:ext>
            </a:extLst>
          </p:cNvPr>
          <p:cNvSpPr>
            <a:spLocks noGrp="1"/>
          </p:cNvSpPr>
          <p:nvPr/>
        </p:nvSpPr>
        <p:spPr>
          <a:xfrm>
            <a:off x="2076450" y="20288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模型实现、论文主线、答辩材料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E632EED-3A90-4C29-B0EA-1A1B40B5FEB5}"/>
              </a:ext>
            </a:extLst>
          </p:cNvPr>
          <p:cNvSpPr>
            <a:spLocks noGrp="1"/>
          </p:cNvSpPr>
          <p:nvPr/>
        </p:nvSpPr>
        <p:spPr>
          <a:xfrm>
            <a:off x="6019800" y="1762125"/>
            <a:ext cx="44767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7633A0-F0D9-4DB1-8330-1DD4B36AF3EC}"/>
              </a:ext>
            </a:extLst>
          </p:cNvPr>
          <p:cNvSpPr>
            <a:spLocks noGrp="1"/>
          </p:cNvSpPr>
          <p:nvPr/>
        </p:nvSpPr>
        <p:spPr>
          <a:xfrm>
            <a:off x="6248400" y="19716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A8F68"/>
                </a:solidFill>
              </a:defRPr>
            </a:pPr>
            <a:r>
              <a:rPr sz="2100" b="1">
                <a:solidFill>
                  <a:srgbClr val="5A8F68"/>
                </a:solidFill>
              </a:rPr>
              <a:t>zdh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889EE0-A66A-4CD5-8481-A28EE0A7E949}"/>
              </a:ext>
            </a:extLst>
          </p:cNvPr>
          <p:cNvSpPr>
            <a:spLocks noGrp="1"/>
          </p:cNvSpPr>
          <p:nvPr/>
        </p:nvSpPr>
        <p:spPr>
          <a:xfrm>
            <a:off x="7219950" y="20288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Trainer、Tester、指标评估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61BD582-30EB-4EC1-A50A-60EBBB2A6189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4767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B561EC-51EA-40DA-8FA7-92564C458210}"/>
              </a:ext>
            </a:extLst>
          </p:cNvPr>
          <p:cNvSpPr>
            <a:spLocks noGrp="1"/>
          </p:cNvSpPr>
          <p:nvPr/>
        </p:nvSpPr>
        <p:spPr>
          <a:xfrm>
            <a:off x="1104900" y="320992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C97A3D"/>
                </a:solidFill>
              </a:defRPr>
            </a:pPr>
            <a:r>
              <a:rPr sz="2100" b="1">
                <a:solidFill>
                  <a:srgbClr val="C97A3D"/>
                </a:solidFill>
              </a:rPr>
              <a:t>cyj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8424DE-3134-44A2-BA6C-B62A288E7997}"/>
              </a:ext>
            </a:extLst>
          </p:cNvPr>
          <p:cNvSpPr>
            <a:spLocks noGrp="1"/>
          </p:cNvSpPr>
          <p:nvPr/>
        </p:nvSpPr>
        <p:spPr>
          <a:xfrm>
            <a:off x="2076450" y="32670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数据加载、标签构造、数据适配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0C95411-DDBF-4E68-80EF-BBBD1CDDE726}"/>
              </a:ext>
            </a:extLst>
          </p:cNvPr>
          <p:cNvSpPr>
            <a:spLocks noGrp="1"/>
          </p:cNvSpPr>
          <p:nvPr/>
        </p:nvSpPr>
        <p:spPr>
          <a:xfrm>
            <a:off x="6019800" y="3000375"/>
            <a:ext cx="44767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53BEDD-EDC1-4259-8C67-A5C030EE699E}"/>
              </a:ext>
            </a:extLst>
          </p:cNvPr>
          <p:cNvSpPr>
            <a:spLocks noGrp="1"/>
          </p:cNvSpPr>
          <p:nvPr/>
        </p:nvSpPr>
        <p:spPr>
          <a:xfrm>
            <a:off x="6248400" y="320992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5524A"/>
                </a:solidFill>
              </a:defRPr>
            </a:pPr>
            <a:r>
              <a:rPr sz="2100" b="1">
                <a:solidFill>
                  <a:srgbClr val="B5524A"/>
                </a:solidFill>
              </a:rPr>
              <a:t>zy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7CDB91-6A8F-4120-B1BF-F0CB266C5EBE}"/>
              </a:ext>
            </a:extLst>
          </p:cNvPr>
          <p:cNvSpPr>
            <a:spLocks noGrp="1"/>
          </p:cNvSpPr>
          <p:nvPr/>
        </p:nvSpPr>
        <p:spPr>
          <a:xfrm>
            <a:off x="7219950" y="32670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工具组件、测试、工程整理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A911EEE-A651-44FA-9D40-9087017D93F0}"/>
              </a:ext>
            </a:extLst>
          </p:cNvPr>
          <p:cNvSpPr>
            <a:spLocks noGrp="1"/>
          </p:cNvSpPr>
          <p:nvPr/>
        </p:nvSpPr>
        <p:spPr>
          <a:xfrm>
            <a:off x="1428750" y="4619625"/>
            <a:ext cx="9334500" cy="876300"/>
          </a:xfrm>
          <a:prstGeom prst="roundRect">
            <a:avLst>
              <a:gd name="adj" fmla="val 8696"/>
            </a:avLst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267FE7-D4D1-4807-B85D-0E9D266D0DE8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结论：系统已经形成面向轴承 PHM 的数据接入、特征工程、论文主线复现、训练评估和课程文档交付闭环。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A662CA-0CC8-4562-BAD4-44B4DCA9AA1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USTC 软件工程实践 · 轴承 PHM</a:t>
            </a:r>
          </a:p>
        </p:txBody>
      </p:sp>
    </p:spTree>
    <p:extLst>
      <p:ext uri="{BB962C8B-B14F-4D97-AF65-F5344CB8AC3E}">
        <p14:creationId xmlns:p14="http://schemas.microsoft.com/office/powerpoint/2010/main" val="2066877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Bearing PHM Defense">
      <a:dk1>
        <a:srgbClr val="000000"/>
      </a:dk1>
      <a:lt1>
        <a:srgbClr val="FFFFFF"/>
      </a:lt1>
      <a:dk2>
        <a:srgbClr val="1F2933"/>
      </a:dk2>
      <a:lt2>
        <a:srgbClr val="D9D6CC"/>
      </a:lt2>
      <a:accent1>
        <a:srgbClr val="2F6F9F"/>
      </a:accent1>
      <a:accent2>
        <a:srgbClr val="5A8F68"/>
      </a:accent2>
      <a:accent3>
        <a:srgbClr val="C97A3D"/>
      </a:accent3>
      <a:accent4>
        <a:srgbClr val="B5524A"/>
      </a:accent4>
      <a:accent5>
        <a:srgbClr val="7A6F5D"/>
      </a:accent5>
      <a:accent6>
        <a:srgbClr val="8AA6B7"/>
      </a:accent6>
      <a:hlink>
        <a:srgbClr val="2F6F9F"/>
      </a:hlink>
      <a:folHlink>
        <a:srgbClr val="5A8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earing PHM Defen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Bearing PHM Defense">
      <a:dk1>
        <a:srgbClr val="000000"/>
      </a:dk1>
      <a:lt1>
        <a:srgbClr val="FFFFFF"/>
      </a:lt1>
      <a:dk2>
        <a:srgbClr val="1F2933"/>
      </a:dk2>
      <a:lt2>
        <a:srgbClr val="D9D6CC"/>
      </a:lt2>
      <a:accent1>
        <a:srgbClr val="2F6F9F"/>
      </a:accent1>
      <a:accent2>
        <a:srgbClr val="5A8F68"/>
      </a:accent2>
      <a:accent3>
        <a:srgbClr val="C97A3D"/>
      </a:accent3>
      <a:accent4>
        <a:srgbClr val="B5524A"/>
      </a:accent4>
      <a:accent5>
        <a:srgbClr val="7A6F5D"/>
      </a:accent5>
      <a:accent6>
        <a:srgbClr val="8AA6B7"/>
      </a:accent6>
      <a:hlink>
        <a:srgbClr val="2F6F9F"/>
      </a:hlink>
      <a:folHlink>
        <a:srgbClr val="5A8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earing PHM Defen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Macintosh PowerPoint</Application>
  <DocSecurity>0</DocSecurity>
  <PresentationFormat>宽屏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 nev8r</cp:lastModifiedBy>
  <cp:revision>2</cp:revision>
  <dcterms:created xsi:type="dcterms:W3CDTF">2026-06-17T20:10:34Z</dcterms:created>
  <dcterms:modified xsi:type="dcterms:W3CDTF">2026-06-18T02:41:25Z</dcterms:modified>
</cp:coreProperties>
</file>