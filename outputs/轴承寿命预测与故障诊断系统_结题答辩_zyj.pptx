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0ce67573a4381" /><Relationship Type="http://schemas.openxmlformats.org/officeDocument/2006/relationships/extended-properties" Target="/docProps/app.xml" Id="Rcab90b1683384828" /><Relationship Type="http://schemas.openxmlformats.org/officeDocument/2006/relationships/officeDocument" Target="/ppt/presentation.xml" Id="Rcf4b29a24faf49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8a11ed6f3f4658"/>
  </p:sldMasterIdLst>
  <p:notesMasterIdLst>
    <p:notesMasterId xmlns:r="http://schemas.openxmlformats.org/officeDocument/2006/relationships" r:id="R4cb0e64a46cf4d0e"/>
  </p:notesMasterIdLst>
  <p:sldIdLst>
    <p:sldId xmlns:r="http://schemas.openxmlformats.org/officeDocument/2006/relationships" id="256" r:id="R7e483c575a9c4c9e"/>
    <p:sldId xmlns:r="http://schemas.openxmlformats.org/officeDocument/2006/relationships" id="257" r:id="Re12f9178a299482e"/>
    <p:sldId xmlns:r="http://schemas.openxmlformats.org/officeDocument/2006/relationships" id="258" r:id="R35def4f28a4b4bd1"/>
    <p:sldId xmlns:r="http://schemas.openxmlformats.org/officeDocument/2006/relationships" id="259" r:id="Rd488871fb3614e61"/>
    <p:sldId xmlns:r="http://schemas.openxmlformats.org/officeDocument/2006/relationships" id="260" r:id="Rfd6459bba30d4aaa"/>
    <p:sldId xmlns:r="http://schemas.openxmlformats.org/officeDocument/2006/relationships" id="261" r:id="Rfee0e621b32d4632"/>
    <p:sldId xmlns:r="http://schemas.openxmlformats.org/officeDocument/2006/relationships" id="262" r:id="Rf17433fe99d44dce"/>
    <p:sldId xmlns:r="http://schemas.openxmlformats.org/officeDocument/2006/relationships" id="263" r:id="Rc6c1dca9b14b4779"/>
    <p:sldId xmlns:r="http://schemas.openxmlformats.org/officeDocument/2006/relationships" id="264" r:id="Rd0642bf970b541ad"/>
    <p:sldId xmlns:r="http://schemas.openxmlformats.org/officeDocument/2006/relationships" id="265" r:id="R688f0a184aeb47ba"/>
    <p:sldId xmlns:r="http://schemas.openxmlformats.org/officeDocument/2006/relationships" id="266" r:id="R6eb982bb7b62444b"/>
    <p:sldId xmlns:r="http://schemas.openxmlformats.org/officeDocument/2006/relationships" id="267" r:id="R03e4c2d3d58049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4f3374937404b" /><Relationship Type="http://schemas.openxmlformats.org/officeDocument/2006/relationships/slideMaster" Target="/ppt/slideMasters/slideMaster1.xml" Id="Rfc8a11ed6f3f4658" /><Relationship Type="http://schemas.openxmlformats.org/officeDocument/2006/relationships/notesMaster" Target="/ppt/notesMasters/notesMaster1.xml" Id="R4cb0e64a46cf4d0e" /><Relationship Type="http://schemas.openxmlformats.org/officeDocument/2006/relationships/presProps" Target="/ppt/presProps.xml" Id="R0264b5d316a64b38" /><Relationship Type="http://schemas.openxmlformats.org/officeDocument/2006/relationships/tableStyles" Target="/ppt/tableStyles.xml" Id="R598793335fb04a9d" /><Relationship Type="http://schemas.openxmlformats.org/officeDocument/2006/relationships/slide" Target="/ppt/slides/slide1.xml" Id="R7e483c575a9c4c9e" /><Relationship Type="http://schemas.openxmlformats.org/officeDocument/2006/relationships/slide" Target="/ppt/slides/slide2.xml" Id="Re12f9178a299482e" /><Relationship Type="http://schemas.openxmlformats.org/officeDocument/2006/relationships/slide" Target="/ppt/slides/slide3.xml" Id="R35def4f28a4b4bd1" /><Relationship Type="http://schemas.openxmlformats.org/officeDocument/2006/relationships/slide" Target="/ppt/slides/slide4.xml" Id="Rd488871fb3614e61" /><Relationship Type="http://schemas.openxmlformats.org/officeDocument/2006/relationships/slide" Target="/ppt/slides/slide5.xml" Id="Rfd6459bba30d4aaa" /><Relationship Type="http://schemas.openxmlformats.org/officeDocument/2006/relationships/slide" Target="/ppt/slides/slide6.xml" Id="Rfee0e621b32d4632" /><Relationship Type="http://schemas.openxmlformats.org/officeDocument/2006/relationships/slide" Target="/ppt/slides/slide7.xml" Id="Rf17433fe99d44dce" /><Relationship Type="http://schemas.openxmlformats.org/officeDocument/2006/relationships/slide" Target="/ppt/slides/slide8.xml" Id="Rc6c1dca9b14b4779" /><Relationship Type="http://schemas.openxmlformats.org/officeDocument/2006/relationships/slide" Target="/ppt/slides/slide9.xml" Id="Rd0642bf970b541ad" /><Relationship Type="http://schemas.openxmlformats.org/officeDocument/2006/relationships/slide" Target="/ppt/slides/slide10.xml" Id="R688f0a184aeb47ba" /><Relationship Type="http://schemas.openxmlformats.org/officeDocument/2006/relationships/slide" Target="/ppt/slides/slide11.xml" Id="R6eb982bb7b62444b" /><Relationship Type="http://schemas.openxmlformats.org/officeDocument/2006/relationships/slide" Target="/ppt/slides/slide12.xml" Id="R03e4c2d3d58049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4cfb06b03645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d805f3dcb485e" /><Relationship Type="http://schemas.openxmlformats.org/officeDocument/2006/relationships/notesMaster" Target="/ppt/notesMasters/notesMaster1.xml" Id="R88028a51eadd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2f86ebb8d4f2d" /><Relationship Type="http://schemas.openxmlformats.org/officeDocument/2006/relationships/notesMaster" Target="/ppt/notesMasters/notesMaster1.xml" Id="R4234ab3cc989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5919da31d4e35" /><Relationship Type="http://schemas.openxmlformats.org/officeDocument/2006/relationships/notesMaster" Target="/ppt/notesMasters/notesMaster1.xml" Id="R1a99189731c544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4e24a3d584f7e" /><Relationship Type="http://schemas.openxmlformats.org/officeDocument/2006/relationships/notesMaster" Target="/ppt/notesMasters/notesMaster1.xml" Id="Rc79ea174877b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5ffd6e6ea14af3" /><Relationship Type="http://schemas.openxmlformats.org/officeDocument/2006/relationships/notesMaster" Target="/ppt/notesMasters/notesMaster1.xml" Id="Re7f9ed4aa6234b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9fe642d1f04c9c" /><Relationship Type="http://schemas.openxmlformats.org/officeDocument/2006/relationships/notesMaster" Target="/ppt/notesMasters/notesMaster1.xml" Id="R2df5d1a4c8e94c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6f94d87ff84666" /><Relationship Type="http://schemas.openxmlformats.org/officeDocument/2006/relationships/notesMaster" Target="/ppt/notesMasters/notesMaster1.xml" Id="Rfc52e0b248cc4d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beb353eb314f28" /><Relationship Type="http://schemas.openxmlformats.org/officeDocument/2006/relationships/notesMaster" Target="/ppt/notesMasters/notesMaster1.xml" Id="Rd46924c940ca42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dccd8fe2e0423a" /><Relationship Type="http://schemas.openxmlformats.org/officeDocument/2006/relationships/notesMaster" Target="/ppt/notesMasters/notesMaster1.xml" Id="R0a350ae644c74e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1983548a8b49f1" /><Relationship Type="http://schemas.openxmlformats.org/officeDocument/2006/relationships/notesMaster" Target="/ppt/notesMasters/notesMaster1.xml" Id="R7723ee0fd0bc41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fc7e2299cb4137" /><Relationship Type="http://schemas.openxmlformats.org/officeDocument/2006/relationships/notesMaster" Target="/ppt/notesMasters/notesMaster1.xml" Id="R835eea23ad1e49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d6cf358b6c48d6" /><Relationship Type="http://schemas.openxmlformats.org/officeDocument/2006/relationships/notesMaster" Target="/ppt/notesMasters/notesMaster1.xml" Id="R52a5dc590fa0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各位老师好，我们小组汇报的题目是轴承寿命预测与故障诊断系统。这个项目不是做一个线上工业平台，而是在课程范围内，把真实轴承数据、论文主线复现、测试验证和交付文档串成一条可以检查的工程链路。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这一页先回应课程要求。课程要求不是只看模型结果，还看需求、设计、测试、管理和文档。我们这次把材料重新整理成四条证据链：文档、代码、实验、验证。后面每一页都对应其中一条。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项目的对象是轴承振动信号，任务分成两类。第一类是 PHM2012 的 RUL 回归，预测剩余寿命趋势；第二类是 XJTU-SY 的故障诊断，判断健康还是故障。两条线共享同一套数据和训练框架。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这一页讲架构。左边是两类数据，进入统一的 Loader 和实体抽象；中间是特征和标签；右边是 RUL 模型和故障诊断模型；最后统一走 Trainer、Tester 和 Notebook。这样换数据集或换模型时不会互相缠在一起。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这一页回答“输入特征是什么”。RUL 这条线只用频域序列，核心是 Hann 窗、rFFT、去 DC 和 256 个频域 bin。故障诊断这条线更偏分类，所以用了双通道 FFT 加上时域、频域统计和频带能量，一共 552 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 主线参考的是 PHM2012 上的 CBAM-CNN-LSTM。我们没有扩展很多无关模型，而是保留从读取文件、频域编码、构造 32 步序列、模型回归到指标输出这一条主线。答辩时重点讲清楚流程和输入口径。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这里讲结果要保守。RUL 主线跑通了，验证 MSE 是 0.017760，测试 MSE 是 0.097019，RMSE 是 0.3115。和论文表格相比还有差距，所以我们不说超过论文，只说完成本地复现、指标可追溯，并把泛化差距作为后续优化点。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故障诊断这条线更适合做答辩展示，因为结果比较稳定。我们先根据 RMS 的三西格玛首次越界点构造健康和故障标签，再把每个快照变成 552 维特征，最后用 ResCNN-LSTM 做二分类。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这一页可以重点讲混淆矩阵。测试集里健康样本 1046 个，误判 3 个；故障样本 320 个，误判 2 个。整体 accuracy 是 0.9963，macro-F1 是 0.9949。说明在当前二分类设置下，故障诊断链路比较稳定。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这页讲工程性。我们用 Python 3.11 和 uv 固化环境，单元测试 16 个全部通过，文档重新导出了 20 份 Word 和 20 份 PDF，并且 20 份 DOCX 全部渲染检查。代码头部也按成员职责做了归属。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这里不要讲太久，重点说每个人负责的模块和代码头部一致。然后主动说明项目边界：这是课程实验系统，不是现场部署系统。这样老师如果问工业落地，我们可以回答下一步是实时采集、更多随机种子和多类故障诊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最后收束到三句话：第一，RUL 主线跑通并且指标可追溯；第二，故障诊断二分类结果稳定；第三，项目形成了从代码、Notebook、测试到文档的课程交付闭环。我的汇报到这里，谢谢老师，欢迎提问。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c8109683e49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42133611204dd7" /><Relationship Type="http://schemas.openxmlformats.org/officeDocument/2006/relationships/slideLayout" Target="/ppt/slideLayouts/slideLayout1.xml" Id="Rab7b025bca2549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b025bca2549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8f6df6d9b4baf" /><Relationship Type="http://schemas.openxmlformats.org/officeDocument/2006/relationships/notesSlide" Target="/ppt/notesSlides/notesSlide1.xml" Id="R2809ca409575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189a659be4af7" /><Relationship Type="http://schemas.openxmlformats.org/officeDocument/2006/relationships/notesSlide" Target="/ppt/notesSlides/notesSlide2.xml" Id="R38a437d2b3da4f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65c3f51e404c" /><Relationship Type="http://schemas.openxmlformats.org/officeDocument/2006/relationships/notesSlide" Target="/ppt/notesSlides/notesSlide3.xml" Id="Ref588ac1325b47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044ae775e4b19" /><Relationship Type="http://schemas.openxmlformats.org/officeDocument/2006/relationships/image" Target="/ppt/media/image.png" Id="Rd44e9fdd79f04695" /><Relationship Type="http://schemas.openxmlformats.org/officeDocument/2006/relationships/notesSlide" Target="/ppt/notesSlides/notesSlide4.xml" Id="R2ac65dd9bb9e4f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e2ad3be3c4170" /><Relationship Type="http://schemas.openxmlformats.org/officeDocument/2006/relationships/image" Target="/ppt/media/image2.png" Id="Rb11c2fac2bb44a64" /><Relationship Type="http://schemas.openxmlformats.org/officeDocument/2006/relationships/notesSlide" Target="/ppt/notesSlides/notesSlide5.xml" Id="Raef92c0164a34c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f0e7955b14b7a" /><Relationship Type="http://schemas.openxmlformats.org/officeDocument/2006/relationships/notesSlide" Target="/ppt/notesSlides/notesSlide6.xml" Id="R86ee8df939b44f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6c0f0a13c4ead" /><Relationship Type="http://schemas.openxmlformats.org/officeDocument/2006/relationships/chart" Target="/ppt/slides/charts/chart1.xml" Id="Rc575a8a76ceb49d9" /><Relationship Type="http://schemas.openxmlformats.org/officeDocument/2006/relationships/notesSlide" Target="/ppt/notesSlides/notesSlide7.xml" Id="R145a4d0709c84d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d29e685f441a" /><Relationship Type="http://schemas.openxmlformats.org/officeDocument/2006/relationships/notesSlide" Target="/ppt/notesSlides/notesSlide8.xml" Id="R3075b1aed34a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e046aee5a4252" /><Relationship Type="http://schemas.openxmlformats.org/officeDocument/2006/relationships/image" Target="/ppt/media/image3.png" Id="R6a55515d16e9470a" /><Relationship Type="http://schemas.openxmlformats.org/officeDocument/2006/relationships/notesSlide" Target="/ppt/notesSlides/notesSlide9.xml" Id="R8679d72eb6234e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465af0c324f37" /><Relationship Type="http://schemas.openxmlformats.org/officeDocument/2006/relationships/notesSlide" Target="/ppt/notesSlides/notesSlide10.xml" Id="R3873968e0d0d46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97729a9324a61" /><Relationship Type="http://schemas.openxmlformats.org/officeDocument/2006/relationships/notesSlide" Target="/ppt/notesSlides/notesSlide11.xml" Id="R4027b01a601349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59c96c52a43df" /><Relationship Type="http://schemas.openxmlformats.org/officeDocument/2006/relationships/notesSlide" Target="/ppt/notesSlides/notesSlide12.xml" Id="Radca7e0e90d2447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Metric</c:v>
          </c:tx>
          <c:spPr>
            <a:solidFill xmlns:a="http://schemas.openxmlformats.org/drawingml/2006/main">
              <a:srgbClr val="2E74B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Val MSE</c:v>
              </c:pt>
              <c:pt idx="1">
                <c:v>Test MSE</c:v>
              </c:pt>
              <c:pt idx="2">
                <c:v>Test RMSE</c:v>
              </c:pt>
              <c:pt idx="3">
                <c:v>Test MAE</c:v>
              </c:pt>
            </c:strLit>
          </c:cat>
          <c:val>
            <c:numLit>
              <c:formatCode>0.000</c:formatCode>
              <c:ptCount val="4"/>
              <c:pt idx="0">
                <c:v>0.01776</c:v>
              </c:pt>
              <c:pt idx="1">
                <c:v>0.097019</c:v>
              </c:pt>
              <c:pt idx="2">
                <c:v>0.3115</c:v>
              </c:pt>
              <c:pt idx="3">
                <c:v>0.2363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254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471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36F2D-B60C-46A9-B9E9-5D58F7A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05138-02FC-4EF9-9DD0-FFF5D34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84141-1207-4609-A7E4-95103030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D7F0"/>
                </a:solidFill>
              </a:defRPr>
            </a:pPr>
            <a:r>
              <a:rPr sz="1125" b="1">
                <a:solidFill>
                  <a:srgbClr val="BBD7F0"/>
                </a:solidFill>
              </a:rPr>
              <a:t>USTC 软件工程实践 · 结题答辩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BB75A-1A95-48A2-B56C-DDB5305B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轴承寿命预测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与故障诊断系统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CA2F5-9756-4358-964E-C66BFAB8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7"/>
                </a:solidFill>
              </a:defRPr>
            </a:pPr>
            <a:r>
              <a:rPr sz="1650" b="0">
                <a:solidFill>
                  <a:srgbClr val="D9EAF7"/>
                </a:solidFill>
              </a:rPr>
              <a:t>从公开轴承数据到可复现 Notebook、指标图和课程交付文档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1EDA5-5A17-442F-B851-B4118713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D2E63-258C-447D-9BD8-1D357BAF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8B57"/>
                </a:solidFill>
              </a:defRPr>
            </a:pPr>
            <a:r>
              <a:rPr sz="3000" b="1">
                <a:solidFill>
                  <a:srgbClr val="2E8B57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251C7-A664-49FB-BA27-D9257CD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论文主线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72D74-A36D-4B76-B0CF-5EFC8290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382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3C284-4444-4C05-8F79-C33C2EC0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4097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4B5"/>
                </a:solidFill>
              </a:defRPr>
            </a:pPr>
            <a:r>
              <a:rPr sz="3000" b="1">
                <a:solidFill>
                  <a:srgbClr val="2E74B5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6A6BC-1233-4CA0-AF43-4284020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81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交付文档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17EA1-5900-46D6-8906-47ED739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CA63A-0EC8-4609-8151-48EC8685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6F09A-61CB-4779-BA11-6999B710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测试通过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40C9A-3588-48E4-8070-52CEF9B3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241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B7CF3-83C6-4147-A8D3-31C5FCE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956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42318"/>
                </a:solidFill>
              </a:defRPr>
            </a:pPr>
            <a:r>
              <a:rPr sz="3000" b="1">
                <a:solidFill>
                  <a:srgbClr val="B42318"/>
                </a:solidFill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06C3F-8134-4F2C-B361-047C423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671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代码头归属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89849-AA67-4CF4-A81C-E4A41C3D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7F0"/>
                </a:solidFill>
              </a:defRPr>
            </a:pPr>
            <a:r>
              <a:rPr sz="1350" b="0">
                <a:solidFill>
                  <a:srgbClr val="BBD7F0"/>
                </a:solidFill>
              </a:rPr>
              <a:t>zyj · zdh · cyj · zy   |   2026年6月</a:t>
            </a:r>
          </a:p>
        </p:txBody>
      </p:sp>
    </p:spTree>
    <p:extLst>
      <p:ext uri="{BB962C8B-B14F-4D97-AF65-F5344CB8AC3E}">
        <p14:creationId xmlns:p14="http://schemas.microsoft.com/office/powerpoint/2010/main" val="319816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4E820-1C6A-488B-8860-3E070808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01 课程要求到交付闭环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6D80E-B7F8-488F-A79B-B9BB2A7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我们把课程要求落成四条可检查证据链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F3CAD-30A2-4553-94D1-FF59E48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开题、中期、结题材料不再分散，统一沉淀到 docx 与 examples。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205EA-4B8C-436F-BB8D-2DB23929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5D01B-D124-4968-B6DB-DAAB1C50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阶段文档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A8048-85FE-4DDE-BEC4-1E959DD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开题、技术预研、需求、SRS、测试计划、设计、结题报告、手册和技术论文。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E644B-C89A-412E-826E-2796C334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B7790-9CE1-4F6A-804D-9C82195C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</a:defRPr>
            </a:pPr>
            <a:r>
              <a:rPr sz="1500" b="1">
                <a:solidFill>
                  <a:srgbClr val="2E8B57"/>
                </a:solidFill>
              </a:rPr>
              <a:t>工程代码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1F4C8-0F5D-4CA3-AD43-D1F27EFF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src 下包结构统一，示例使用 from phm...，Python 3.11 与 uv 锁定环境。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7E317-2C74-4F45-8C58-BC370FD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FD758-96E7-411A-B24A-D6D0AC8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实验证据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9911A-0987-488C-A736-46962158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PHM2012 RUL 与 XJTU-SY 故障诊断各保留一条论文主线。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5DC54-C311-4DB7-9853-C500D4C4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0B9F5-E21A-45A2-98CE-61EED240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测试验证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0D967-CEC9-455B-8074-0557604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compileall、unittest、文档导出、DOCX 渲染和遗留词扫描。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9F270-AA2E-46FC-BCF6-C0DBA9ED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交付目录：docx/md · docx/word · docx/pdf · docx/img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A4BCA-EE8C-40A8-B3B9-9B0F8A17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043EC-47CD-419F-A0A8-090550D8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F77AF-AEA3-4E31-AD54-DF7952B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6629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8BA37-49CF-45F0-BB82-70D3FDC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02 项目问题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F931A-89F0-4D4B-8FCD-92F52DC0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一个系统覆盖两个典型轴承 PHM 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4F9F4-3155-46D4-8261-E9ADB77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RUL 回归回答“还能运行多久”，故障诊断回答“现在是否异常”。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3B9CA-2EB8-4E54-A641-5C432470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E9F15-E627-489D-8125-89AE4E77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24075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PHM2012：寿命预测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ACE80-33BA-497A-B2F7-2CDD059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152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输入：退化过程振动快照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任务：预测归一化 RUL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输出：MSE、RMSE、MAE、R2 与 RUL 曲线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0A7C-220E-4773-B49D-52FDAC3A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A2F7-5EAD-4068-910C-931D33A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24075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</a:defRPr>
            </a:pPr>
            <a:r>
              <a:rPr sz="1500" b="1">
                <a:solidFill>
                  <a:srgbClr val="2E8B57"/>
                </a:solidFill>
              </a:rPr>
              <a:t>XJTU-SY：故障诊断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D7B0F-EC50-4CB2-8ADC-9014372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4152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输入：双通道振动快照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任务：Healthy / Faulty 二分类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输出：Accuracy、Macro-F1、Fault-F1 与混淆矩阵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11232-6DA8-4CA0-B8AC-4B25B6E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4312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EFBBA-32CE-401C-943C-B5EBD53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01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共同底座：数据读取 → 特征工程 → 样本窗口 → Trainer/Tester → Notebook 图表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19030-62AA-4958-A6A9-0007CEFC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D3F34-D59B-42D0-8356-418F8E4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99BF2-9BC7-4964-A68E-7AA3AE9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4101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64F9A-D048-4E4D-A995-36D240AD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03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6A37-EE4A-4DD2-87E4-9C1D60E0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核心是把数据、特征、模型和评估解耦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3B560-85C5-4463-A82E-84FE2B9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不同数据集进入同一工程流程，Notebook 只负责演示与复现。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e9fdd79f04695"/>
          <a:stretch xmlns:a="http://schemas.openxmlformats.org/drawingml/2006/main"/>
        </p:blipFill>
        <p:spPr>
          <a:xfrm xmlns:a="http://schemas.openxmlformats.org/drawingml/2006/main">
            <a:off x="1167230" y="1809750"/>
            <a:ext cx="595228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BC0DF-5BDF-4270-AD43-FBDDA189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7C7CF-5608-45D8-86E3-3CBC0A7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812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2EE56-A0F1-4B0C-AD83-10555078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3362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Loader、Entity、Labeler 统一样本语义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D6518-1ADD-4747-A67D-AE2F98FF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2ADF0-73FA-4333-AD30-DB01D40C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289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</a:defRPr>
            </a:pPr>
            <a:r>
              <a:rPr sz="1500" b="1">
                <a:solidFill>
                  <a:srgbClr val="2E8B57"/>
                </a:solidFill>
              </a:rPr>
              <a:t>process +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B942-F3DE-4897-8636-2D6F0F39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813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FFT/时频域特征与两条论文主线模型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AEEF3-C10E-48F6-A1B9-EB5EA91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AE924-ACEB-407C-B62D-A192A9F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767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engine + 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6D796-D7F3-4BCF-86BF-2D668CD0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2912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Trainer/Tester 产出指标，Notebook 展示结果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AF3C0-98CE-4162-A9CA-C863AB9F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092C5-6CD6-43B0-899C-7CF53313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4AAC8-4A0F-4976-AEB4-A30EAF9D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4803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56E1DB-4BB5-4DC2-B3F0-6C7253C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04 特征工程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76593-02A6-42F0-B304-071C3BF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RUL 用频域序列，故障诊断用双通道时频组合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9EC5D-33DA-42A3-A6A9-31A4D5A7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两条主线的输入形状和特征口径在文档与 Notebook 中保持一致。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c2fac2bb44a64"/>
          <a:stretch xmlns:a="http://schemas.openxmlformats.org/drawingml/2006/main"/>
        </p:blipFill>
        <p:spPr>
          <a:xfrm xmlns:a="http://schemas.openxmlformats.org/drawingml/2006/main">
            <a:off x="666750" y="1901031"/>
            <a:ext cx="5810250" cy="33893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9AB6E-C71A-497B-BEFC-2BF2253C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AB30-1DED-406A-A3C4-DC1C043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2882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RUL 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422B6-AF0A-4352-A32F-7F7877E6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81250"/>
            <a:ext cx="329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Hann window + rFFT magnitude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去 DC，取前 256 个 log1p bins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序列形状：[B, 32, 256]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F9B72-58F7-406C-8EC4-E02721B6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12658-7405-405B-857A-7F4CFF6B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099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</a:defRPr>
            </a:pPr>
            <a:r>
              <a:rPr sz="1500" b="1">
                <a:solidFill>
                  <a:srgbClr val="2E8B57"/>
                </a:solidFill>
              </a:rPr>
              <a:t>Fault 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15691-366E-4CBD-82AD-F6E0C0C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62375"/>
            <a:ext cx="3295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双通道 × (FFT 256 + 时域8 + 频域7 + 频带5)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每快照 552 维</a:t>
            </a:r>
          </a:p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窗口形状：[B, 8, 552]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E5A6F-1844-4ED8-B667-F8385441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548BA-1D98-48F4-944A-525D8764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CDA35-887A-4A54-83EE-3D9C0C11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2075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FD6763-83E2-4ADE-B577-FDB5F79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05 RUL 论文主线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E3F2F-C7FA-49A3-979B-E132EBA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PHM2012 复现按 CBAM-CNN-LSTM 主线跑通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DD1D7-7EC7-4022-9CA2-347D18C5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只保留论文主线指标图，避免把答辩变成模型堆叠展示。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7A74A-1F84-48D2-ADB6-EF02A128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B60BB-5B79-44F9-8D12-EEC0E6F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C87D7-BA5C-4036-BFA0-5D98774C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读取退化快照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687C-089D-451B-B9AA-F4ABBEB3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Learning / Full Test Set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按轴承和文件序号排序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B2936-7D28-44ED-9BE0-9505FBF3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36479-601B-46DD-9CD3-1D657CD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8B57"/>
                </a:solidFill>
              </a:defRPr>
            </a:pPr>
            <a:r>
              <a:rPr sz="1800" b="1">
                <a:solidFill>
                  <a:srgbClr val="2E8B57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6FB98-897F-4B2F-834D-62200972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频域编码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129A2-A521-4EBF-9D24-923F52A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Hann + rFFT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256 维 log1p 幅值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76C91-7EBA-4297-8CAB-ACE6061F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75706-BE2B-48D7-8D2C-EE9F341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505AE-B46D-4BCE-8D7B-F2826073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09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序列样本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1AB60-652F-4666-8C8B-BC15425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32 个快照组成一个训练窗口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42AFE-3BD2-47DA-A66F-FA19646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688CD-23B6-4A57-B5FA-112D5C61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63DBC-B12A-4003-AF71-2DDAC01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模型结构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AF8CD-F270-45A2-8792-E550BB69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CNN + CBAM + LSTM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回归归一化 RUL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4935B-4FC2-46C2-879F-0191752A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7ADAC-D4BB-46EB-9B6F-D9CC14F2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15DA9-13B2-4042-8016-70DBDEB3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63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指标输出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90E41-34F3-49AF-A33B-321330CD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MSE / RMSE / MAE / R2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按轴承统计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0DCC7-4BF2-4CAD-B531-11D5CB8E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本地设置：100 epoch；模型输入 [B, 32, 256]；报告本地 MSE/RMSE/MAE，并说明与论文指标差距。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049B9-DED6-40FB-A382-E159E64C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C2E9A-0E04-475A-8122-6F4127A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1F550-9517-43ED-AD39-B0B5C5A6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4339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95933F-72F9-4109-9EC6-132826D3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06 RUL 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31ACC-4B39-4F87-A152-1FA9E030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RUL 主线已经跑通，但本地指标不夸大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E0D04-DA0B-424A-BDD6-EFCEC0C6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验证 MSE 较低，测试集跨轴承泛化仍是后续优化重点。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09625" y="190500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75a8a76ceb49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F7D8F-6874-4762-81A3-6B690538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AFA25-8E4B-4777-8490-43AE669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4B5"/>
                </a:solidFill>
              </a:defRPr>
            </a:pPr>
            <a:r>
              <a:rPr sz="3000" b="1">
                <a:solidFill>
                  <a:srgbClr val="2E74B5"/>
                </a:solidFill>
              </a:rPr>
              <a:t>0.0970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9D6BB-EB84-4801-A694-893B8E0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955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Test 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6F9A0-A4A4-406D-A7D8-74B27ED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12BF1-D524-4CC2-80F4-2364A50E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147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0.3115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5A3AC-172B-4CDC-BCF6-8DC935EB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862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Test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1A76D-02C8-478B-BBC9-C8B3D0A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1"/>
                </a:solidFill>
              </a:defRPr>
            </a:pPr>
            <a:r>
              <a:rPr sz="1200" b="0">
                <a:solidFill>
                  <a:srgbClr val="536471"/>
                </a:solidFill>
              </a:rPr>
              <a:t>论文表格中的单轴承 MSE 约 0.0047–0.0223；本地结果主要用于课程复现与误差分析，不声明达到论文最优。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CEBD8-C5CC-4258-8898-0612A3A0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AB47D-3091-4722-9141-2A234B6F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F26DC-130A-4FAF-8ABF-5E49D7E3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489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A75A7-A4D8-46D9-AB70-8DD82D7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07 故障诊断主线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04ACD-33B9-4326-A8DA-FE2ED7FC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XJTU-SY 用 ResCNN-LSTM 完成健康/故障二分类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23D86-A0BE-4F06-913C-08B85AE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3σ 首次越界点帮助把退化过程转成诊断标签。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1E50-B553-493B-8B2D-F6DE260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9DBB2-BD4F-495E-B851-E5F8DB27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2F9C4-15DE-4B0F-B961-77A224A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读取双通道 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F42B7-E17C-4010-A0D6-C179AB93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Horizontal + Vertical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按工况和轴承排序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EFC2B-44DD-498F-B725-CDEC74E9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3363C-7224-4C85-B4EB-097A695D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CA24F-D43F-4277-8144-22D0DA3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计算 3σ FOT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0CB10-F5CD-4E8C-83D8-7797AC62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根据 RMS 持续偏移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划分健康/故障窗口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5D75E-C876-4963-90C3-DFFF319A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3EAB1-DE7E-4B58-8ADA-C2AF19BC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8B57"/>
                </a:solidFill>
              </a:defRPr>
            </a:pPr>
            <a:r>
              <a:rPr sz="1800" b="1">
                <a:solidFill>
                  <a:srgbClr val="2E8B57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245A8-5EFA-44CC-A43A-EC35B74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09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组合特征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E1F8-F4E4-4FB9-98B4-46F7E52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FFT + 时域 + 频域 + 频带能量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D4FA0-5D5F-4F18-9902-5ED97B56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FA6F7-EAB2-4871-BC8B-399CD975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146AE-79A2-4251-A6FB-22B447D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ResCNN-LSTM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BB15-DC61-49AA-8498-38B85D8C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残差卷积提取局部模式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LSTM 聚合时间窗口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D5615-30E7-403D-8E51-1C2714B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2238375"/>
            <a:ext cx="195072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2D4DB-6622-45CF-B45A-96C4258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6D1BA-5071-420C-B222-018F86F6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630" y="2409825"/>
            <a:ext cx="12268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诊断评价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64D92-9F48-4ED0-969F-258CDBE0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762250"/>
            <a:ext cx="15697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Accuracy / Macro-F1</a:t>
            </a:r>
          </a:p>
          <a:p xmlns:a="http://schemas.openxmlformats.org/drawingml/2006/main">
            <a:pPr algn="l">
              <a:defRPr sz="1050" b="0">
                <a:solidFill>
                  <a:srgbClr val="536471"/>
                </a:solidFill>
              </a:defRPr>
            </a:pPr>
            <a:r>
              <a:rPr sz="1050" b="0">
                <a:solidFill>
                  <a:srgbClr val="536471"/>
                </a:solidFill>
              </a:rPr>
              <a:t>Confusion Matrix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2318B-AF2D-44B2-85C8-F5D685C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本地设置：35 epoch；输入 [B, 8, 552]；输出 Healthy / Faulty。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9054D-8918-46D1-A382-3CEB6215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32212-10DF-4098-B62F-62E568BE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34499-3B87-400A-BE8C-69773D19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3422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5D838A-3D24-4D3E-BBFF-C0440BA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08 故障诊断结果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A0354-CC26-4069-8036-C00C1409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二分类诊断结果稳定，错误主要集中在少数边界样本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B3154-42F0-467C-9F53-76668F78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测试集 1366 个窗口，健康 1046、故障 320。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5515d16e9470a"/>
          <a:stretch xmlns:a="http://schemas.openxmlformats.org/drawingml/2006/main"/>
        </p:blipFill>
        <p:spPr>
          <a:xfrm xmlns:a="http://schemas.openxmlformats.org/drawingml/2006/main">
            <a:off x="1068579" y="1733550"/>
            <a:ext cx="4568441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2D730-9DFD-423A-B835-72BCE79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DE537-58CD-4564-B62B-E6422787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8120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8B57"/>
                </a:solidFill>
              </a:defRPr>
            </a:pPr>
            <a:r>
              <a:rPr sz="3000" b="1">
                <a:solidFill>
                  <a:srgbClr val="2E8B57"/>
                </a:solidFill>
              </a:rPr>
              <a:t>0.9963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205A5-EB06-4E60-A4B7-867412B6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5198D-7005-4F23-B709-3BF1637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0F3EA-8999-4782-8036-FB6D47BB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4B5"/>
                </a:solidFill>
              </a:defRPr>
            </a:pPr>
            <a:r>
              <a:rPr sz="3000" b="1">
                <a:solidFill>
                  <a:srgbClr val="2E74B5"/>
                </a:solidFill>
              </a:rPr>
              <a:t>0.9949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BAECC-7AE9-4AD2-99C6-23445CF0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Macro-F1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90223-59A9-4E39-99ED-57E9930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C7643-0E8F-436F-BA17-04005353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0.9922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45B69-2DD7-4505-9E41-D64A56B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Fault-F1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82D90-6E1D-46B6-88C9-2D5971A9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9ACFF-B87E-4A32-97F5-D463B13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42318"/>
                </a:solidFill>
              </a:defRPr>
            </a:pPr>
            <a:r>
              <a:rPr sz="3000" b="1">
                <a:solidFill>
                  <a:srgbClr val="B42318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1F788-6128-47A9-887D-FEAFAD45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Total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F87FF-7F4A-4729-801D-46E0529C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混淆矩阵：[[1043, 3], [2, 318]]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87545-DFC8-45AE-A2C0-5D6AC1A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EDEB7-AE0D-473B-B527-5629BF4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01808-28AF-4D0D-AF54-E599EC31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3008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F4EDD-8CAE-4116-AE74-E979D79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09 工程证据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9ADBC-AE20-4BB6-B09A-DFD07728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项目不是只有 Notebook，而是有可复查的工程交付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5A3FC-4BDE-486A-B5E3-DE489A45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环境、测试、文档和代码归属都可以被单独检查。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9BE57-55E6-4749-9720-86B0EC3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E562-241D-440D-ADD2-960ADDD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4B5"/>
                </a:solidFill>
              </a:defRPr>
            </a:pPr>
            <a:r>
              <a:rPr sz="3000" b="1">
                <a:solidFill>
                  <a:srgbClr val="2E74B5"/>
                </a:solidFill>
              </a:rPr>
              <a:t>3.11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C68E8-EF48-47CB-8CA2-1524FBF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Python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F7D76-981F-45B8-A9B3-B68E4EBC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7C4D6-5420-4FF9-ABBA-7163A9F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8B57"/>
                </a:solidFill>
              </a:defRPr>
            </a:pPr>
            <a:r>
              <a:rPr sz="3000" b="1">
                <a:solidFill>
                  <a:srgbClr val="2E8B57"/>
                </a:solidFill>
              </a:rPr>
              <a:t>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DFA76-1FDA-4198-8294-973FE21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955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Package 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BB3A3-D93C-4AB4-8733-F7FA2C8F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74CE9-CA8C-4BF7-A4D4-1A702508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16/16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7A311-28FE-40AC-B426-EFF8A423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Unit tests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67DF9-AA43-488C-A67B-75D58BF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B29C9-9B82-4901-99E4-E92318B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42318"/>
                </a:solidFill>
              </a:defRPr>
            </a:pPr>
            <a:r>
              <a:rPr sz="3000" b="1">
                <a:solidFill>
                  <a:srgbClr val="B42318"/>
                </a:solidFill>
              </a:rPr>
              <a:t>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58F1B-AEFA-4E63-A3D2-33E1AD71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955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DOCX pages rendered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F5A0F-686E-40B2-B4A5-C9B0D552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01853-2598-4B4B-A40D-4F8B9F44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文档交付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A3C69-9AA8-4B6D-8A32-E50823F4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20 Markdown / 20 Word / 20 PDF / 7 images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5D88C-2CD1-4D40-8A54-0AED13E2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AC482-58BE-4D9A-B28D-CCFE09F3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338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</a:defRPr>
            </a:pPr>
            <a:r>
              <a:rPr sz="1500" b="1">
                <a:solidFill>
                  <a:srgbClr val="2E8B57"/>
                </a:solidFill>
              </a:rPr>
              <a:t>代码头部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F6F5F-5C84-4028-9368-B1DC53D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100 个 Python 文件完成 created by / copyright / 2026 标注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E7525-1CC2-4378-8C73-522FDFC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0C084-8C09-488F-834E-B97B00F4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验证命令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8108F-6E81-47C3-AE4A-AE1BE8F3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compileall、unittest、遗留词扫描、pdfinfo、DOCX 渲染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7EFBC-3CCB-4BFE-BE2A-A1C5873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36AFD-3EBD-4799-B55D-3E939C2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FCFDC-4D00-4228-9BDE-2B2E7D1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2085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CB6FD-E5EF-4D0A-9B88-F53CFDB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10 分工与边界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87F17-974D-4F47-B226-5FD65864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四人按模块平均贡献，结论按课程实验口径表达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7ADD8-B781-4F69-AF4E-B06DF90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471"/>
                </a:solidFill>
              </a:defRPr>
            </a:pPr>
            <a:r>
              <a:rPr sz="1350" b="0">
                <a:solidFill>
                  <a:srgbClr val="536471"/>
                </a:solidFill>
              </a:rPr>
              <a:t>我们明确说明哪些已完成，哪些不属于本系统承诺。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65138-11AE-48E1-824A-F4938DC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863A0-C56E-40AE-95E5-86F0061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zyj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2DBCB-4809-4340-890B-B8FA2AD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总体架构、包结构、模型实现、论文主线选择和结题集成。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25CBD-DA5E-4010-A963-1A1DF684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BC0C-F5A3-43C1-9CC0-EC1971E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81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8B57"/>
                </a:solidFill>
              </a:defRPr>
            </a:pPr>
            <a:r>
              <a:rPr sz="1500" b="1">
                <a:solidFill>
                  <a:srgbClr val="2E8B57"/>
                </a:solidFill>
              </a:rPr>
              <a:t>zdh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38737-9154-4AED-88B5-B2F06F7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Trainer、Tester、指标、回调、集成测试和结果核查。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5B834-1079-4758-B334-74730BA6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6E51-2D74-4FDB-85BE-4F69A7F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cyj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DDD32-2F5A-41B2-B5F2-2F3F4C47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数据加载、实体、标签构造、PHM2012/XJTU 数据适配。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2B91D-97C0-40A7-9B84-3CF21AAB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4F83E-549B-44FD-B403-23BD61C7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zy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A0C6C-0478-40A5-9ACD-3B18444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工具函数、可视化、Notebook 示例、文档整理和图表交付。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9E190-D614-4A5D-AA5F-40116DA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边界：本项目是本地课程实验系统，不接入实时硬件、不提供云端平台、不声明工业现场部署。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CE72F-3F82-4910-B63B-BF628C4C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24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471"/>
                </a:solidFill>
              </a:defRPr>
            </a:pPr>
            <a:r>
              <a:rPr sz="1650" b="0">
                <a:solidFill>
                  <a:srgbClr val="536471"/>
                </a:solidFill>
              </a:rPr>
              <a:t>后续优化：RUL 跨轴承泛化、多随机种子、训练历史固化、多类故障诊断。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91A03-5CEC-4844-AA30-24EFF270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6C282-2533-49F3-B562-2B10078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71"/>
                </a:solidFill>
              </a:defRPr>
            </a:pPr>
            <a:r>
              <a:rPr sz="900" b="0">
                <a:solidFill>
                  <a:srgbClr val="536471"/>
                </a:solidFill>
              </a:rPr>
              <a:t>USTC 软件工程实践 · 结题答辩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7E0A5-1BEE-4467-A0C1-AA670A03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9935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783C0-B85A-4108-85C8-23F2285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94FF4-DB1C-402B-915B-18E1C9A0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BD7F0"/>
                </a:solidFill>
              </a:defRPr>
            </a:pPr>
            <a:r>
              <a:rPr sz="1350" b="1">
                <a:solidFill>
                  <a:srgbClr val="BBD7F0"/>
                </a:solidFill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A8536-FC33-47E5-91F2-442AE18B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800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系统完成了从真实轴承数据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到论文主线复现和课程交付的闭环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455BC-F7D1-43F0-979C-6C247B7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7"/>
                </a:solidFill>
              </a:defRPr>
            </a:pPr>
            <a:r>
              <a:rPr sz="1725" b="0">
                <a:solidFill>
                  <a:srgbClr val="D9EAF7"/>
                </a:solidFill>
              </a:rPr>
              <a:t>RUL：流程跑通，指标可追溯，泛化仍需优化。</a:t>
            </a:r>
          </a:p>
          <a:p xmlns:a="http://schemas.openxmlformats.org/drawingml/2006/main">
            <a:pPr algn="l">
              <a:defRPr sz="1725" b="0">
                <a:solidFill>
                  <a:srgbClr val="D9EAF7"/>
                </a:solidFill>
              </a:defRPr>
            </a:pPr>
            <a:r>
              <a:rPr sz="1725" b="0">
                <a:solidFill>
                  <a:srgbClr val="D9EAF7"/>
                </a:solidFill>
              </a:rPr>
              <a:t>故障诊断：二分类结果稳定，适合答辩展示。</a:t>
            </a:r>
          </a:p>
          <a:p xmlns:a="http://schemas.openxmlformats.org/drawingml/2006/main">
            <a:pPr algn="l">
              <a:defRPr sz="1725" b="0">
                <a:solidFill>
                  <a:srgbClr val="D9EAF7"/>
                </a:solidFill>
              </a:defRPr>
            </a:pPr>
            <a:r>
              <a:rPr sz="1725" b="0">
                <a:solidFill>
                  <a:srgbClr val="D9EAF7"/>
                </a:solidFill>
              </a:rPr>
              <a:t>工程交付：代码、Notebook、测试、文档和图表均可检查。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91EEB-E57C-4A58-83C3-D2EB32E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7F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F46C7-6DFA-4769-A665-D0A85014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74B5"/>
                </a:solidFill>
              </a:defRPr>
            </a:pPr>
            <a:r>
              <a:rPr sz="3000" b="1">
                <a:solidFill>
                  <a:srgbClr val="2E74B5"/>
                </a:solidFill>
              </a:rPr>
              <a:t>RUL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BB16A-DCA8-496C-808A-7AC2E70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193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PHM2012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AD62E-D803-45D4-9E78-620D70F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5E7B7-67D7-4D2E-964D-50B2337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718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8B57"/>
                </a:solidFill>
              </a:defRPr>
            </a:pPr>
            <a:r>
              <a:rPr sz="3000" b="1">
                <a:solidFill>
                  <a:srgbClr val="2E8B57"/>
                </a:solidFill>
              </a:rPr>
              <a:t>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E86F8-63E1-496F-9ED7-1181D740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433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471"/>
                </a:solidFill>
              </a:defRPr>
            </a:pPr>
            <a:r>
              <a:rPr sz="1125" b="0">
                <a:solidFill>
                  <a:srgbClr val="536471"/>
                </a:solidFill>
              </a:rPr>
              <a:t>XJTU-SY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8DDFE-D85F-4170-8D03-6865A01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谢谢老师，欢迎提问。</a:t>
            </a:r>
          </a:p>
        </p:txBody>
      </p:sp>
    </p:spTree>
    <p:extLst>
      <p:ext uri="{BB962C8B-B14F-4D97-AF65-F5344CB8AC3E}">
        <p14:creationId xmlns:p14="http://schemas.microsoft.com/office/powerpoint/2010/main" val="27196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2026-06-17T19:01:58.4100000Z</dcterms:created>
  <dcterms:modified xsi:type="dcterms:W3CDTF">2026-06-17T19:01:58.4100000Z</dcterms:modified>
</coreProperties>
</file>